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Lst>
  <p:sldSz cy="5143500" cx="9144000"/>
  <p:notesSz cx="6858000" cy="9144000"/>
  <p:embeddedFontLst>
    <p:embeddedFont>
      <p:font typeface="Roboto"/>
      <p:regular r:id="rId191"/>
      <p:bold r:id="rId192"/>
      <p:italic r:id="rId193"/>
      <p:boldItalic r:id="rId194"/>
    </p:embeddedFont>
    <p:embeddedFont>
      <p:font typeface="Lobster"/>
      <p:regular r:id="rId195"/>
    </p:embeddedFont>
    <p:embeddedFont>
      <p:font typeface="Fira Sans Extra Condensed Medium"/>
      <p:regular r:id="rId196"/>
      <p:bold r:id="rId197"/>
      <p:italic r:id="rId198"/>
      <p:boldItalic r:id="rId199"/>
    </p:embeddedFont>
    <p:embeddedFont>
      <p:font typeface="Fira Sans Medium"/>
      <p:regular r:id="rId200"/>
      <p:bold r:id="rId201"/>
      <p:italic r:id="rId202"/>
      <p:boldItalic r:id="rId203"/>
    </p:embeddedFont>
    <p:embeddedFont>
      <p:font typeface="Average"/>
      <p:regular r:id="rId204"/>
    </p:embeddedFont>
    <p:embeddedFont>
      <p:font typeface="Fira Sans"/>
      <p:regular r:id="rId205"/>
      <p:bold r:id="rId206"/>
      <p:italic r:id="rId207"/>
      <p:boldItalic r:id="rId2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
          <p15:clr>
            <a:srgbClr val="A4A3A4"/>
          </p15:clr>
        </p15:guide>
        <p15:guide id="3" pos="460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B50D28-1267-4B51-B4A6-6584F8CA731B}">
  <a:tblStyle styleId="{CAB50D28-1267-4B51-B4A6-6584F8CA731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4F4EA06-1824-41B6-AE11-69791544A97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
        <p:guide pos="460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slide" Target="slides/slide18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font" Target="fonts/Roboto-boldItalic.fntdata"/><Relationship Id="rId43" Type="http://schemas.openxmlformats.org/officeDocument/2006/relationships/slide" Target="slides/slide36.xml"/><Relationship Id="rId193" Type="http://schemas.openxmlformats.org/officeDocument/2006/relationships/font" Target="fonts/Roboto-italic.fntdata"/><Relationship Id="rId46" Type="http://schemas.openxmlformats.org/officeDocument/2006/relationships/slide" Target="slides/slide39.xml"/><Relationship Id="rId192" Type="http://schemas.openxmlformats.org/officeDocument/2006/relationships/font" Target="fonts/Roboto-bold.fntdata"/><Relationship Id="rId45" Type="http://schemas.openxmlformats.org/officeDocument/2006/relationships/slide" Target="slides/slide38.xml"/><Relationship Id="rId191" Type="http://schemas.openxmlformats.org/officeDocument/2006/relationships/font" Target="fonts/Roboto-regular.fntdata"/><Relationship Id="rId48" Type="http://schemas.openxmlformats.org/officeDocument/2006/relationships/slide" Target="slides/slide41.xml"/><Relationship Id="rId187" Type="http://schemas.openxmlformats.org/officeDocument/2006/relationships/slide" Target="slides/slide180.xml"/><Relationship Id="rId47" Type="http://schemas.openxmlformats.org/officeDocument/2006/relationships/slide" Target="slides/slide40.xml"/><Relationship Id="rId186" Type="http://schemas.openxmlformats.org/officeDocument/2006/relationships/slide" Target="slides/slide179.xml"/><Relationship Id="rId185" Type="http://schemas.openxmlformats.org/officeDocument/2006/relationships/slide" Target="slides/slide178.xml"/><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slide" Target="slides/slide182.xml"/><Relationship Id="rId188" Type="http://schemas.openxmlformats.org/officeDocument/2006/relationships/slide" Target="slides/slide18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36" Type="http://schemas.openxmlformats.org/officeDocument/2006/relationships/slide" Target="slides/slide29.xml"/><Relationship Id="rId175" Type="http://schemas.openxmlformats.org/officeDocument/2006/relationships/slide" Target="slides/slide168.xml"/><Relationship Id="rId39" Type="http://schemas.openxmlformats.org/officeDocument/2006/relationships/slide" Target="slides/slide32.xml"/><Relationship Id="rId174" Type="http://schemas.openxmlformats.org/officeDocument/2006/relationships/slide" Target="slides/slide167.xml"/><Relationship Id="rId38" Type="http://schemas.openxmlformats.org/officeDocument/2006/relationships/slide" Target="slides/slide31.xml"/><Relationship Id="rId173" Type="http://schemas.openxmlformats.org/officeDocument/2006/relationships/slide" Target="slides/slide166.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font" Target="fonts/FiraSansExtraCondensedMedium-italic.fntdata"/><Relationship Id="rId14" Type="http://schemas.openxmlformats.org/officeDocument/2006/relationships/slide" Target="slides/slide7.xml"/><Relationship Id="rId197" Type="http://schemas.openxmlformats.org/officeDocument/2006/relationships/font" Target="fonts/FiraSansExtraCondensedMedium-bold.fntdata"/><Relationship Id="rId17" Type="http://schemas.openxmlformats.org/officeDocument/2006/relationships/slide" Target="slides/slide10.xml"/><Relationship Id="rId196" Type="http://schemas.openxmlformats.org/officeDocument/2006/relationships/font" Target="fonts/FiraSansExtraCondensedMedium-regular.fntdata"/><Relationship Id="rId16" Type="http://schemas.openxmlformats.org/officeDocument/2006/relationships/slide" Target="slides/slide9.xml"/><Relationship Id="rId195" Type="http://schemas.openxmlformats.org/officeDocument/2006/relationships/font" Target="fonts/Lobster-regular.fntdata"/><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font" Target="fonts/FiraSansExtraCondensedMedium-bold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65" Type="http://schemas.openxmlformats.org/officeDocument/2006/relationships/slide" Target="slides/slide58.xml"/><Relationship Id="rId171" Type="http://schemas.openxmlformats.org/officeDocument/2006/relationships/slide" Target="slides/slide164.xml"/><Relationship Id="rId68" Type="http://schemas.openxmlformats.org/officeDocument/2006/relationships/slide" Target="slides/slide61.xml"/><Relationship Id="rId170" Type="http://schemas.openxmlformats.org/officeDocument/2006/relationships/slide" Target="slides/slide163.xml"/><Relationship Id="rId67" Type="http://schemas.openxmlformats.org/officeDocument/2006/relationships/slide" Target="slides/slide60.xml"/><Relationship Id="rId60" Type="http://schemas.openxmlformats.org/officeDocument/2006/relationships/slide" Target="slides/slide53.xml"/><Relationship Id="rId165" Type="http://schemas.openxmlformats.org/officeDocument/2006/relationships/slide" Target="slides/slide158.xml"/><Relationship Id="rId69" Type="http://schemas.openxmlformats.org/officeDocument/2006/relationships/slide" Target="slides/slide62.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1" Type="http://schemas.openxmlformats.org/officeDocument/2006/relationships/slide" Target="slides/slide114.xml"/><Relationship Id="rId120" Type="http://schemas.openxmlformats.org/officeDocument/2006/relationships/slide" Target="slides/slide113.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10" Type="http://schemas.openxmlformats.org/officeDocument/2006/relationships/slide" Target="slides/slide103.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206" Type="http://schemas.openxmlformats.org/officeDocument/2006/relationships/font" Target="fonts/FiraSans-bold.fntdata"/><Relationship Id="rId205" Type="http://schemas.openxmlformats.org/officeDocument/2006/relationships/font" Target="fonts/FiraSans-regular.fntdata"/><Relationship Id="rId204" Type="http://schemas.openxmlformats.org/officeDocument/2006/relationships/font" Target="fonts/Average-regular.fntdata"/><Relationship Id="rId203" Type="http://schemas.openxmlformats.org/officeDocument/2006/relationships/font" Target="fonts/FiraSansMedium-boldItalic.fntdata"/><Relationship Id="rId208" Type="http://schemas.openxmlformats.org/officeDocument/2006/relationships/font" Target="fonts/FiraSans-boldItalic.fntdata"/><Relationship Id="rId207" Type="http://schemas.openxmlformats.org/officeDocument/2006/relationships/font" Target="fonts/FiraSans-italic.fntdata"/><Relationship Id="rId202" Type="http://schemas.openxmlformats.org/officeDocument/2006/relationships/font" Target="fonts/FiraSansMedium-italic.fntdata"/><Relationship Id="rId201" Type="http://schemas.openxmlformats.org/officeDocument/2006/relationships/font" Target="fonts/FiraSansMedium-bold.fntdata"/><Relationship Id="rId200" Type="http://schemas.openxmlformats.org/officeDocument/2006/relationships/font" Target="fonts/Fira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notes"/>
          <p:cNvSpPr txBox="1"/>
          <p:nvPr>
            <p:ph idx="1" type="body"/>
          </p:nvPr>
        </p:nvSpPr>
        <p:spPr>
          <a:xfrm>
            <a:off x="686421" y="4400238"/>
            <a:ext cx="54852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Check how many students and adapt to typed in responses or poll, as needed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Why are these topics important?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Why are these topics important?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7" name="Google Shape;53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6" name="Google Shape;65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5" name="Google Shape;66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1" name="Google Shape;70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7" name="Google Shape;70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3" name="Google Shape;75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9" name="Google Shape;76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Please tell the students that these concepts will be covered in the next few modules, but this is just to bring the students attention to these concepts that they might have to connect the dots back with probability</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3" name="Google Shape;78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While this is a brief into stats there will be a deep dive into stats when the concepts of probability is covered. Let the students know we will go in depth in distribution and other modules following this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7" name="Google Shape;79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4" name="Google Shape;83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1" name="Google Shape;84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8" name="Google Shape;85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9" name="Google Shape;899;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5" name="Google Shape;915;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6" name="Google Shape;946;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3" name="Google Shape;973;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9" name="Google Shape;989;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6" name="Google Shape;1016;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2" name="Google Shape;1022;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3" name="Google Shape;1053;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9" name="Google Shape;1059;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Why are these topics important?</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2" name="Google Shape;1102;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9" name="Google Shape;1109;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6" name="Google Shape;1116;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3" name="Google Shape;1123;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0" name="Google Shape;1130;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7" name="Google Shape;1137;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5" name="Google Shape;1145;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3" name="Google Shape;1153;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32a814da3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1" name="Google Shape;1161;g332a814da3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32a814da32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8" name="Google Shape;1168;g332a814da32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5" name="Google Shape;1175;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2" name="Google Shape;1182;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9" name="Google Shape;1189;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6" name="Google Shape;1206;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3" name="Google Shape;1213;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0" name="Google Shape;1220;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7" name="Google Shape;1227;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1" name="Google Shape;1241;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7" name="Google Shape;1257;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6" name="Google Shape;1276;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4" name="Google Shape;1314;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3" name="Google Shape;1333;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2" name="Google Shape;1352;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9" name="Google Shape;1359;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6" name="Google Shape;1386;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2" name="Google Shape;1432;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8" name="Google Shape;1478;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4" name="Google Shape;1524;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0" name="Google Shape;1570;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7" name="Google Shape;1637;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4" name="Google Shape;1704;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1" name="Google Shape;1711;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8" name="Google Shape;1778;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9" name="Shape 1839"/>
        <p:cNvGrpSpPr/>
        <p:nvPr/>
      </p:nvGrpSpPr>
      <p:grpSpPr>
        <a:xfrm>
          <a:off x="0" y="0"/>
          <a:ext cx="0" cy="0"/>
          <a:chOff x="0" y="0"/>
          <a:chExt cx="0" cy="0"/>
        </a:xfrm>
      </p:grpSpPr>
      <p:sp>
        <p:nvSpPr>
          <p:cNvPr id="1840" name="Google Shape;1840;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1" name="Google Shape;1841;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4" name="Google Shape;1904;p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1" name="Google Shape;1911;p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0" name="Google Shape;1920;p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1" name="Shape 1981"/>
        <p:cNvGrpSpPr/>
        <p:nvPr/>
      </p:nvGrpSpPr>
      <p:grpSpPr>
        <a:xfrm>
          <a:off x="0" y="0"/>
          <a:ext cx="0" cy="0"/>
          <a:chOff x="0" y="0"/>
          <a:chExt cx="0" cy="0"/>
        </a:xfrm>
      </p:grpSpPr>
      <p:sp>
        <p:nvSpPr>
          <p:cNvPr id="1982" name="Google Shape;1982;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3" name="Google Shape;1983;p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1" name="Google Shape;1991;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8" name="Google Shape;2048;p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4" name="Google Shape;2064;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2" name="Google Shape;2082;p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2" name="Google Shape;2102;p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4" name="Google Shape;2124;p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8" name="Google Shape;2148;p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3" name="Shape 2153"/>
        <p:cNvGrpSpPr/>
        <p:nvPr/>
      </p:nvGrpSpPr>
      <p:grpSpPr>
        <a:xfrm>
          <a:off x="0" y="0"/>
          <a:ext cx="0" cy="0"/>
          <a:chOff x="0" y="0"/>
          <a:chExt cx="0" cy="0"/>
        </a:xfrm>
      </p:grpSpPr>
      <p:sp>
        <p:nvSpPr>
          <p:cNvPr id="2154" name="Google Shape;2154;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5" name="Google Shape;2155;p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2" name="Google Shape;2162;p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6" name="Google Shape;2196;p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1" name="Google Shape;2211;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5" name="Shape 2225"/>
        <p:cNvGrpSpPr/>
        <p:nvPr/>
      </p:nvGrpSpPr>
      <p:grpSpPr>
        <a:xfrm>
          <a:off x="0" y="0"/>
          <a:ext cx="0" cy="0"/>
          <a:chOff x="0" y="0"/>
          <a:chExt cx="0" cy="0"/>
        </a:xfrm>
      </p:grpSpPr>
      <p:sp>
        <p:nvSpPr>
          <p:cNvPr id="2226" name="Google Shape;2226;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7" name="Google Shape;2227;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3" name="Google Shape;2233;p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Why are these topics important?</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6" name="Google Shape;2276;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1" name="Shape 2281"/>
        <p:cNvGrpSpPr/>
        <p:nvPr/>
      </p:nvGrpSpPr>
      <p:grpSpPr>
        <a:xfrm>
          <a:off x="0" y="0"/>
          <a:ext cx="0" cy="0"/>
          <a:chOff x="0" y="0"/>
          <a:chExt cx="0" cy="0"/>
        </a:xfrm>
      </p:grpSpPr>
      <p:sp>
        <p:nvSpPr>
          <p:cNvPr id="2282" name="Google Shape;2282;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3" name="Google Shape;2283;p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8" name="Shape 2288"/>
        <p:cNvGrpSpPr/>
        <p:nvPr/>
      </p:nvGrpSpPr>
      <p:grpSpPr>
        <a:xfrm>
          <a:off x="0" y="0"/>
          <a:ext cx="0" cy="0"/>
          <a:chOff x="0" y="0"/>
          <a:chExt cx="0" cy="0"/>
        </a:xfrm>
      </p:grpSpPr>
      <p:sp>
        <p:nvSpPr>
          <p:cNvPr id="2289" name="Google Shape;2289;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0" name="Google Shape;2290;p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7" name="Google Shape;2297;p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4" name="Google Shape;2304;p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1" name="Google Shape;2311;p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9" name="Shape 2319"/>
        <p:cNvGrpSpPr/>
        <p:nvPr/>
      </p:nvGrpSpPr>
      <p:grpSpPr>
        <a:xfrm>
          <a:off x="0" y="0"/>
          <a:ext cx="0" cy="0"/>
          <a:chOff x="0" y="0"/>
          <a:chExt cx="0" cy="0"/>
        </a:xfrm>
      </p:grpSpPr>
      <p:sp>
        <p:nvSpPr>
          <p:cNvPr id="2320" name="Google Shape;2320;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1" name="Google Shape;2321;p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8" name="Google Shape;2328;p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5" name="Google Shape;2335;p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2" name="Google Shape;2342;p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7" name="Shape 2347"/>
        <p:cNvGrpSpPr/>
        <p:nvPr/>
      </p:nvGrpSpPr>
      <p:grpSpPr>
        <a:xfrm>
          <a:off x="0" y="0"/>
          <a:ext cx="0" cy="0"/>
          <a:chOff x="0" y="0"/>
          <a:chExt cx="0" cy="0"/>
        </a:xfrm>
      </p:grpSpPr>
      <p:sp>
        <p:nvSpPr>
          <p:cNvPr id="2348" name="Google Shape;2348;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9" name="Google Shape;2349;p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4" name="Google Shape;2364;p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9" name="Google Shape;2379;p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5" name="Google Shape;2395;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4" name="Google Shape;2404;p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9" name="Google Shape;2419;p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2" name="Shape 2432"/>
        <p:cNvGrpSpPr/>
        <p:nvPr/>
      </p:nvGrpSpPr>
      <p:grpSpPr>
        <a:xfrm>
          <a:off x="0" y="0"/>
          <a:ext cx="0" cy="0"/>
          <a:chOff x="0" y="0"/>
          <a:chExt cx="0" cy="0"/>
        </a:xfrm>
      </p:grpSpPr>
      <p:sp>
        <p:nvSpPr>
          <p:cNvPr id="2433" name="Google Shape;2433;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4" name="Google Shape;2434;p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0" name="Google Shape;2450;p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9" name="Google Shape;2459;p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4" name="Google Shape;2474;p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7" name="Shape 2487"/>
        <p:cNvGrpSpPr/>
        <p:nvPr/>
      </p:nvGrpSpPr>
      <p:grpSpPr>
        <a:xfrm>
          <a:off x="0" y="0"/>
          <a:ext cx="0" cy="0"/>
          <a:chOff x="0" y="0"/>
          <a:chExt cx="0" cy="0"/>
        </a:xfrm>
      </p:grpSpPr>
      <p:sp>
        <p:nvSpPr>
          <p:cNvPr id="2488" name="Google Shape;2488;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9" name="Google Shape;2489;p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3" name="Shape 2503"/>
        <p:cNvGrpSpPr/>
        <p:nvPr/>
      </p:nvGrpSpPr>
      <p:grpSpPr>
        <a:xfrm>
          <a:off x="0" y="0"/>
          <a:ext cx="0" cy="0"/>
          <a:chOff x="0" y="0"/>
          <a:chExt cx="0" cy="0"/>
        </a:xfrm>
      </p:grpSpPr>
      <p:sp>
        <p:nvSpPr>
          <p:cNvPr id="2504" name="Google Shape;2504;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5" name="Google Shape;2505;p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3" name="Google Shape;2523;p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0" name="Shape 2540"/>
        <p:cNvGrpSpPr/>
        <p:nvPr/>
      </p:nvGrpSpPr>
      <p:grpSpPr>
        <a:xfrm>
          <a:off x="0" y="0"/>
          <a:ext cx="0" cy="0"/>
          <a:chOff x="0" y="0"/>
          <a:chExt cx="0" cy="0"/>
        </a:xfrm>
      </p:grpSpPr>
      <p:sp>
        <p:nvSpPr>
          <p:cNvPr id="2541" name="Google Shape;2541;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2" name="Google Shape;2542;p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9" name="Google Shape;2559;p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4" name="Shape 2564"/>
        <p:cNvGrpSpPr/>
        <p:nvPr/>
      </p:nvGrpSpPr>
      <p:grpSpPr>
        <a:xfrm>
          <a:off x="0" y="0"/>
          <a:ext cx="0" cy="0"/>
          <a:chOff x="0" y="0"/>
          <a:chExt cx="0" cy="0"/>
        </a:xfrm>
      </p:grpSpPr>
      <p:sp>
        <p:nvSpPr>
          <p:cNvPr id="2565" name="Google Shape;2565;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6" name="Google Shape;2566;p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4" name="Google Shape;2574;p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9" name="Shape 2579"/>
        <p:cNvGrpSpPr/>
        <p:nvPr/>
      </p:nvGrpSpPr>
      <p:grpSpPr>
        <a:xfrm>
          <a:off x="0" y="0"/>
          <a:ext cx="0" cy="0"/>
          <a:chOff x="0" y="0"/>
          <a:chExt cx="0" cy="0"/>
        </a:xfrm>
      </p:grpSpPr>
      <p:sp>
        <p:nvSpPr>
          <p:cNvPr id="2580" name="Google Shape;2580;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1" name="Google Shape;2581;p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5" name="Shape 2595"/>
        <p:cNvGrpSpPr/>
        <p:nvPr/>
      </p:nvGrpSpPr>
      <p:grpSpPr>
        <a:xfrm>
          <a:off x="0" y="0"/>
          <a:ext cx="0" cy="0"/>
          <a:chOff x="0" y="0"/>
          <a:chExt cx="0" cy="0"/>
        </a:xfrm>
      </p:grpSpPr>
      <p:sp>
        <p:nvSpPr>
          <p:cNvPr id="2596" name="Google Shape;2596;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7" name="Google Shape;2597;p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2" name="Shape 2612"/>
        <p:cNvGrpSpPr/>
        <p:nvPr/>
      </p:nvGrpSpPr>
      <p:grpSpPr>
        <a:xfrm>
          <a:off x="0" y="0"/>
          <a:ext cx="0" cy="0"/>
          <a:chOff x="0" y="0"/>
          <a:chExt cx="0" cy="0"/>
        </a:xfrm>
      </p:grpSpPr>
      <p:sp>
        <p:nvSpPr>
          <p:cNvPr id="2613" name="Google Shape;2613;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4" name="Google Shape;2614;p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0" name="Google Shape;2620;p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4" name="Shape 2624"/>
        <p:cNvGrpSpPr/>
        <p:nvPr/>
      </p:nvGrpSpPr>
      <p:grpSpPr>
        <a:xfrm>
          <a:off x="0" y="0"/>
          <a:ext cx="0" cy="0"/>
          <a:chOff x="0" y="0"/>
          <a:chExt cx="0" cy="0"/>
        </a:xfrm>
      </p:grpSpPr>
      <p:sp>
        <p:nvSpPr>
          <p:cNvPr id="2625" name="Google Shape;2625;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6" name="Google Shape;2626;p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1" name="Shape 2631"/>
        <p:cNvGrpSpPr/>
        <p:nvPr/>
      </p:nvGrpSpPr>
      <p:grpSpPr>
        <a:xfrm>
          <a:off x="0" y="0"/>
          <a:ext cx="0" cy="0"/>
          <a:chOff x="0" y="0"/>
          <a:chExt cx="0" cy="0"/>
        </a:xfrm>
      </p:grpSpPr>
      <p:sp>
        <p:nvSpPr>
          <p:cNvPr id="2632" name="Google Shape;2632;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3" name="Google Shape;2633;p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1" name="Google Shape;2641;p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7" name="Shape 2647"/>
        <p:cNvGrpSpPr/>
        <p:nvPr/>
      </p:nvGrpSpPr>
      <p:grpSpPr>
        <a:xfrm>
          <a:off x="0" y="0"/>
          <a:ext cx="0" cy="0"/>
          <a:chOff x="0" y="0"/>
          <a:chExt cx="0" cy="0"/>
        </a:xfrm>
      </p:grpSpPr>
      <p:sp>
        <p:nvSpPr>
          <p:cNvPr id="2648" name="Google Shape;2648;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9" name="Google Shape;2649;p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7" name="Google Shape;2657;p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4" name="Google Shape;2664;p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9" name="Shape 2669"/>
        <p:cNvGrpSpPr/>
        <p:nvPr/>
      </p:nvGrpSpPr>
      <p:grpSpPr>
        <a:xfrm>
          <a:off x="0" y="0"/>
          <a:ext cx="0" cy="0"/>
          <a:chOff x="0" y="0"/>
          <a:chExt cx="0" cy="0"/>
        </a:xfrm>
      </p:grpSpPr>
      <p:sp>
        <p:nvSpPr>
          <p:cNvPr id="2670" name="Google Shape;2670;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1" name="Google Shape;2671;p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7" name="Shape 2677"/>
        <p:cNvGrpSpPr/>
        <p:nvPr/>
      </p:nvGrpSpPr>
      <p:grpSpPr>
        <a:xfrm>
          <a:off x="0" y="0"/>
          <a:ext cx="0" cy="0"/>
          <a:chOff x="0" y="0"/>
          <a:chExt cx="0" cy="0"/>
        </a:xfrm>
      </p:grpSpPr>
      <p:sp>
        <p:nvSpPr>
          <p:cNvPr id="2678" name="Google Shape;2678;g3328f1e09a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9" name="Google Shape;2679;g3328f1e09a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4" name="Shape 2684"/>
        <p:cNvGrpSpPr/>
        <p:nvPr/>
      </p:nvGrpSpPr>
      <p:grpSpPr>
        <a:xfrm>
          <a:off x="0" y="0"/>
          <a:ext cx="0" cy="0"/>
          <a:chOff x="0" y="0"/>
          <a:chExt cx="0" cy="0"/>
        </a:xfrm>
      </p:grpSpPr>
      <p:sp>
        <p:nvSpPr>
          <p:cNvPr id="2685" name="Google Shape;2685;g3328f1e09a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6" name="Google Shape;2686;g3328f1e09a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1" name="Shape 2691"/>
        <p:cNvGrpSpPr/>
        <p:nvPr/>
      </p:nvGrpSpPr>
      <p:grpSpPr>
        <a:xfrm>
          <a:off x="0" y="0"/>
          <a:ext cx="0" cy="0"/>
          <a:chOff x="0" y="0"/>
          <a:chExt cx="0" cy="0"/>
        </a:xfrm>
      </p:grpSpPr>
      <p:sp>
        <p:nvSpPr>
          <p:cNvPr id="2692" name="Google Shape;2692;g3328f1e09a8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3" name="Google Shape;2693;g3328f1e09a8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8" name="Shape 2698"/>
        <p:cNvGrpSpPr/>
        <p:nvPr/>
      </p:nvGrpSpPr>
      <p:grpSpPr>
        <a:xfrm>
          <a:off x="0" y="0"/>
          <a:ext cx="0" cy="0"/>
          <a:chOff x="0" y="0"/>
          <a:chExt cx="0" cy="0"/>
        </a:xfrm>
      </p:grpSpPr>
      <p:sp>
        <p:nvSpPr>
          <p:cNvPr id="2699" name="Google Shape;2699;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0" name="Google Shape;2700;p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8" name="Google Shape;2708;p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Covid test example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5" name="Google Shape;2715;p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Covid test example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0" name="Shape 2720"/>
        <p:cNvGrpSpPr/>
        <p:nvPr/>
      </p:nvGrpSpPr>
      <p:grpSpPr>
        <a:xfrm>
          <a:off x="0" y="0"/>
          <a:ext cx="0" cy="0"/>
          <a:chOff x="0" y="0"/>
          <a:chExt cx="0" cy="0"/>
        </a:xfrm>
      </p:grpSpPr>
      <p:sp>
        <p:nvSpPr>
          <p:cNvPr id="2721" name="Google Shape;2721;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2" name="Google Shape;2722;p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Covid test example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7" name="Shape 2727"/>
        <p:cNvGrpSpPr/>
        <p:nvPr/>
      </p:nvGrpSpPr>
      <p:grpSpPr>
        <a:xfrm>
          <a:off x="0" y="0"/>
          <a:ext cx="0" cy="0"/>
          <a:chOff x="0" y="0"/>
          <a:chExt cx="0" cy="0"/>
        </a:xfrm>
      </p:grpSpPr>
      <p:sp>
        <p:nvSpPr>
          <p:cNvPr id="2728" name="Google Shape;2728;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9" name="Google Shape;2729;p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Covid test example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6" name="Google Shape;2736;p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 Covid test example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1" name="Shape 2741"/>
        <p:cNvGrpSpPr/>
        <p:nvPr/>
      </p:nvGrpSpPr>
      <p:grpSpPr>
        <a:xfrm>
          <a:off x="0" y="0"/>
          <a:ext cx="0" cy="0"/>
          <a:chOff x="0" y="0"/>
          <a:chExt cx="0" cy="0"/>
        </a:xfrm>
      </p:grpSpPr>
      <p:sp>
        <p:nvSpPr>
          <p:cNvPr id="2742" name="Google Shape;2742;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3" name="Google Shape;2743;p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0" name="Google Shape;2750;p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2" name="Shape 2782"/>
        <p:cNvGrpSpPr/>
        <p:nvPr/>
      </p:nvGrpSpPr>
      <p:grpSpPr>
        <a:xfrm>
          <a:off x="0" y="0"/>
          <a:ext cx="0" cy="0"/>
          <a:chOff x="0" y="0"/>
          <a:chExt cx="0" cy="0"/>
        </a:xfrm>
      </p:grpSpPr>
      <p:sp>
        <p:nvSpPr>
          <p:cNvPr id="2783" name="Google Shape;2783;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4" name="Google Shape;2784;p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0" name="Google Shape;2790;p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8" name="Google Shape;2798;p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3" name="Shape 2803"/>
        <p:cNvGrpSpPr/>
        <p:nvPr/>
      </p:nvGrpSpPr>
      <p:grpSpPr>
        <a:xfrm>
          <a:off x="0" y="0"/>
          <a:ext cx="0" cy="0"/>
          <a:chOff x="0" y="0"/>
          <a:chExt cx="0" cy="0"/>
        </a:xfrm>
      </p:grpSpPr>
      <p:sp>
        <p:nvSpPr>
          <p:cNvPr id="2804" name="Google Shape;2804;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5" name="Google Shape;2805;p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1" name="Shape 2811"/>
        <p:cNvGrpSpPr/>
        <p:nvPr/>
      </p:nvGrpSpPr>
      <p:grpSpPr>
        <a:xfrm>
          <a:off x="0" y="0"/>
          <a:ext cx="0" cy="0"/>
          <a:chOff x="0" y="0"/>
          <a:chExt cx="0" cy="0"/>
        </a:xfrm>
      </p:grpSpPr>
      <p:sp>
        <p:nvSpPr>
          <p:cNvPr id="2812" name="Google Shape;2812;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3" name="Google Shape;2813;p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0" name="Google Shape;2820;p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5" name="Shape 2825"/>
        <p:cNvGrpSpPr/>
        <p:nvPr/>
      </p:nvGrpSpPr>
      <p:grpSpPr>
        <a:xfrm>
          <a:off x="0" y="0"/>
          <a:ext cx="0" cy="0"/>
          <a:chOff x="0" y="0"/>
          <a:chExt cx="0" cy="0"/>
        </a:xfrm>
      </p:grpSpPr>
      <p:sp>
        <p:nvSpPr>
          <p:cNvPr id="2826" name="Google Shape;2826;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7" name="Google Shape;2827;p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3" name="Google Shape;2833;p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8" name="Shape 2838"/>
        <p:cNvGrpSpPr/>
        <p:nvPr/>
      </p:nvGrpSpPr>
      <p:grpSpPr>
        <a:xfrm>
          <a:off x="0" y="0"/>
          <a:ext cx="0" cy="0"/>
          <a:chOff x="0" y="0"/>
          <a:chExt cx="0" cy="0"/>
        </a:xfrm>
      </p:grpSpPr>
      <p:sp>
        <p:nvSpPr>
          <p:cNvPr id="2839" name="Google Shape;2839;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0" name="Google Shape;2840;p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5" name="Shape 2845"/>
        <p:cNvGrpSpPr/>
        <p:nvPr/>
      </p:nvGrpSpPr>
      <p:grpSpPr>
        <a:xfrm>
          <a:off x="0" y="0"/>
          <a:ext cx="0" cy="0"/>
          <a:chOff x="0" y="0"/>
          <a:chExt cx="0" cy="0"/>
        </a:xfrm>
      </p:grpSpPr>
      <p:sp>
        <p:nvSpPr>
          <p:cNvPr id="2846" name="Google Shape;2846;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7" name="Google Shape;2847;p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4" name="Google Shape;2854;p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9" name="Shape 2859"/>
        <p:cNvGrpSpPr/>
        <p:nvPr/>
      </p:nvGrpSpPr>
      <p:grpSpPr>
        <a:xfrm>
          <a:off x="0" y="0"/>
          <a:ext cx="0" cy="0"/>
          <a:chOff x="0" y="0"/>
          <a:chExt cx="0" cy="0"/>
        </a:xfrm>
      </p:grpSpPr>
      <p:sp>
        <p:nvSpPr>
          <p:cNvPr id="2860" name="Google Shape;2860;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1" name="Google Shape;2861;p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6" name="Shape 2866"/>
        <p:cNvGrpSpPr/>
        <p:nvPr/>
      </p:nvGrpSpPr>
      <p:grpSpPr>
        <a:xfrm>
          <a:off x="0" y="0"/>
          <a:ext cx="0" cy="0"/>
          <a:chOff x="0" y="0"/>
          <a:chExt cx="0" cy="0"/>
        </a:xfrm>
      </p:grpSpPr>
      <p:sp>
        <p:nvSpPr>
          <p:cNvPr id="2867" name="Google Shape;2867;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8" name="Google Shape;2868;p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3" name="Shape 2893"/>
        <p:cNvGrpSpPr/>
        <p:nvPr/>
      </p:nvGrpSpPr>
      <p:grpSpPr>
        <a:xfrm>
          <a:off x="0" y="0"/>
          <a:ext cx="0" cy="0"/>
          <a:chOff x="0" y="0"/>
          <a:chExt cx="0" cy="0"/>
        </a:xfrm>
      </p:grpSpPr>
      <p:sp>
        <p:nvSpPr>
          <p:cNvPr id="2894" name="Google Shape;2894;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5" name="Google Shape;2895;p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9" name="Shape 2899"/>
        <p:cNvGrpSpPr/>
        <p:nvPr/>
      </p:nvGrpSpPr>
      <p:grpSpPr>
        <a:xfrm>
          <a:off x="0" y="0"/>
          <a:ext cx="0" cy="0"/>
          <a:chOff x="0" y="0"/>
          <a:chExt cx="0" cy="0"/>
        </a:xfrm>
      </p:grpSpPr>
      <p:sp>
        <p:nvSpPr>
          <p:cNvPr id="2900" name="Google Shape;2900;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1" name="Google Shape;2901;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10" name="Shape 10"/>
        <p:cNvGrpSpPr/>
        <p:nvPr/>
      </p:nvGrpSpPr>
      <p:grpSpPr>
        <a:xfrm>
          <a:off x="0" y="0"/>
          <a:ext cx="0" cy="0"/>
          <a:chOff x="0" y="0"/>
          <a:chExt cx="0" cy="0"/>
        </a:xfrm>
      </p:grpSpPr>
      <p:sp>
        <p:nvSpPr>
          <p:cNvPr id="11" name="Google Shape;1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Fira Sans"/>
              <a:buNone/>
              <a:defRPr>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Font typeface="Fira Sans"/>
              <a:buChar char="●"/>
              <a:defRPr>
                <a:latin typeface="Fira Sans"/>
                <a:ea typeface="Fira Sans"/>
                <a:cs typeface="Fira Sans"/>
                <a:sym typeface="Fira Sans"/>
              </a:defRPr>
            </a:lvl1pPr>
            <a:lvl2pPr indent="-317500" lvl="1" marL="914400" algn="l">
              <a:lnSpc>
                <a:spcPct val="115000"/>
              </a:lnSpc>
              <a:spcBef>
                <a:spcPts val="1600"/>
              </a:spcBef>
              <a:spcAft>
                <a:spcPts val="0"/>
              </a:spcAft>
              <a:buSzPts val="1400"/>
              <a:buFont typeface="Fira Sans"/>
              <a:buChar char="○"/>
              <a:defRPr>
                <a:latin typeface="Fira Sans"/>
                <a:ea typeface="Fira Sans"/>
                <a:cs typeface="Fira Sans"/>
                <a:sym typeface="Fira Sans"/>
              </a:defRPr>
            </a:lvl2pPr>
            <a:lvl3pPr indent="-317500" lvl="2" marL="1371600" algn="l">
              <a:lnSpc>
                <a:spcPct val="115000"/>
              </a:lnSpc>
              <a:spcBef>
                <a:spcPts val="1600"/>
              </a:spcBef>
              <a:spcAft>
                <a:spcPts val="0"/>
              </a:spcAft>
              <a:buSzPts val="1400"/>
              <a:buFont typeface="Fira Sans"/>
              <a:buChar char="■"/>
              <a:defRPr>
                <a:latin typeface="Fira Sans"/>
                <a:ea typeface="Fira Sans"/>
                <a:cs typeface="Fira Sans"/>
                <a:sym typeface="Fira Sans"/>
              </a:defRPr>
            </a:lvl3pPr>
            <a:lvl4pPr indent="-317500" lvl="3" marL="1828800" algn="l">
              <a:lnSpc>
                <a:spcPct val="115000"/>
              </a:lnSpc>
              <a:spcBef>
                <a:spcPts val="1600"/>
              </a:spcBef>
              <a:spcAft>
                <a:spcPts val="0"/>
              </a:spcAft>
              <a:buSzPts val="1400"/>
              <a:buFont typeface="Fira Sans"/>
              <a:buChar char="●"/>
              <a:defRPr>
                <a:latin typeface="Fira Sans"/>
                <a:ea typeface="Fira Sans"/>
                <a:cs typeface="Fira Sans"/>
                <a:sym typeface="Fira Sans"/>
              </a:defRPr>
            </a:lvl4pPr>
            <a:lvl5pPr indent="-317500" lvl="4" marL="2286000" algn="l">
              <a:lnSpc>
                <a:spcPct val="115000"/>
              </a:lnSpc>
              <a:spcBef>
                <a:spcPts val="1600"/>
              </a:spcBef>
              <a:spcAft>
                <a:spcPts val="0"/>
              </a:spcAft>
              <a:buSzPts val="1400"/>
              <a:buFont typeface="Fira Sans"/>
              <a:buChar char="○"/>
              <a:defRPr>
                <a:latin typeface="Fira Sans"/>
                <a:ea typeface="Fira Sans"/>
                <a:cs typeface="Fira Sans"/>
                <a:sym typeface="Fira Sans"/>
              </a:defRPr>
            </a:lvl5pPr>
            <a:lvl6pPr indent="-317500" lvl="5" marL="2743200" algn="l">
              <a:lnSpc>
                <a:spcPct val="115000"/>
              </a:lnSpc>
              <a:spcBef>
                <a:spcPts val="1600"/>
              </a:spcBef>
              <a:spcAft>
                <a:spcPts val="0"/>
              </a:spcAft>
              <a:buSzPts val="1400"/>
              <a:buFont typeface="Fira Sans"/>
              <a:buChar char="■"/>
              <a:defRPr>
                <a:latin typeface="Fira Sans"/>
                <a:ea typeface="Fira Sans"/>
                <a:cs typeface="Fira Sans"/>
                <a:sym typeface="Fira Sans"/>
              </a:defRPr>
            </a:lvl6pPr>
            <a:lvl7pPr indent="-317500" lvl="6" marL="3200400" algn="l">
              <a:lnSpc>
                <a:spcPct val="115000"/>
              </a:lnSpc>
              <a:spcBef>
                <a:spcPts val="1600"/>
              </a:spcBef>
              <a:spcAft>
                <a:spcPts val="0"/>
              </a:spcAft>
              <a:buSzPts val="1400"/>
              <a:buFont typeface="Fira Sans"/>
              <a:buChar char="●"/>
              <a:defRPr>
                <a:latin typeface="Fira Sans"/>
                <a:ea typeface="Fira Sans"/>
                <a:cs typeface="Fira Sans"/>
                <a:sym typeface="Fira Sans"/>
              </a:defRPr>
            </a:lvl7pPr>
            <a:lvl8pPr indent="-317500" lvl="7" marL="3657600" algn="l">
              <a:lnSpc>
                <a:spcPct val="115000"/>
              </a:lnSpc>
              <a:spcBef>
                <a:spcPts val="1600"/>
              </a:spcBef>
              <a:spcAft>
                <a:spcPts val="0"/>
              </a:spcAft>
              <a:buSzPts val="1400"/>
              <a:buFont typeface="Fira Sans"/>
              <a:buChar char="○"/>
              <a:defRPr>
                <a:latin typeface="Fira Sans"/>
                <a:ea typeface="Fira Sans"/>
                <a:cs typeface="Fira Sans"/>
                <a:sym typeface="Fira Sans"/>
              </a:defRPr>
            </a:lvl8pPr>
            <a:lvl9pPr indent="-317500" lvl="8" marL="4114800" algn="l">
              <a:lnSpc>
                <a:spcPct val="115000"/>
              </a:lnSpc>
              <a:spcBef>
                <a:spcPts val="1600"/>
              </a:spcBef>
              <a:spcAft>
                <a:spcPts val="1600"/>
              </a:spcAft>
              <a:buSzPts val="1400"/>
              <a:buFont typeface="Fira Sans"/>
              <a:buChar char="■"/>
              <a:defRPr>
                <a:latin typeface="Fira Sans"/>
                <a:ea typeface="Fira Sans"/>
                <a:cs typeface="Fira Sans"/>
                <a:sym typeface="Fira Sans"/>
              </a:defRPr>
            </a:lvl9pPr>
          </a:lstStyle>
          <a:p/>
        </p:txBody>
      </p:sp>
      <p:sp>
        <p:nvSpPr>
          <p:cNvPr id="13" name="Google Shape;13;p2"/>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14" name="Shape 14"/>
        <p:cNvGrpSpPr/>
        <p:nvPr/>
      </p:nvGrpSpPr>
      <p:grpSpPr>
        <a:xfrm>
          <a:off x="0" y="0"/>
          <a:ext cx="0" cy="0"/>
          <a:chOff x="0" y="0"/>
          <a:chExt cx="0" cy="0"/>
        </a:xfrm>
      </p:grpSpPr>
      <p:sp>
        <p:nvSpPr>
          <p:cNvPr id="15" name="Google Shape;15;p3"/>
          <p:cNvSpPr txBox="1"/>
          <p:nvPr>
            <p:ph idx="12" type="sldNum"/>
          </p:nvPr>
        </p:nvSpPr>
        <p:spPr>
          <a:xfrm>
            <a:off x="37334" y="4733926"/>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4"/>
          <p:cNvSpPr txBox="1"/>
          <p:nvPr>
            <p:ph idx="12" type="sldNum"/>
          </p:nvPr>
        </p:nvSpPr>
        <p:spPr>
          <a:xfrm>
            <a:off x="9" y="474990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 name="Google Shape;2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50000"/>
              </a:lnSpc>
              <a:spcBef>
                <a:spcPts val="0"/>
              </a:spcBef>
              <a:spcAft>
                <a:spcPts val="0"/>
              </a:spcAft>
              <a:buClr>
                <a:schemeClr val="dk1"/>
              </a:buClr>
              <a:buSzPts val="1800"/>
              <a:buFont typeface="Fira Sans"/>
              <a:buAutoNum type="arabicPeriod"/>
              <a:defRPr sz="2000">
                <a:solidFill>
                  <a:schemeClr val="dk1"/>
                </a:solidFill>
                <a:latin typeface="Fira Sans"/>
                <a:ea typeface="Fira Sans"/>
                <a:cs typeface="Fira Sans"/>
                <a:sym typeface="Fira Sans"/>
              </a:defRPr>
            </a:lvl1pPr>
            <a:lvl2pPr indent="-317500" lvl="1" marL="9144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2pPr>
            <a:lvl3pPr indent="-317500" lvl="2" marL="13716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3pPr>
            <a:lvl4pPr indent="-317500" lvl="3" marL="1828800" algn="l">
              <a:lnSpc>
                <a:spcPct val="115000"/>
              </a:lnSpc>
              <a:spcBef>
                <a:spcPts val="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4pPr>
            <a:lvl5pPr indent="-317500" lvl="4" marL="22860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5pPr>
            <a:lvl6pPr indent="-317500" lvl="5" marL="27432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6pPr>
            <a:lvl7pPr indent="-317500" lvl="6" marL="3200400" algn="l">
              <a:lnSpc>
                <a:spcPct val="115000"/>
              </a:lnSpc>
              <a:spcBef>
                <a:spcPts val="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7pPr>
            <a:lvl8pPr indent="-317500" lvl="7" marL="36576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8pPr>
            <a:lvl9pPr indent="-317500" lvl="8" marL="41148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9pPr>
          </a:lstStyle>
          <a:p/>
        </p:txBody>
      </p:sp>
      <p:sp>
        <p:nvSpPr>
          <p:cNvPr id="22" name="Google Shape;22;p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23" name="Shape 23"/>
        <p:cNvGrpSpPr/>
        <p:nvPr/>
      </p:nvGrpSpPr>
      <p:grpSpPr>
        <a:xfrm>
          <a:off x="0" y="0"/>
          <a:ext cx="0" cy="0"/>
          <a:chOff x="0" y="0"/>
          <a:chExt cx="0" cy="0"/>
        </a:xfrm>
      </p:grpSpPr>
      <p:sp>
        <p:nvSpPr>
          <p:cNvPr id="24" name="Google Shape;24;p6"/>
          <p:cNvSpPr txBox="1"/>
          <p:nvPr>
            <p:ph idx="12" type="sldNum"/>
          </p:nvPr>
        </p:nvSpPr>
        <p:spPr>
          <a:xfrm>
            <a:off x="62459" y="47079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8" name="Google Shape;2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9" name="Google Shape;2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30" name="Shape 30"/>
        <p:cNvGrpSpPr/>
        <p:nvPr/>
      </p:nvGrpSpPr>
      <p:grpSpPr>
        <a:xfrm>
          <a:off x="0" y="0"/>
          <a:ext cx="0" cy="0"/>
          <a:chOff x="0" y="0"/>
          <a:chExt cx="0" cy="0"/>
        </a:xfrm>
      </p:grpSpPr>
      <p:sp>
        <p:nvSpPr>
          <p:cNvPr id="31" name="Google Shape;31;p8"/>
          <p:cNvSpPr txBox="1"/>
          <p:nvPr>
            <p:ph type="ctrTitle"/>
          </p:nvPr>
        </p:nvSpPr>
        <p:spPr>
          <a:xfrm>
            <a:off x="706650" y="411425"/>
            <a:ext cx="7730700" cy="128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Font typeface="Fira Sans"/>
              <a:buNone/>
              <a:defRPr b="1" sz="6000">
                <a:solidFill>
                  <a:schemeClr val="lt1"/>
                </a:solidFill>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32" name="Google Shape;32;p8"/>
          <p:cNvPicPr preferRelativeResize="0"/>
          <p:nvPr/>
        </p:nvPicPr>
        <p:blipFill rotWithShape="1">
          <a:blip r:embed="rId2">
            <a:alphaModFix/>
          </a:blip>
          <a:srcRect b="0" l="0" r="0" t="0"/>
          <a:stretch/>
        </p:blipFill>
        <p:spPr>
          <a:xfrm>
            <a:off x="1300600" y="1858950"/>
            <a:ext cx="6542801" cy="1425600"/>
          </a:xfrm>
          <a:prstGeom prst="rect">
            <a:avLst/>
          </a:prstGeom>
          <a:noFill/>
          <a:ln>
            <a:noFill/>
          </a:ln>
        </p:spPr>
      </p:pic>
      <p:sp>
        <p:nvSpPr>
          <p:cNvPr id="33" name="Google Shape;33;p8"/>
          <p:cNvSpPr txBox="1"/>
          <p:nvPr/>
        </p:nvSpPr>
        <p:spPr>
          <a:xfrm>
            <a:off x="1512950" y="3755800"/>
            <a:ext cx="6330300" cy="90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35" name="Shape 35"/>
        <p:cNvGrpSpPr/>
        <p:nvPr/>
      </p:nvGrpSpPr>
      <p:grpSpPr>
        <a:xfrm>
          <a:off x="0" y="0"/>
          <a:ext cx="0" cy="0"/>
          <a:chOff x="0" y="0"/>
          <a:chExt cx="0" cy="0"/>
        </a:xfrm>
      </p:grpSpPr>
      <p:sp>
        <p:nvSpPr>
          <p:cNvPr id="36" name="Google Shape;36;p9"/>
          <p:cNvSpPr txBox="1"/>
          <p:nvPr/>
        </p:nvSpPr>
        <p:spPr>
          <a:xfrm>
            <a:off x="1132350" y="2061225"/>
            <a:ext cx="6879300" cy="96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Fira Sans"/>
                <a:ea typeface="Fira Sans"/>
                <a:cs typeface="Fira Sans"/>
                <a:sym typeface="Fira Sans"/>
              </a:rPr>
              <a:t>Thank You!</a:t>
            </a:r>
            <a:endParaRPr b="1" i="0" sz="6000" u="none" cap="none" strike="noStrike">
              <a:solidFill>
                <a:schemeClr val="lt1"/>
              </a:solidFill>
              <a:latin typeface="Fira Sans"/>
              <a:ea typeface="Fira Sans"/>
              <a:cs typeface="Fira Sans"/>
              <a:sym typeface="Fira Sans"/>
            </a:endParaRPr>
          </a:p>
        </p:txBody>
      </p:sp>
      <p:sp>
        <p:nvSpPr>
          <p:cNvPr id="37" name="Google Shape;37;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38" name="Shape 38"/>
        <p:cNvGrpSpPr/>
        <p:nvPr/>
      </p:nvGrpSpPr>
      <p:grpSpPr>
        <a:xfrm>
          <a:off x="0" y="0"/>
          <a:ext cx="0" cy="0"/>
          <a:chOff x="0" y="0"/>
          <a:chExt cx="0" cy="0"/>
        </a:xfrm>
      </p:grpSpPr>
      <p:sp>
        <p:nvSpPr>
          <p:cNvPr id="39" name="Google Shape;39;p10"/>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41" name="Shape 41"/>
        <p:cNvGrpSpPr/>
        <p:nvPr/>
      </p:nvGrpSpPr>
      <p:grpSpPr>
        <a:xfrm>
          <a:off x="0" y="0"/>
          <a:ext cx="0" cy="0"/>
          <a:chOff x="0" y="0"/>
          <a:chExt cx="0" cy="0"/>
        </a:xfrm>
      </p:grpSpPr>
      <p:sp>
        <p:nvSpPr>
          <p:cNvPr id="42" name="Google Shape;42;p11"/>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11"/>
          <p:cNvSpPr txBox="1"/>
          <p:nvPr>
            <p:ph idx="1" type="subTitle"/>
          </p:nvPr>
        </p:nvSpPr>
        <p:spPr>
          <a:xfrm>
            <a:off x="2096875" y="3649625"/>
            <a:ext cx="4923600" cy="4743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2400">
                <a:solidFill>
                  <a:srgbClr val="000000"/>
                </a:solidFill>
                <a:latin typeface="Fira Sans"/>
                <a:ea typeface="Fira Sans"/>
                <a:cs typeface="Fira Sans"/>
                <a:sym typeface="Fira Sans"/>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4" name="Google Shape;44;p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45" name="Shape 45"/>
        <p:cNvGrpSpPr/>
        <p:nvPr/>
      </p:nvGrpSpPr>
      <p:grpSpPr>
        <a:xfrm>
          <a:off x="0" y="0"/>
          <a:ext cx="0" cy="0"/>
          <a:chOff x="0" y="0"/>
          <a:chExt cx="0" cy="0"/>
        </a:xfrm>
      </p:grpSpPr>
      <p:sp>
        <p:nvSpPr>
          <p:cNvPr id="46" name="Google Shape;46;p12"/>
          <p:cNvSpPr txBox="1"/>
          <p:nvPr>
            <p:ph type="title"/>
          </p:nvPr>
        </p:nvSpPr>
        <p:spPr>
          <a:xfrm>
            <a:off x="311700" y="398275"/>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7" name="Google Shape;47;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p:cSld name="TITLE_AND_BODY 2">
    <p:spTree>
      <p:nvGrpSpPr>
        <p:cNvPr id="48" name="Shape 48"/>
        <p:cNvGrpSpPr/>
        <p:nvPr/>
      </p:nvGrpSpPr>
      <p:grpSpPr>
        <a:xfrm>
          <a:off x="0" y="0"/>
          <a:ext cx="0" cy="0"/>
          <a:chOff x="0" y="0"/>
          <a:chExt cx="0" cy="0"/>
        </a:xfrm>
      </p:grpSpPr>
      <p:sp>
        <p:nvSpPr>
          <p:cNvPr id="49" name="Google Shape;49;p13"/>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50" name="Google Shape;50;p13"/>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51" name="Google Shape;51;p13"/>
          <p:cNvSpPr txBox="1"/>
          <p:nvPr>
            <p:ph idx="2" type="body"/>
          </p:nvPr>
        </p:nvSpPr>
        <p:spPr>
          <a:xfrm>
            <a:off x="2471825" y="477750"/>
            <a:ext cx="5700000" cy="43398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52" name="Google Shape;52;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53" name="Shape 53"/>
        <p:cNvGrpSpPr/>
        <p:nvPr/>
      </p:nvGrpSpPr>
      <p:grpSpPr>
        <a:xfrm>
          <a:off x="0" y="0"/>
          <a:ext cx="0" cy="0"/>
          <a:chOff x="0" y="0"/>
          <a:chExt cx="0" cy="0"/>
        </a:xfrm>
      </p:grpSpPr>
      <p:sp>
        <p:nvSpPr>
          <p:cNvPr id="54" name="Google Shape;54;p14"/>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55" name="Google Shape;55;p14"/>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56" name="Google Shape;5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57" name="Shape 57"/>
        <p:cNvGrpSpPr/>
        <p:nvPr/>
      </p:nvGrpSpPr>
      <p:grpSpPr>
        <a:xfrm>
          <a:off x="0" y="0"/>
          <a:ext cx="0" cy="0"/>
          <a:chOff x="0" y="0"/>
          <a:chExt cx="0" cy="0"/>
        </a:xfrm>
      </p:grpSpPr>
      <p:sp>
        <p:nvSpPr>
          <p:cNvPr id="58" name="Google Shape;58;p15"/>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59" name="Google Shape;59;p15"/>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60" name="Google Shape;60;p15"/>
          <p:cNvSpPr txBox="1"/>
          <p:nvPr>
            <p:ph idx="2" type="body"/>
          </p:nvPr>
        </p:nvSpPr>
        <p:spPr>
          <a:xfrm>
            <a:off x="2471825" y="477750"/>
            <a:ext cx="5700000" cy="43398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61" name="Google Shape;61;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62" name="Shape 62"/>
        <p:cNvGrpSpPr/>
        <p:nvPr/>
      </p:nvGrpSpPr>
      <p:grpSpPr>
        <a:xfrm>
          <a:off x="0" y="0"/>
          <a:ext cx="0" cy="0"/>
          <a:chOff x="0" y="0"/>
          <a:chExt cx="0" cy="0"/>
        </a:xfrm>
      </p:grpSpPr>
      <p:sp>
        <p:nvSpPr>
          <p:cNvPr id="63" name="Google Shape;63;p16"/>
          <p:cNvSpPr/>
          <p:nvPr/>
        </p:nvSpPr>
        <p:spPr>
          <a:xfrm>
            <a:off x="0" y="-125"/>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6"/>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66" name="Google Shape;66;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67" name="Google Shape;67;p16"/>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69" name="Shape 69"/>
        <p:cNvGrpSpPr/>
        <p:nvPr/>
      </p:nvGrpSpPr>
      <p:grpSpPr>
        <a:xfrm>
          <a:off x="0" y="0"/>
          <a:ext cx="0" cy="0"/>
          <a:chOff x="0" y="0"/>
          <a:chExt cx="0" cy="0"/>
        </a:xfrm>
      </p:grpSpPr>
      <p:sp>
        <p:nvSpPr>
          <p:cNvPr id="70" name="Google Shape;70;p17"/>
          <p:cNvSpPr/>
          <p:nvPr/>
        </p:nvSpPr>
        <p:spPr>
          <a:xfrm>
            <a:off x="4584900" y="0"/>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7"/>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73" name="Google Shape;7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lt1"/>
              </a:buClr>
              <a:buSzPts val="2600"/>
              <a:buFont typeface="Fira Sans"/>
              <a:buChar char="■"/>
              <a:defRPr sz="2600">
                <a:solidFill>
                  <a:schemeClr val="lt1"/>
                </a:solidFill>
                <a:latin typeface="Fira Sans"/>
                <a:ea typeface="Fira Sans"/>
                <a:cs typeface="Fira Sans"/>
                <a:sym typeface="Fira Sans"/>
              </a:defRPr>
            </a:lvl9pPr>
          </a:lstStyle>
          <a:p/>
        </p:txBody>
      </p:sp>
      <p:sp>
        <p:nvSpPr>
          <p:cNvPr id="74" name="Google Shape;74;p17"/>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9pPr>
          </a:lstStyle>
          <a:p/>
        </p:txBody>
      </p:sp>
      <p:sp>
        <p:nvSpPr>
          <p:cNvPr id="75" name="Google Shape;75;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76" name="Shape 76"/>
        <p:cNvGrpSpPr/>
        <p:nvPr/>
      </p:nvGrpSpPr>
      <p:grpSpPr>
        <a:xfrm>
          <a:off x="0" y="0"/>
          <a:ext cx="0" cy="0"/>
          <a:chOff x="0" y="0"/>
          <a:chExt cx="0" cy="0"/>
        </a:xfrm>
      </p:grpSpPr>
      <p:sp>
        <p:nvSpPr>
          <p:cNvPr id="77" name="Google Shape;77;p18"/>
          <p:cNvSpPr/>
          <p:nvPr/>
        </p:nvSpPr>
        <p:spPr>
          <a:xfrm>
            <a:off x="0" y="-125"/>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8"/>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3200"/>
              <a:buFont typeface="Fira Sans"/>
              <a:buNone/>
              <a:defRPr sz="3200">
                <a:solidFill>
                  <a:srgbClr val="000000"/>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9" name="Google Shape;7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1pPr>
            <a:lvl2pPr indent="-393700" lvl="1" marL="914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2pPr>
            <a:lvl3pPr indent="-393700" lvl="2" marL="1371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3pPr>
            <a:lvl4pPr indent="-393700" lvl="3" marL="18288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4pPr>
            <a:lvl5pPr indent="-393700" lvl="4" marL="22860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5pPr>
            <a:lvl6pPr indent="-393700" lvl="5" marL="27432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6pPr>
            <a:lvl7pPr indent="-393700" lvl="6" marL="3200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7pPr>
            <a:lvl8pPr indent="-393700" lvl="7" marL="3657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000000"/>
              </a:buClr>
              <a:buSzPts val="2600"/>
              <a:buFont typeface="Fira Sans"/>
              <a:buChar char="■"/>
              <a:defRPr sz="2600">
                <a:solidFill>
                  <a:srgbClr val="000000"/>
                </a:solidFill>
                <a:latin typeface="Fira Sans"/>
                <a:ea typeface="Fira Sans"/>
                <a:cs typeface="Fira Sans"/>
                <a:sym typeface="Fira Sans"/>
              </a:defRPr>
            </a:lvl9pPr>
          </a:lstStyle>
          <a:p/>
        </p:txBody>
      </p:sp>
      <p:sp>
        <p:nvSpPr>
          <p:cNvPr id="80" name="Google Shape;8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dk1"/>
              </a:buClr>
              <a:buSzPts val="2600"/>
              <a:buFont typeface="Fira Sans"/>
              <a:buChar char="■"/>
              <a:defRPr sz="2600">
                <a:solidFill>
                  <a:schemeClr val="dk1"/>
                </a:solidFill>
                <a:latin typeface="Fira Sans"/>
                <a:ea typeface="Fira Sans"/>
                <a:cs typeface="Fira Sans"/>
                <a:sym typeface="Fira Sans"/>
              </a:defRPr>
            </a:lvl9pPr>
          </a:lstStyle>
          <a:p/>
        </p:txBody>
      </p:sp>
      <p:sp>
        <p:nvSpPr>
          <p:cNvPr id="81" name="Google Shape;81;p18"/>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Font typeface="Fira Sans"/>
              <a:buNone/>
              <a:defRPr sz="3200">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83" name="Shape 83"/>
        <p:cNvGrpSpPr/>
        <p:nvPr/>
      </p:nvGrpSpPr>
      <p:grpSpPr>
        <a:xfrm>
          <a:off x="0" y="0"/>
          <a:ext cx="0" cy="0"/>
          <a:chOff x="0" y="0"/>
          <a:chExt cx="0" cy="0"/>
        </a:xfrm>
      </p:grpSpPr>
      <p:sp>
        <p:nvSpPr>
          <p:cNvPr id="84" name="Google Shape;84;p19"/>
          <p:cNvSpPr txBox="1"/>
          <p:nvPr>
            <p:ph type="title"/>
          </p:nvPr>
        </p:nvSpPr>
        <p:spPr>
          <a:xfrm>
            <a:off x="23925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5" name="Google Shape;85;p19"/>
          <p:cNvSpPr txBox="1"/>
          <p:nvPr>
            <p:ph idx="2" type="title"/>
          </p:nvPr>
        </p:nvSpPr>
        <p:spPr>
          <a:xfrm>
            <a:off x="564640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6" name="Google Shape;86;p19"/>
          <p:cNvSpPr/>
          <p:nvPr/>
        </p:nvSpPr>
        <p:spPr>
          <a:xfrm>
            <a:off x="3795750" y="2040900"/>
            <a:ext cx="1552500" cy="1061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88" name="Shape 88"/>
        <p:cNvGrpSpPr/>
        <p:nvPr/>
      </p:nvGrpSpPr>
      <p:grpSpPr>
        <a:xfrm>
          <a:off x="0" y="0"/>
          <a:ext cx="0" cy="0"/>
          <a:chOff x="0" y="0"/>
          <a:chExt cx="0" cy="0"/>
        </a:xfrm>
      </p:grpSpPr>
      <p:sp>
        <p:nvSpPr>
          <p:cNvPr id="89" name="Google Shape;89;p20"/>
          <p:cNvSpPr txBox="1"/>
          <p:nvPr>
            <p:ph type="title"/>
          </p:nvPr>
        </p:nvSpPr>
        <p:spPr>
          <a:xfrm>
            <a:off x="23925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20"/>
          <p:cNvSpPr txBox="1"/>
          <p:nvPr>
            <p:ph idx="2" type="title"/>
          </p:nvPr>
        </p:nvSpPr>
        <p:spPr>
          <a:xfrm>
            <a:off x="564640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2800"/>
              <a:buNone/>
              <a:defRPr>
                <a:solidFill>
                  <a:srgbClr val="3896D2"/>
                </a:solidFill>
              </a:defRPr>
            </a:lvl2pPr>
            <a:lvl3pPr lvl="2" algn="l">
              <a:lnSpc>
                <a:spcPct val="100000"/>
              </a:lnSpc>
              <a:spcBef>
                <a:spcPts val="0"/>
              </a:spcBef>
              <a:spcAft>
                <a:spcPts val="0"/>
              </a:spcAft>
              <a:buClr>
                <a:srgbClr val="3896D2"/>
              </a:buClr>
              <a:buSzPts val="2800"/>
              <a:buNone/>
              <a:defRPr>
                <a:solidFill>
                  <a:srgbClr val="3896D2"/>
                </a:solidFill>
              </a:defRPr>
            </a:lvl3pPr>
            <a:lvl4pPr lvl="3" algn="l">
              <a:lnSpc>
                <a:spcPct val="100000"/>
              </a:lnSpc>
              <a:spcBef>
                <a:spcPts val="0"/>
              </a:spcBef>
              <a:spcAft>
                <a:spcPts val="0"/>
              </a:spcAft>
              <a:buClr>
                <a:srgbClr val="3896D2"/>
              </a:buClr>
              <a:buSzPts val="2800"/>
              <a:buNone/>
              <a:defRPr>
                <a:solidFill>
                  <a:srgbClr val="3896D2"/>
                </a:solidFill>
              </a:defRPr>
            </a:lvl4pPr>
            <a:lvl5pPr lvl="4" algn="l">
              <a:lnSpc>
                <a:spcPct val="100000"/>
              </a:lnSpc>
              <a:spcBef>
                <a:spcPts val="0"/>
              </a:spcBef>
              <a:spcAft>
                <a:spcPts val="0"/>
              </a:spcAft>
              <a:buClr>
                <a:srgbClr val="3896D2"/>
              </a:buClr>
              <a:buSzPts val="2800"/>
              <a:buNone/>
              <a:defRPr>
                <a:solidFill>
                  <a:srgbClr val="3896D2"/>
                </a:solidFill>
              </a:defRPr>
            </a:lvl5pPr>
            <a:lvl6pPr lvl="5" algn="l">
              <a:lnSpc>
                <a:spcPct val="100000"/>
              </a:lnSpc>
              <a:spcBef>
                <a:spcPts val="0"/>
              </a:spcBef>
              <a:spcAft>
                <a:spcPts val="0"/>
              </a:spcAft>
              <a:buClr>
                <a:srgbClr val="3896D2"/>
              </a:buClr>
              <a:buSzPts val="2800"/>
              <a:buNone/>
              <a:defRPr>
                <a:solidFill>
                  <a:srgbClr val="3896D2"/>
                </a:solidFill>
              </a:defRPr>
            </a:lvl6pPr>
            <a:lvl7pPr lvl="6" algn="l">
              <a:lnSpc>
                <a:spcPct val="100000"/>
              </a:lnSpc>
              <a:spcBef>
                <a:spcPts val="0"/>
              </a:spcBef>
              <a:spcAft>
                <a:spcPts val="0"/>
              </a:spcAft>
              <a:buClr>
                <a:srgbClr val="3896D2"/>
              </a:buClr>
              <a:buSzPts val="2800"/>
              <a:buNone/>
              <a:defRPr>
                <a:solidFill>
                  <a:srgbClr val="3896D2"/>
                </a:solidFill>
              </a:defRPr>
            </a:lvl7pPr>
            <a:lvl8pPr lvl="7" algn="l">
              <a:lnSpc>
                <a:spcPct val="100000"/>
              </a:lnSpc>
              <a:spcBef>
                <a:spcPts val="0"/>
              </a:spcBef>
              <a:spcAft>
                <a:spcPts val="0"/>
              </a:spcAft>
              <a:buClr>
                <a:srgbClr val="3896D2"/>
              </a:buClr>
              <a:buSzPts val="2800"/>
              <a:buNone/>
              <a:defRPr>
                <a:solidFill>
                  <a:srgbClr val="3896D2"/>
                </a:solidFill>
              </a:defRPr>
            </a:lvl8pPr>
            <a:lvl9pPr lvl="8" algn="l">
              <a:lnSpc>
                <a:spcPct val="100000"/>
              </a:lnSpc>
              <a:spcBef>
                <a:spcPts val="0"/>
              </a:spcBef>
              <a:spcAft>
                <a:spcPts val="0"/>
              </a:spcAft>
              <a:buClr>
                <a:srgbClr val="3896D2"/>
              </a:buClr>
              <a:buSzPts val="2800"/>
              <a:buNone/>
              <a:defRPr>
                <a:solidFill>
                  <a:srgbClr val="3896D2"/>
                </a:solidFill>
              </a:defRPr>
            </a:lvl9pPr>
          </a:lstStyle>
          <a:p/>
        </p:txBody>
      </p:sp>
      <p:sp>
        <p:nvSpPr>
          <p:cNvPr id="91" name="Google Shape;91;p20"/>
          <p:cNvSpPr/>
          <p:nvPr/>
        </p:nvSpPr>
        <p:spPr>
          <a:xfrm>
            <a:off x="3795750" y="2040900"/>
            <a:ext cx="1552500" cy="1061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93" name="Shape 93"/>
        <p:cNvGrpSpPr/>
        <p:nvPr/>
      </p:nvGrpSpPr>
      <p:grpSpPr>
        <a:xfrm>
          <a:off x="0" y="0"/>
          <a:ext cx="0" cy="0"/>
          <a:chOff x="0" y="0"/>
          <a:chExt cx="0" cy="0"/>
        </a:xfrm>
      </p:grpSpPr>
      <p:sp>
        <p:nvSpPr>
          <p:cNvPr id="94" name="Google Shape;94;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95" name="Shape 95"/>
        <p:cNvGrpSpPr/>
        <p:nvPr/>
      </p:nvGrpSpPr>
      <p:grpSpPr>
        <a:xfrm>
          <a:off x="0" y="0"/>
          <a:ext cx="0" cy="0"/>
          <a:chOff x="0" y="0"/>
          <a:chExt cx="0" cy="0"/>
        </a:xfrm>
      </p:grpSpPr>
      <p:sp>
        <p:nvSpPr>
          <p:cNvPr id="96" name="Google Shape;96;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97" name="Shape 97"/>
        <p:cNvGrpSpPr/>
        <p:nvPr/>
      </p:nvGrpSpPr>
      <p:grpSpPr>
        <a:xfrm>
          <a:off x="0" y="0"/>
          <a:ext cx="0" cy="0"/>
          <a:chOff x="0" y="0"/>
          <a:chExt cx="0" cy="0"/>
        </a:xfrm>
      </p:grpSpPr>
      <p:sp>
        <p:nvSpPr>
          <p:cNvPr id="98" name="Google Shape;98;p2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Font typeface="Fira Sans"/>
              <a:buNone/>
              <a:defRPr sz="5200">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9" name="Google Shape;99;p2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Fira Sans"/>
              <a:buNone/>
              <a:defRPr sz="2800">
                <a:latin typeface="Fira Sans"/>
                <a:ea typeface="Fira Sans"/>
                <a:cs typeface="Fira Sans"/>
                <a:sym typeface="Fira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0" name="Google Shape;10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01" name="Shape 101"/>
        <p:cNvGrpSpPr/>
        <p:nvPr/>
      </p:nvGrpSpPr>
      <p:grpSpPr>
        <a:xfrm>
          <a:off x="0" y="0"/>
          <a:ext cx="0" cy="0"/>
          <a:chOff x="0" y="0"/>
          <a:chExt cx="0" cy="0"/>
        </a:xfrm>
      </p:grpSpPr>
      <p:sp>
        <p:nvSpPr>
          <p:cNvPr id="102" name="Google Shape;102;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3" name="Google Shape;103;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p:txBody>
      </p:sp>
      <p:sp>
        <p:nvSpPr>
          <p:cNvPr id="104" name="Google Shape;104;p2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Fira Sans"/>
              <a:buNone/>
              <a:defRPr>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Font typeface="Fira Sans"/>
              <a:buChar char="●"/>
              <a:defRPr>
                <a:latin typeface="Fira Sans"/>
                <a:ea typeface="Fira Sans"/>
                <a:cs typeface="Fira Sans"/>
                <a:sym typeface="Fira Sans"/>
              </a:defRPr>
            </a:lvl1pPr>
            <a:lvl2pPr indent="-317500" lvl="1" marL="914400" algn="l">
              <a:lnSpc>
                <a:spcPct val="115000"/>
              </a:lnSpc>
              <a:spcBef>
                <a:spcPts val="1600"/>
              </a:spcBef>
              <a:spcAft>
                <a:spcPts val="0"/>
              </a:spcAft>
              <a:buSzPts val="1400"/>
              <a:buFont typeface="Fira Sans"/>
              <a:buChar char="○"/>
              <a:defRPr>
                <a:latin typeface="Fira Sans"/>
                <a:ea typeface="Fira Sans"/>
                <a:cs typeface="Fira Sans"/>
                <a:sym typeface="Fira Sans"/>
              </a:defRPr>
            </a:lvl2pPr>
            <a:lvl3pPr indent="-317500" lvl="2" marL="1371600" algn="l">
              <a:lnSpc>
                <a:spcPct val="115000"/>
              </a:lnSpc>
              <a:spcBef>
                <a:spcPts val="1600"/>
              </a:spcBef>
              <a:spcAft>
                <a:spcPts val="0"/>
              </a:spcAft>
              <a:buSzPts val="1400"/>
              <a:buFont typeface="Fira Sans"/>
              <a:buChar char="■"/>
              <a:defRPr>
                <a:latin typeface="Fira Sans"/>
                <a:ea typeface="Fira Sans"/>
                <a:cs typeface="Fira Sans"/>
                <a:sym typeface="Fira Sans"/>
              </a:defRPr>
            </a:lvl3pPr>
            <a:lvl4pPr indent="-317500" lvl="3" marL="1828800" algn="l">
              <a:lnSpc>
                <a:spcPct val="115000"/>
              </a:lnSpc>
              <a:spcBef>
                <a:spcPts val="1600"/>
              </a:spcBef>
              <a:spcAft>
                <a:spcPts val="0"/>
              </a:spcAft>
              <a:buSzPts val="1400"/>
              <a:buFont typeface="Fira Sans"/>
              <a:buChar char="●"/>
              <a:defRPr>
                <a:latin typeface="Fira Sans"/>
                <a:ea typeface="Fira Sans"/>
                <a:cs typeface="Fira Sans"/>
                <a:sym typeface="Fira Sans"/>
              </a:defRPr>
            </a:lvl4pPr>
            <a:lvl5pPr indent="-317500" lvl="4" marL="2286000" algn="l">
              <a:lnSpc>
                <a:spcPct val="115000"/>
              </a:lnSpc>
              <a:spcBef>
                <a:spcPts val="1600"/>
              </a:spcBef>
              <a:spcAft>
                <a:spcPts val="0"/>
              </a:spcAft>
              <a:buSzPts val="1400"/>
              <a:buFont typeface="Fira Sans"/>
              <a:buChar char="○"/>
              <a:defRPr>
                <a:latin typeface="Fira Sans"/>
                <a:ea typeface="Fira Sans"/>
                <a:cs typeface="Fira Sans"/>
                <a:sym typeface="Fira Sans"/>
              </a:defRPr>
            </a:lvl5pPr>
            <a:lvl6pPr indent="-317500" lvl="5" marL="2743200" algn="l">
              <a:lnSpc>
                <a:spcPct val="115000"/>
              </a:lnSpc>
              <a:spcBef>
                <a:spcPts val="1600"/>
              </a:spcBef>
              <a:spcAft>
                <a:spcPts val="0"/>
              </a:spcAft>
              <a:buSzPts val="1400"/>
              <a:buFont typeface="Fira Sans"/>
              <a:buChar char="■"/>
              <a:defRPr>
                <a:latin typeface="Fira Sans"/>
                <a:ea typeface="Fira Sans"/>
                <a:cs typeface="Fira Sans"/>
                <a:sym typeface="Fira Sans"/>
              </a:defRPr>
            </a:lvl6pPr>
            <a:lvl7pPr indent="-317500" lvl="6" marL="3200400" algn="l">
              <a:lnSpc>
                <a:spcPct val="115000"/>
              </a:lnSpc>
              <a:spcBef>
                <a:spcPts val="1600"/>
              </a:spcBef>
              <a:spcAft>
                <a:spcPts val="0"/>
              </a:spcAft>
              <a:buSzPts val="1400"/>
              <a:buFont typeface="Fira Sans"/>
              <a:buChar char="●"/>
              <a:defRPr>
                <a:latin typeface="Fira Sans"/>
                <a:ea typeface="Fira Sans"/>
                <a:cs typeface="Fira Sans"/>
                <a:sym typeface="Fira Sans"/>
              </a:defRPr>
            </a:lvl7pPr>
            <a:lvl8pPr indent="-317500" lvl="7" marL="3657600" algn="l">
              <a:lnSpc>
                <a:spcPct val="115000"/>
              </a:lnSpc>
              <a:spcBef>
                <a:spcPts val="1600"/>
              </a:spcBef>
              <a:spcAft>
                <a:spcPts val="0"/>
              </a:spcAft>
              <a:buSzPts val="1400"/>
              <a:buFont typeface="Fira Sans"/>
              <a:buChar char="○"/>
              <a:defRPr>
                <a:latin typeface="Fira Sans"/>
                <a:ea typeface="Fira Sans"/>
                <a:cs typeface="Fira Sans"/>
                <a:sym typeface="Fira Sans"/>
              </a:defRPr>
            </a:lvl8pPr>
            <a:lvl9pPr indent="-317500" lvl="8" marL="4114800" algn="l">
              <a:lnSpc>
                <a:spcPct val="115000"/>
              </a:lnSpc>
              <a:spcBef>
                <a:spcPts val="1600"/>
              </a:spcBef>
              <a:spcAft>
                <a:spcPts val="1600"/>
              </a:spcAft>
              <a:buSzPts val="1400"/>
              <a:buFont typeface="Fira Sans"/>
              <a:buChar char="■"/>
              <a:defRPr>
                <a:latin typeface="Fira Sans"/>
                <a:ea typeface="Fira Sans"/>
                <a:cs typeface="Fira Sans"/>
                <a:sym typeface="Fira Sans"/>
              </a:defRPr>
            </a:lvl9pPr>
          </a:lstStyle>
          <a:p/>
        </p:txBody>
      </p:sp>
      <p:sp>
        <p:nvSpPr>
          <p:cNvPr id="112" name="Google Shape;112;p26"/>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pic>
        <p:nvPicPr>
          <p:cNvPr id="113" name="Google Shape;113;p26"/>
          <p:cNvPicPr preferRelativeResize="0"/>
          <p:nvPr/>
        </p:nvPicPr>
        <p:blipFill rotWithShape="1">
          <a:blip r:embed="rId2">
            <a:alphaModFix/>
          </a:blip>
          <a:srcRect b="0" l="0" r="0" t="0"/>
          <a:stretch/>
        </p:blipFill>
        <p:spPr>
          <a:xfrm>
            <a:off x="7772867" y="4703625"/>
            <a:ext cx="1306034" cy="3936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4" name="Shape 114"/>
        <p:cNvGrpSpPr/>
        <p:nvPr/>
      </p:nvGrpSpPr>
      <p:grpSpPr>
        <a:xfrm>
          <a:off x="0" y="0"/>
          <a:ext cx="0" cy="0"/>
          <a:chOff x="0" y="0"/>
          <a:chExt cx="0" cy="0"/>
        </a:xfrm>
      </p:grpSpPr>
      <p:sp>
        <p:nvSpPr>
          <p:cNvPr id="115" name="Google Shape;1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6" name="Google Shape;1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50000"/>
              </a:lnSpc>
              <a:spcBef>
                <a:spcPts val="0"/>
              </a:spcBef>
              <a:spcAft>
                <a:spcPts val="0"/>
              </a:spcAft>
              <a:buClr>
                <a:schemeClr val="dk1"/>
              </a:buClr>
              <a:buSzPts val="1800"/>
              <a:buFont typeface="Fira Sans"/>
              <a:buAutoNum type="arabicPeriod"/>
              <a:defRPr sz="2000">
                <a:solidFill>
                  <a:schemeClr val="dk1"/>
                </a:solidFill>
                <a:latin typeface="Fira Sans"/>
                <a:ea typeface="Fira Sans"/>
                <a:cs typeface="Fira Sans"/>
                <a:sym typeface="Fira Sans"/>
              </a:defRPr>
            </a:lvl1pPr>
            <a:lvl2pPr indent="-317500" lvl="1" marL="9144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2pPr>
            <a:lvl3pPr indent="-317500" lvl="2" marL="13716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3pPr>
            <a:lvl4pPr indent="-317500" lvl="3" marL="1828800" algn="l">
              <a:lnSpc>
                <a:spcPct val="115000"/>
              </a:lnSpc>
              <a:spcBef>
                <a:spcPts val="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4pPr>
            <a:lvl5pPr indent="-317500" lvl="4" marL="22860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5pPr>
            <a:lvl6pPr indent="-317500" lvl="5" marL="27432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6pPr>
            <a:lvl7pPr indent="-317500" lvl="6" marL="3200400" algn="l">
              <a:lnSpc>
                <a:spcPct val="115000"/>
              </a:lnSpc>
              <a:spcBef>
                <a:spcPts val="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7pPr>
            <a:lvl8pPr indent="-317500" lvl="7" marL="3657600" algn="l">
              <a:lnSpc>
                <a:spcPct val="115000"/>
              </a:lnSpc>
              <a:spcBef>
                <a:spcPts val="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8pPr>
            <a:lvl9pPr indent="-317500" lvl="8" marL="4114800" algn="l">
              <a:lnSpc>
                <a:spcPct val="115000"/>
              </a:lnSpc>
              <a:spcBef>
                <a:spcPts val="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9pPr>
          </a:lstStyle>
          <a:p/>
        </p:txBody>
      </p:sp>
      <p:sp>
        <p:nvSpPr>
          <p:cNvPr id="117" name="Google Shape;117;p2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118" name="Shape 118"/>
        <p:cNvGrpSpPr/>
        <p:nvPr/>
      </p:nvGrpSpPr>
      <p:grpSpPr>
        <a:xfrm>
          <a:off x="0" y="0"/>
          <a:ext cx="0" cy="0"/>
          <a:chOff x="0" y="0"/>
          <a:chExt cx="0" cy="0"/>
        </a:xfrm>
      </p:grpSpPr>
      <p:sp>
        <p:nvSpPr>
          <p:cNvPr id="119" name="Google Shape;119;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120" name="Shape 120"/>
        <p:cNvGrpSpPr/>
        <p:nvPr/>
      </p:nvGrpSpPr>
      <p:grpSpPr>
        <a:xfrm>
          <a:off x="0" y="0"/>
          <a:ext cx="0" cy="0"/>
          <a:chOff x="0" y="0"/>
          <a:chExt cx="0" cy="0"/>
        </a:xfrm>
      </p:grpSpPr>
      <p:sp>
        <p:nvSpPr>
          <p:cNvPr id="121" name="Google Shape;121;p29"/>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2" name="Google Shape;122;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5" name="Google Shape;125;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6" name="Google Shape;126;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7" name="Google Shape;127;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128" name="Shape 128"/>
        <p:cNvGrpSpPr/>
        <p:nvPr/>
      </p:nvGrpSpPr>
      <p:grpSpPr>
        <a:xfrm>
          <a:off x="0" y="0"/>
          <a:ext cx="0" cy="0"/>
          <a:chOff x="0" y="0"/>
          <a:chExt cx="0" cy="0"/>
        </a:xfrm>
      </p:grpSpPr>
      <p:sp>
        <p:nvSpPr>
          <p:cNvPr id="129" name="Google Shape;129;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130" name="Shape 130"/>
        <p:cNvGrpSpPr/>
        <p:nvPr/>
      </p:nvGrpSpPr>
      <p:grpSpPr>
        <a:xfrm>
          <a:off x="0" y="0"/>
          <a:ext cx="0" cy="0"/>
          <a:chOff x="0" y="0"/>
          <a:chExt cx="0" cy="0"/>
        </a:xfrm>
      </p:grpSpPr>
      <p:sp>
        <p:nvSpPr>
          <p:cNvPr id="131" name="Google Shape;131;p32"/>
          <p:cNvSpPr txBox="1"/>
          <p:nvPr>
            <p:ph type="ctrTitle"/>
          </p:nvPr>
        </p:nvSpPr>
        <p:spPr>
          <a:xfrm>
            <a:off x="706650" y="411425"/>
            <a:ext cx="7730700" cy="128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Font typeface="Fira Sans"/>
              <a:buNone/>
              <a:defRPr b="1" sz="6000">
                <a:solidFill>
                  <a:schemeClr val="lt1"/>
                </a:solidFill>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132" name="Google Shape;132;p32"/>
          <p:cNvPicPr preferRelativeResize="0"/>
          <p:nvPr/>
        </p:nvPicPr>
        <p:blipFill rotWithShape="1">
          <a:blip r:embed="rId2">
            <a:alphaModFix/>
          </a:blip>
          <a:srcRect b="0" l="0" r="0" t="0"/>
          <a:stretch/>
        </p:blipFill>
        <p:spPr>
          <a:xfrm>
            <a:off x="1300600" y="1858950"/>
            <a:ext cx="6542801" cy="1425600"/>
          </a:xfrm>
          <a:prstGeom prst="rect">
            <a:avLst/>
          </a:prstGeom>
          <a:noFill/>
          <a:ln>
            <a:noFill/>
          </a:ln>
        </p:spPr>
      </p:pic>
      <p:sp>
        <p:nvSpPr>
          <p:cNvPr id="133" name="Google Shape;133;p32"/>
          <p:cNvSpPr txBox="1"/>
          <p:nvPr/>
        </p:nvSpPr>
        <p:spPr>
          <a:xfrm>
            <a:off x="1512950" y="3755800"/>
            <a:ext cx="6330300" cy="90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135" name="Shape 135"/>
        <p:cNvGrpSpPr/>
        <p:nvPr/>
      </p:nvGrpSpPr>
      <p:grpSpPr>
        <a:xfrm>
          <a:off x="0" y="0"/>
          <a:ext cx="0" cy="0"/>
          <a:chOff x="0" y="0"/>
          <a:chExt cx="0" cy="0"/>
        </a:xfrm>
      </p:grpSpPr>
      <p:sp>
        <p:nvSpPr>
          <p:cNvPr id="136" name="Google Shape;136;p33"/>
          <p:cNvSpPr txBox="1"/>
          <p:nvPr/>
        </p:nvSpPr>
        <p:spPr>
          <a:xfrm>
            <a:off x="1132350" y="2061225"/>
            <a:ext cx="6879300" cy="96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lt1"/>
                </a:solidFill>
                <a:latin typeface="Fira Sans"/>
                <a:ea typeface="Fira Sans"/>
                <a:cs typeface="Fira Sans"/>
                <a:sym typeface="Fira Sans"/>
              </a:rPr>
              <a:t>Thank You!</a:t>
            </a:r>
            <a:endParaRPr b="1" i="0" sz="6000" u="none" cap="none" strike="noStrike">
              <a:solidFill>
                <a:schemeClr val="lt1"/>
              </a:solidFill>
              <a:latin typeface="Fira Sans"/>
              <a:ea typeface="Fira Sans"/>
              <a:cs typeface="Fira Sans"/>
              <a:sym typeface="Fira Sans"/>
            </a:endParaRPr>
          </a:p>
        </p:txBody>
      </p:sp>
      <p:sp>
        <p:nvSpPr>
          <p:cNvPr id="137" name="Google Shape;1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138" name="Shape 138"/>
        <p:cNvGrpSpPr/>
        <p:nvPr/>
      </p:nvGrpSpPr>
      <p:grpSpPr>
        <a:xfrm>
          <a:off x="0" y="0"/>
          <a:ext cx="0" cy="0"/>
          <a:chOff x="0" y="0"/>
          <a:chExt cx="0" cy="0"/>
        </a:xfrm>
      </p:grpSpPr>
      <p:sp>
        <p:nvSpPr>
          <p:cNvPr id="139" name="Google Shape;139;p34"/>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0" name="Google Shape;140;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141" name="Shape 141"/>
        <p:cNvGrpSpPr/>
        <p:nvPr/>
      </p:nvGrpSpPr>
      <p:grpSpPr>
        <a:xfrm>
          <a:off x="0" y="0"/>
          <a:ext cx="0" cy="0"/>
          <a:chOff x="0" y="0"/>
          <a:chExt cx="0" cy="0"/>
        </a:xfrm>
      </p:grpSpPr>
      <p:sp>
        <p:nvSpPr>
          <p:cNvPr id="142" name="Google Shape;142;p35"/>
          <p:cNvSpPr txBox="1"/>
          <p:nvPr>
            <p:ph type="title"/>
          </p:nvPr>
        </p:nvSpPr>
        <p:spPr>
          <a:xfrm>
            <a:off x="311700" y="1592700"/>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3896D2"/>
              </a:buClr>
              <a:buSzPts val="6000"/>
              <a:buFont typeface="Fira Sans"/>
              <a:buNone/>
              <a:defRPr b="1" sz="6000">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3" name="Google Shape;143;p35"/>
          <p:cNvSpPr txBox="1"/>
          <p:nvPr>
            <p:ph idx="1" type="subTitle"/>
          </p:nvPr>
        </p:nvSpPr>
        <p:spPr>
          <a:xfrm>
            <a:off x="2096875" y="3649625"/>
            <a:ext cx="4923600" cy="4743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2400">
                <a:solidFill>
                  <a:srgbClr val="000000"/>
                </a:solidFill>
                <a:latin typeface="Fira Sans"/>
                <a:ea typeface="Fira Sans"/>
                <a:cs typeface="Fira Sans"/>
                <a:sym typeface="Fira Sans"/>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44" name="Google Shape;144;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145" name="Shape 145"/>
        <p:cNvGrpSpPr/>
        <p:nvPr/>
      </p:nvGrpSpPr>
      <p:grpSpPr>
        <a:xfrm>
          <a:off x="0" y="0"/>
          <a:ext cx="0" cy="0"/>
          <a:chOff x="0" y="0"/>
          <a:chExt cx="0" cy="0"/>
        </a:xfrm>
      </p:grpSpPr>
      <p:sp>
        <p:nvSpPr>
          <p:cNvPr id="146" name="Google Shape;146;p36"/>
          <p:cNvSpPr txBox="1"/>
          <p:nvPr>
            <p:ph type="title"/>
          </p:nvPr>
        </p:nvSpPr>
        <p:spPr>
          <a:xfrm>
            <a:off x="311700" y="398275"/>
            <a:ext cx="8520600" cy="195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Font typeface="Fira Sans"/>
              <a:buNone/>
              <a:defRPr b="1" sz="6000">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7" name="Google Shape;147;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p:cSld name="TITLE_AND_BODY 2">
    <p:spTree>
      <p:nvGrpSpPr>
        <p:cNvPr id="148" name="Shape 148"/>
        <p:cNvGrpSpPr/>
        <p:nvPr/>
      </p:nvGrpSpPr>
      <p:grpSpPr>
        <a:xfrm>
          <a:off x="0" y="0"/>
          <a:ext cx="0" cy="0"/>
          <a:chOff x="0" y="0"/>
          <a:chExt cx="0" cy="0"/>
        </a:xfrm>
      </p:grpSpPr>
      <p:sp>
        <p:nvSpPr>
          <p:cNvPr id="149" name="Google Shape;149;p37"/>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150" name="Google Shape;150;p37"/>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151" name="Google Shape;151;p37"/>
          <p:cNvSpPr txBox="1"/>
          <p:nvPr>
            <p:ph idx="2" type="body"/>
          </p:nvPr>
        </p:nvSpPr>
        <p:spPr>
          <a:xfrm>
            <a:off x="2471825" y="477750"/>
            <a:ext cx="5700000" cy="43398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152" name="Google Shape;152;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153" name="Shape 153"/>
        <p:cNvGrpSpPr/>
        <p:nvPr/>
      </p:nvGrpSpPr>
      <p:grpSpPr>
        <a:xfrm>
          <a:off x="0" y="0"/>
          <a:ext cx="0" cy="0"/>
          <a:chOff x="0" y="0"/>
          <a:chExt cx="0" cy="0"/>
        </a:xfrm>
      </p:grpSpPr>
      <p:sp>
        <p:nvSpPr>
          <p:cNvPr id="154" name="Google Shape;154;p38"/>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155" name="Google Shape;155;p38"/>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156" name="Google Shape;156;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157" name="Shape 157"/>
        <p:cNvGrpSpPr/>
        <p:nvPr/>
      </p:nvGrpSpPr>
      <p:grpSpPr>
        <a:xfrm>
          <a:off x="0" y="0"/>
          <a:ext cx="0" cy="0"/>
          <a:chOff x="0" y="0"/>
          <a:chExt cx="0" cy="0"/>
        </a:xfrm>
      </p:grpSpPr>
      <p:sp>
        <p:nvSpPr>
          <p:cNvPr id="158" name="Google Shape;158;p39"/>
          <p:cNvSpPr/>
          <p:nvPr/>
        </p:nvSpPr>
        <p:spPr>
          <a:xfrm>
            <a:off x="0" y="0"/>
            <a:ext cx="2309100" cy="5143500"/>
          </a:xfrm>
          <a:prstGeom prst="rect">
            <a:avLst/>
          </a:prstGeom>
          <a:solidFill>
            <a:srgbClr val="3896D2"/>
          </a:solidFill>
          <a:ln>
            <a:noFill/>
          </a:ln>
          <a:effectLst>
            <a:outerShdw blurRad="38100" rotWithShape="0" dir="5400000" dist="25400">
              <a:srgbClr val="000000">
                <a:alpha val="43137"/>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FFFFFF"/>
              </a:solidFill>
              <a:latin typeface="Fira Sans"/>
              <a:ea typeface="Fira Sans"/>
              <a:cs typeface="Fira Sans"/>
              <a:sym typeface="Fira Sans"/>
            </a:endParaRPr>
          </a:p>
        </p:txBody>
      </p:sp>
      <p:sp>
        <p:nvSpPr>
          <p:cNvPr id="159" name="Google Shape;159;p39"/>
          <p:cNvSpPr txBox="1"/>
          <p:nvPr>
            <p:ph idx="1" type="subTitle"/>
          </p:nvPr>
        </p:nvSpPr>
        <p:spPr>
          <a:xfrm>
            <a:off x="238800" y="477750"/>
            <a:ext cx="1831500" cy="393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p:txBody>
      </p:sp>
      <p:sp>
        <p:nvSpPr>
          <p:cNvPr id="160" name="Google Shape;160;p39"/>
          <p:cNvSpPr txBox="1"/>
          <p:nvPr>
            <p:ph idx="2" type="body"/>
          </p:nvPr>
        </p:nvSpPr>
        <p:spPr>
          <a:xfrm>
            <a:off x="2471825" y="477750"/>
            <a:ext cx="5700000" cy="43398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161" name="Google Shape;161;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162" name="Shape 162"/>
        <p:cNvGrpSpPr/>
        <p:nvPr/>
      </p:nvGrpSpPr>
      <p:grpSpPr>
        <a:xfrm>
          <a:off x="0" y="0"/>
          <a:ext cx="0" cy="0"/>
          <a:chOff x="0" y="0"/>
          <a:chExt cx="0" cy="0"/>
        </a:xfrm>
      </p:grpSpPr>
      <p:sp>
        <p:nvSpPr>
          <p:cNvPr id="163" name="Google Shape;163;p40"/>
          <p:cNvSpPr/>
          <p:nvPr/>
        </p:nvSpPr>
        <p:spPr>
          <a:xfrm>
            <a:off x="0" y="-125"/>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0"/>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5" name="Google Shape;165;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indent="-393700" lvl="1" marL="914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indent="-393700" lvl="2" marL="1371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indent="-393700" lvl="3" marL="18288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indent="-393700" lvl="4" marL="22860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indent="-393700" lvl="5" marL="27432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indent="-393700" lvl="6" marL="32004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indent="-393700" lvl="7" marL="36576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p:txBody>
      </p:sp>
      <p:sp>
        <p:nvSpPr>
          <p:cNvPr id="166" name="Google Shape;166;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167" name="Google Shape;167;p40"/>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8" name="Google Shape;168;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169" name="Shape 169"/>
        <p:cNvGrpSpPr/>
        <p:nvPr/>
      </p:nvGrpSpPr>
      <p:grpSpPr>
        <a:xfrm>
          <a:off x="0" y="0"/>
          <a:ext cx="0" cy="0"/>
          <a:chOff x="0" y="0"/>
          <a:chExt cx="0" cy="0"/>
        </a:xfrm>
      </p:grpSpPr>
      <p:sp>
        <p:nvSpPr>
          <p:cNvPr id="170" name="Google Shape;170;p41"/>
          <p:cNvSpPr/>
          <p:nvPr/>
        </p:nvSpPr>
        <p:spPr>
          <a:xfrm>
            <a:off x="4584900" y="0"/>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41"/>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 name="Google Shape;172;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indent="-393700" lvl="1" marL="914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indent="-393700" lvl="2" marL="1371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indent="-393700" lvl="3" marL="18288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indent="-393700" lvl="4" marL="22860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indent="-393700" lvl="5" marL="27432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indent="-393700" lvl="6" marL="32004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indent="-393700" lvl="7" marL="36576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p:txBody>
      </p:sp>
      <p:sp>
        <p:nvSpPr>
          <p:cNvPr id="173" name="Google Shape;173;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lt1"/>
              </a:buClr>
              <a:buSzPts val="2600"/>
              <a:buFont typeface="Fira Sans"/>
              <a:buChar char="■"/>
              <a:defRPr sz="2600">
                <a:solidFill>
                  <a:schemeClr val="lt1"/>
                </a:solidFill>
                <a:latin typeface="Fira Sans"/>
                <a:ea typeface="Fira Sans"/>
                <a:cs typeface="Fira Sans"/>
                <a:sym typeface="Fira Sans"/>
              </a:defRPr>
            </a:lvl9pPr>
          </a:lstStyle>
          <a:p/>
        </p:txBody>
      </p:sp>
      <p:sp>
        <p:nvSpPr>
          <p:cNvPr id="174" name="Google Shape;174;p41"/>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9pPr>
          </a:lstStyle>
          <a:p/>
        </p:txBody>
      </p:sp>
      <p:sp>
        <p:nvSpPr>
          <p:cNvPr id="175" name="Google Shape;175;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176" name="Shape 176"/>
        <p:cNvGrpSpPr/>
        <p:nvPr/>
      </p:nvGrpSpPr>
      <p:grpSpPr>
        <a:xfrm>
          <a:off x="0" y="0"/>
          <a:ext cx="0" cy="0"/>
          <a:chOff x="0" y="0"/>
          <a:chExt cx="0" cy="0"/>
        </a:xfrm>
      </p:grpSpPr>
      <p:sp>
        <p:nvSpPr>
          <p:cNvPr id="177" name="Google Shape;177;p42"/>
          <p:cNvSpPr/>
          <p:nvPr/>
        </p:nvSpPr>
        <p:spPr>
          <a:xfrm>
            <a:off x="0" y="-125"/>
            <a:ext cx="4572000" cy="51435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2"/>
          <p:cNvSpPr txBox="1"/>
          <p:nvPr>
            <p:ph type="title"/>
          </p:nvPr>
        </p:nvSpPr>
        <p:spPr>
          <a:xfrm>
            <a:off x="31170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3200"/>
              <a:buFont typeface="Fira Sans"/>
              <a:buNone/>
              <a:defRPr sz="3200">
                <a:solidFill>
                  <a:srgbClr val="000000"/>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9" name="Google Shape;179;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1pPr>
            <a:lvl2pPr indent="-393700" lvl="1" marL="914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2pPr>
            <a:lvl3pPr indent="-393700" lvl="2" marL="1371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3pPr>
            <a:lvl4pPr indent="-393700" lvl="3" marL="18288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4pPr>
            <a:lvl5pPr indent="-393700" lvl="4" marL="22860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5pPr>
            <a:lvl6pPr indent="-393700" lvl="5" marL="27432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6pPr>
            <a:lvl7pPr indent="-393700" lvl="6" marL="32004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7pPr>
            <a:lvl8pPr indent="-393700" lvl="7" marL="36576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8pPr>
            <a:lvl9pPr indent="-393700" lvl="8" marL="4114800" algn="l">
              <a:lnSpc>
                <a:spcPct val="115000"/>
              </a:lnSpc>
              <a:spcBef>
                <a:spcPts val="1600"/>
              </a:spcBef>
              <a:spcAft>
                <a:spcPts val="1600"/>
              </a:spcAft>
              <a:buClr>
                <a:srgbClr val="000000"/>
              </a:buClr>
              <a:buSzPts val="2600"/>
              <a:buFont typeface="Fira Sans"/>
              <a:buChar char="■"/>
              <a:defRPr sz="2600">
                <a:solidFill>
                  <a:srgbClr val="000000"/>
                </a:solidFill>
                <a:latin typeface="Fira Sans"/>
                <a:ea typeface="Fira Sans"/>
                <a:cs typeface="Fira Sans"/>
                <a:sym typeface="Fira Sans"/>
              </a:defRPr>
            </a:lvl9pPr>
          </a:lstStyle>
          <a:p/>
        </p:txBody>
      </p:sp>
      <p:sp>
        <p:nvSpPr>
          <p:cNvPr id="180" name="Google Shape;180;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1pPr>
            <a:lvl2pPr indent="-393700" lvl="1" marL="914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2pPr>
            <a:lvl3pPr indent="-393700" lvl="2" marL="1371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3pPr>
            <a:lvl4pPr indent="-393700" lvl="3" marL="18288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4pPr>
            <a:lvl5pPr indent="-393700" lvl="4" marL="22860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5pPr>
            <a:lvl6pPr indent="-393700" lvl="5" marL="27432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6pPr>
            <a:lvl7pPr indent="-393700" lvl="6" marL="32004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7pPr>
            <a:lvl8pPr indent="-393700" lvl="7" marL="36576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8pPr>
            <a:lvl9pPr indent="-393700" lvl="8" marL="4114800" algn="l">
              <a:lnSpc>
                <a:spcPct val="115000"/>
              </a:lnSpc>
              <a:spcBef>
                <a:spcPts val="1600"/>
              </a:spcBef>
              <a:spcAft>
                <a:spcPts val="1600"/>
              </a:spcAft>
              <a:buClr>
                <a:schemeClr val="dk1"/>
              </a:buClr>
              <a:buSzPts val="2600"/>
              <a:buFont typeface="Fira Sans"/>
              <a:buChar char="■"/>
              <a:defRPr sz="2600">
                <a:solidFill>
                  <a:schemeClr val="dk1"/>
                </a:solidFill>
                <a:latin typeface="Fira Sans"/>
                <a:ea typeface="Fira Sans"/>
                <a:cs typeface="Fira Sans"/>
                <a:sym typeface="Fira Sans"/>
              </a:defRPr>
            </a:lvl9pPr>
          </a:lstStyle>
          <a:p/>
        </p:txBody>
      </p:sp>
      <p:sp>
        <p:nvSpPr>
          <p:cNvPr id="181" name="Google Shape;181;p42"/>
          <p:cNvSpPr txBox="1"/>
          <p:nvPr>
            <p:ph idx="3" type="title"/>
          </p:nvPr>
        </p:nvSpPr>
        <p:spPr>
          <a:xfrm>
            <a:off x="4870950" y="285775"/>
            <a:ext cx="399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200"/>
              <a:buFont typeface="Fira Sans"/>
              <a:buNone/>
              <a:defRPr sz="3200">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2" name="Google Shape;182;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183" name="Shape 183"/>
        <p:cNvGrpSpPr/>
        <p:nvPr/>
      </p:nvGrpSpPr>
      <p:grpSpPr>
        <a:xfrm>
          <a:off x="0" y="0"/>
          <a:ext cx="0" cy="0"/>
          <a:chOff x="0" y="0"/>
          <a:chExt cx="0" cy="0"/>
        </a:xfrm>
      </p:grpSpPr>
      <p:sp>
        <p:nvSpPr>
          <p:cNvPr id="184" name="Google Shape;184;p43"/>
          <p:cNvSpPr txBox="1"/>
          <p:nvPr>
            <p:ph type="title"/>
          </p:nvPr>
        </p:nvSpPr>
        <p:spPr>
          <a:xfrm>
            <a:off x="23925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5" name="Google Shape;185;p43"/>
          <p:cNvSpPr txBox="1"/>
          <p:nvPr>
            <p:ph idx="2" type="title"/>
          </p:nvPr>
        </p:nvSpPr>
        <p:spPr>
          <a:xfrm>
            <a:off x="564640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6" name="Google Shape;186;p43"/>
          <p:cNvSpPr/>
          <p:nvPr/>
        </p:nvSpPr>
        <p:spPr>
          <a:xfrm>
            <a:off x="3795750" y="2040900"/>
            <a:ext cx="1552500" cy="1061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188" name="Shape 188"/>
        <p:cNvGrpSpPr/>
        <p:nvPr/>
      </p:nvGrpSpPr>
      <p:grpSpPr>
        <a:xfrm>
          <a:off x="0" y="0"/>
          <a:ext cx="0" cy="0"/>
          <a:chOff x="0" y="0"/>
          <a:chExt cx="0" cy="0"/>
        </a:xfrm>
      </p:grpSpPr>
      <p:sp>
        <p:nvSpPr>
          <p:cNvPr id="189" name="Google Shape;189;p44"/>
          <p:cNvSpPr txBox="1"/>
          <p:nvPr>
            <p:ph type="title"/>
          </p:nvPr>
        </p:nvSpPr>
        <p:spPr>
          <a:xfrm>
            <a:off x="23925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0" name="Google Shape;190;p44"/>
          <p:cNvSpPr txBox="1"/>
          <p:nvPr>
            <p:ph idx="2" type="title"/>
          </p:nvPr>
        </p:nvSpPr>
        <p:spPr>
          <a:xfrm>
            <a:off x="5646400" y="1832850"/>
            <a:ext cx="3264300" cy="147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3896D2"/>
              </a:buClr>
              <a:buSzPts val="3200"/>
              <a:buFont typeface="Fira Sans"/>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2800"/>
              <a:buNone/>
              <a:defRPr>
                <a:solidFill>
                  <a:srgbClr val="3896D2"/>
                </a:solidFill>
              </a:defRPr>
            </a:lvl2pPr>
            <a:lvl3pPr lvl="2" algn="l">
              <a:lnSpc>
                <a:spcPct val="100000"/>
              </a:lnSpc>
              <a:spcBef>
                <a:spcPts val="0"/>
              </a:spcBef>
              <a:spcAft>
                <a:spcPts val="0"/>
              </a:spcAft>
              <a:buClr>
                <a:srgbClr val="3896D2"/>
              </a:buClr>
              <a:buSzPts val="2800"/>
              <a:buNone/>
              <a:defRPr>
                <a:solidFill>
                  <a:srgbClr val="3896D2"/>
                </a:solidFill>
              </a:defRPr>
            </a:lvl3pPr>
            <a:lvl4pPr lvl="3" algn="l">
              <a:lnSpc>
                <a:spcPct val="100000"/>
              </a:lnSpc>
              <a:spcBef>
                <a:spcPts val="0"/>
              </a:spcBef>
              <a:spcAft>
                <a:spcPts val="0"/>
              </a:spcAft>
              <a:buClr>
                <a:srgbClr val="3896D2"/>
              </a:buClr>
              <a:buSzPts val="2800"/>
              <a:buNone/>
              <a:defRPr>
                <a:solidFill>
                  <a:srgbClr val="3896D2"/>
                </a:solidFill>
              </a:defRPr>
            </a:lvl4pPr>
            <a:lvl5pPr lvl="4" algn="l">
              <a:lnSpc>
                <a:spcPct val="100000"/>
              </a:lnSpc>
              <a:spcBef>
                <a:spcPts val="0"/>
              </a:spcBef>
              <a:spcAft>
                <a:spcPts val="0"/>
              </a:spcAft>
              <a:buClr>
                <a:srgbClr val="3896D2"/>
              </a:buClr>
              <a:buSzPts val="2800"/>
              <a:buNone/>
              <a:defRPr>
                <a:solidFill>
                  <a:srgbClr val="3896D2"/>
                </a:solidFill>
              </a:defRPr>
            </a:lvl5pPr>
            <a:lvl6pPr lvl="5" algn="l">
              <a:lnSpc>
                <a:spcPct val="100000"/>
              </a:lnSpc>
              <a:spcBef>
                <a:spcPts val="0"/>
              </a:spcBef>
              <a:spcAft>
                <a:spcPts val="0"/>
              </a:spcAft>
              <a:buClr>
                <a:srgbClr val="3896D2"/>
              </a:buClr>
              <a:buSzPts val="2800"/>
              <a:buNone/>
              <a:defRPr>
                <a:solidFill>
                  <a:srgbClr val="3896D2"/>
                </a:solidFill>
              </a:defRPr>
            </a:lvl6pPr>
            <a:lvl7pPr lvl="6" algn="l">
              <a:lnSpc>
                <a:spcPct val="100000"/>
              </a:lnSpc>
              <a:spcBef>
                <a:spcPts val="0"/>
              </a:spcBef>
              <a:spcAft>
                <a:spcPts val="0"/>
              </a:spcAft>
              <a:buClr>
                <a:srgbClr val="3896D2"/>
              </a:buClr>
              <a:buSzPts val="2800"/>
              <a:buNone/>
              <a:defRPr>
                <a:solidFill>
                  <a:srgbClr val="3896D2"/>
                </a:solidFill>
              </a:defRPr>
            </a:lvl7pPr>
            <a:lvl8pPr lvl="7" algn="l">
              <a:lnSpc>
                <a:spcPct val="100000"/>
              </a:lnSpc>
              <a:spcBef>
                <a:spcPts val="0"/>
              </a:spcBef>
              <a:spcAft>
                <a:spcPts val="0"/>
              </a:spcAft>
              <a:buClr>
                <a:srgbClr val="3896D2"/>
              </a:buClr>
              <a:buSzPts val="2800"/>
              <a:buNone/>
              <a:defRPr>
                <a:solidFill>
                  <a:srgbClr val="3896D2"/>
                </a:solidFill>
              </a:defRPr>
            </a:lvl8pPr>
            <a:lvl9pPr lvl="8" algn="l">
              <a:lnSpc>
                <a:spcPct val="100000"/>
              </a:lnSpc>
              <a:spcBef>
                <a:spcPts val="0"/>
              </a:spcBef>
              <a:spcAft>
                <a:spcPts val="0"/>
              </a:spcAft>
              <a:buClr>
                <a:srgbClr val="3896D2"/>
              </a:buClr>
              <a:buSzPts val="2800"/>
              <a:buNone/>
              <a:defRPr>
                <a:solidFill>
                  <a:srgbClr val="3896D2"/>
                </a:solidFill>
              </a:defRPr>
            </a:lvl9pPr>
          </a:lstStyle>
          <a:p/>
        </p:txBody>
      </p:sp>
      <p:sp>
        <p:nvSpPr>
          <p:cNvPr id="191" name="Google Shape;191;p44"/>
          <p:cNvSpPr/>
          <p:nvPr/>
        </p:nvSpPr>
        <p:spPr>
          <a:xfrm>
            <a:off x="3795750" y="2040900"/>
            <a:ext cx="1552500" cy="1061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193" name="Shape 193"/>
        <p:cNvGrpSpPr/>
        <p:nvPr/>
      </p:nvGrpSpPr>
      <p:grpSpPr>
        <a:xfrm>
          <a:off x="0" y="0"/>
          <a:ext cx="0" cy="0"/>
          <a:chOff x="0" y="0"/>
          <a:chExt cx="0" cy="0"/>
        </a:xfrm>
      </p:grpSpPr>
      <p:sp>
        <p:nvSpPr>
          <p:cNvPr id="194" name="Google Shape;194;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195" name="Shape 195"/>
        <p:cNvGrpSpPr/>
        <p:nvPr/>
      </p:nvGrpSpPr>
      <p:grpSpPr>
        <a:xfrm>
          <a:off x="0" y="0"/>
          <a:ext cx="0" cy="0"/>
          <a:chOff x="0" y="0"/>
          <a:chExt cx="0" cy="0"/>
        </a:xfrm>
      </p:grpSpPr>
      <p:sp>
        <p:nvSpPr>
          <p:cNvPr id="196" name="Google Shape;196;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7" name="Shape 197"/>
        <p:cNvGrpSpPr/>
        <p:nvPr/>
      </p:nvGrpSpPr>
      <p:grpSpPr>
        <a:xfrm>
          <a:off x="0" y="0"/>
          <a:ext cx="0" cy="0"/>
          <a:chOff x="0" y="0"/>
          <a:chExt cx="0" cy="0"/>
        </a:xfrm>
      </p:grpSpPr>
      <p:sp>
        <p:nvSpPr>
          <p:cNvPr id="198" name="Google Shape;198;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Font typeface="Fira Sans"/>
              <a:buNone/>
              <a:defRPr sz="5200">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9" name="Google Shape;199;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Fira Sans"/>
              <a:buNone/>
              <a:defRPr sz="2800">
                <a:latin typeface="Fira Sans"/>
                <a:ea typeface="Fira Sans"/>
                <a:cs typeface="Fira Sans"/>
                <a:sym typeface="Fira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0" name="Google Shape;20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201" name="Shape 201"/>
        <p:cNvGrpSpPr/>
        <p:nvPr/>
      </p:nvGrpSpPr>
      <p:grpSpPr>
        <a:xfrm>
          <a:off x="0" y="0"/>
          <a:ext cx="0" cy="0"/>
          <a:chOff x="0" y="0"/>
          <a:chExt cx="0" cy="0"/>
        </a:xfrm>
      </p:grpSpPr>
      <p:sp>
        <p:nvSpPr>
          <p:cNvPr id="202" name="Google Shape;202;p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3" name="Google Shape;203;p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p:txBody>
      </p:sp>
      <p:sp>
        <p:nvSpPr>
          <p:cNvPr id="204" name="Google Shape;204;p4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5">
  <p:cSld name="TITLE_AND_BODY_5">
    <p:spTree>
      <p:nvGrpSpPr>
        <p:cNvPr id="205" name="Shape 205"/>
        <p:cNvGrpSpPr/>
        <p:nvPr/>
      </p:nvGrpSpPr>
      <p:grpSpPr>
        <a:xfrm>
          <a:off x="0" y="0"/>
          <a:ext cx="0" cy="0"/>
          <a:chOff x="0" y="0"/>
          <a:chExt cx="0" cy="0"/>
        </a:xfrm>
      </p:grpSpPr>
      <p:sp>
        <p:nvSpPr>
          <p:cNvPr id="206" name="Google Shape;20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b="1"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50000"/>
              </a:lnSpc>
              <a:spcBef>
                <a:spcPts val="0"/>
              </a:spcBef>
              <a:spcAft>
                <a:spcPts val="0"/>
              </a:spcAft>
              <a:buClr>
                <a:schemeClr val="dk1"/>
              </a:buClr>
              <a:buSzPts val="1800"/>
              <a:buFont typeface="Fira Sans"/>
              <a:buAutoNum type="arabicPeriod"/>
              <a:defRPr sz="2000">
                <a:solidFill>
                  <a:schemeClr val="dk1"/>
                </a:solidFill>
                <a:latin typeface="Fira Sans"/>
                <a:ea typeface="Fira Sans"/>
                <a:cs typeface="Fira Sans"/>
                <a:sym typeface="Fira Sans"/>
              </a:defRPr>
            </a:lvl1pPr>
            <a:lvl2pPr indent="-317500" lvl="1" marL="9144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2pPr>
            <a:lvl3pPr indent="-317500" lvl="2" marL="1371600" algn="l">
              <a:lnSpc>
                <a:spcPct val="115000"/>
              </a:lnSpc>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3pPr>
            <a:lvl4pPr indent="-317500" lvl="3" marL="1828800" algn="l">
              <a:lnSpc>
                <a:spcPct val="115000"/>
              </a:lnSpc>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4pPr>
            <a:lvl5pPr indent="-317500" lvl="4" marL="22860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5pPr>
            <a:lvl6pPr indent="-317500" lvl="5" marL="2743200" algn="l">
              <a:lnSpc>
                <a:spcPct val="115000"/>
              </a:lnSpc>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6pPr>
            <a:lvl7pPr indent="-317500" lvl="6" marL="3200400" algn="l">
              <a:lnSpc>
                <a:spcPct val="115000"/>
              </a:lnSpc>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7pPr>
            <a:lvl8pPr indent="-317500" lvl="7" marL="3657600" algn="l">
              <a:lnSpc>
                <a:spcPct val="115000"/>
              </a:lnSpc>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8pPr>
            <a:lvl9pPr indent="-317500" lvl="8" marL="4114800" algn="l">
              <a:lnSpc>
                <a:spcPct val="115000"/>
              </a:lnSpc>
              <a:spcBef>
                <a:spcPts val="1600"/>
              </a:spcBef>
              <a:spcAft>
                <a:spcPts val="1600"/>
              </a:spcAft>
              <a:buClr>
                <a:schemeClr val="dk1"/>
              </a:buClr>
              <a:buSzPts val="1400"/>
              <a:buFont typeface="Fira Sans"/>
              <a:buAutoNum type="romanLcPeriod"/>
              <a:defRPr>
                <a:solidFill>
                  <a:schemeClr val="dk1"/>
                </a:solidFill>
                <a:latin typeface="Fira Sans"/>
                <a:ea typeface="Fira Sans"/>
                <a:cs typeface="Fira Sans"/>
                <a:sym typeface="Fira Sans"/>
              </a:defRPr>
            </a:lvl9pPr>
          </a:lstStyle>
          <a:p/>
        </p:txBody>
      </p:sp>
      <p:sp>
        <p:nvSpPr>
          <p:cNvPr id="208" name="Google Shape;208;p49"/>
          <p:cNvSpPr txBox="1"/>
          <p:nvPr>
            <p:ph idx="12" type="sldNum"/>
          </p:nvPr>
        </p:nvSpPr>
        <p:spPr>
          <a:xfrm>
            <a:off x="8595300" y="9"/>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22" Type="http://schemas.openxmlformats.org/officeDocument/2006/relationships/slideLayout" Target="../slideLayouts/slideLayout45.xml"/><Relationship Id="rId21" Type="http://schemas.openxmlformats.org/officeDocument/2006/relationships/slideLayout" Target="../slideLayouts/slideLayout44.xml"/><Relationship Id="rId24" Type="http://schemas.openxmlformats.org/officeDocument/2006/relationships/slideLayout" Target="../slideLayouts/slideLayout47.xml"/><Relationship Id="rId23" Type="http://schemas.openxmlformats.org/officeDocument/2006/relationships/slideLayout" Target="../slideLayouts/slideLayout46.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25" Type="http://schemas.openxmlformats.org/officeDocument/2006/relationships/theme" Target="../theme/theme1.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19" Type="http://schemas.openxmlformats.org/officeDocument/2006/relationships/slideLayout" Target="../slideLayouts/slideLayout42.xml"/><Relationship Id="rId1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3896D2"/>
              </a:buClr>
              <a:buSzPts val="2800"/>
              <a:buFont typeface="Fira Sans"/>
              <a:buNone/>
              <a:defRPr b="0" i="0" sz="2800" u="none" cap="none" strike="noStrike">
                <a:solidFill>
                  <a:srgbClr val="3896D2"/>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2pPr>
            <a:lvl3pPr lvl="2"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3pPr>
            <a:lvl4pPr lvl="3"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4pPr>
            <a:lvl5pPr lvl="4"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5pPr>
            <a:lvl6pPr lvl="5"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6pPr>
            <a:lvl7pPr lvl="6"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7pPr>
            <a:lvl8pPr lvl="7"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8pPr>
            <a:lvl9pPr lvl="8"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FFFFF"/>
              </a:buClr>
              <a:buSzPts val="1800"/>
              <a:buFont typeface="Fira Sans"/>
              <a:buChar char="●"/>
              <a:defRPr b="0" i="0" sz="1800" u="none" cap="none" strike="noStrike">
                <a:solidFill>
                  <a:srgbClr val="FFFFFF"/>
                </a:solidFill>
                <a:latin typeface="Fira Sans"/>
                <a:ea typeface="Fira Sans"/>
                <a:cs typeface="Fira Sans"/>
                <a:sym typeface="Fira Sans"/>
              </a:defRPr>
            </a:lvl1pPr>
            <a:lvl2pPr indent="-317500" lvl="1" marL="9144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2pPr>
            <a:lvl3pPr indent="-317500" lvl="2" marL="13716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3pPr>
            <a:lvl4pPr indent="-317500" lvl="3" marL="18288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4pPr>
            <a:lvl5pPr indent="-317500" lvl="4" marL="22860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5pPr>
            <a:lvl6pPr indent="-317500" lvl="5" marL="27432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6pPr>
            <a:lvl7pPr indent="-317500" lvl="6" marL="32004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7pPr>
            <a:lvl8pPr indent="-317500" lvl="7" marL="36576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8pPr>
            <a:lvl9pPr indent="-317500" lvl="8" marL="4114800" marR="0" rtl="0" algn="l">
              <a:lnSpc>
                <a:spcPct val="115000"/>
              </a:lnSpc>
              <a:spcBef>
                <a:spcPts val="1600"/>
              </a:spcBef>
              <a:spcAft>
                <a:spcPts val="160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7751266" y="4703631"/>
            <a:ext cx="1392738" cy="393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105" name="Shape 105"/>
        <p:cNvGrpSpPr/>
        <p:nvPr/>
      </p:nvGrpSpPr>
      <p:grpSpPr>
        <a:xfrm>
          <a:off x="0" y="0"/>
          <a:ext cx="0" cy="0"/>
          <a:chOff x="0" y="0"/>
          <a:chExt cx="0" cy="0"/>
        </a:xfrm>
      </p:grpSpPr>
      <p:sp>
        <p:nvSpPr>
          <p:cNvPr id="106" name="Google Shape;10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3896D2"/>
              </a:buClr>
              <a:buSzPts val="2800"/>
              <a:buFont typeface="Fira Sans"/>
              <a:buNone/>
              <a:defRPr b="0" i="0" sz="2800" u="none" cap="none" strike="noStrike">
                <a:solidFill>
                  <a:srgbClr val="3896D2"/>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2pPr>
            <a:lvl3pPr lvl="2"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3pPr>
            <a:lvl4pPr lvl="3"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4pPr>
            <a:lvl5pPr lvl="4"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5pPr>
            <a:lvl6pPr lvl="5"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6pPr>
            <a:lvl7pPr lvl="6"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7pPr>
            <a:lvl8pPr lvl="7"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8pPr>
            <a:lvl9pPr lvl="8" marR="0" rtl="0" algn="l">
              <a:lnSpc>
                <a:spcPct val="100000"/>
              </a:lnSpc>
              <a:spcBef>
                <a:spcPts val="0"/>
              </a:spcBef>
              <a:spcAft>
                <a:spcPts val="0"/>
              </a:spcAft>
              <a:buClr>
                <a:schemeClr val="dk1"/>
              </a:buClr>
              <a:buSzPts val="2800"/>
              <a:buFont typeface="Fira Sans"/>
              <a:buNone/>
              <a:defRPr b="0" i="0" sz="2800" u="none" cap="none" strike="noStrike">
                <a:solidFill>
                  <a:schemeClr val="dk1"/>
                </a:solidFill>
                <a:latin typeface="Fira Sans"/>
                <a:ea typeface="Fira Sans"/>
                <a:cs typeface="Fira Sans"/>
                <a:sym typeface="Fira Sans"/>
              </a:defRPr>
            </a:lvl9pPr>
          </a:lstStyle>
          <a:p/>
        </p:txBody>
      </p:sp>
      <p:sp>
        <p:nvSpPr>
          <p:cNvPr id="107" name="Google Shape;10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FFFFF"/>
              </a:buClr>
              <a:buSzPts val="1800"/>
              <a:buFont typeface="Fira Sans"/>
              <a:buChar char="●"/>
              <a:defRPr b="0" i="0" sz="1800" u="none" cap="none" strike="noStrike">
                <a:solidFill>
                  <a:srgbClr val="FFFFFF"/>
                </a:solidFill>
                <a:latin typeface="Fira Sans"/>
                <a:ea typeface="Fira Sans"/>
                <a:cs typeface="Fira Sans"/>
                <a:sym typeface="Fira Sans"/>
              </a:defRPr>
            </a:lvl1pPr>
            <a:lvl2pPr indent="-317500" lvl="1" marL="9144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2pPr>
            <a:lvl3pPr indent="-317500" lvl="2" marL="13716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3pPr>
            <a:lvl4pPr indent="-317500" lvl="3" marL="18288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4pPr>
            <a:lvl5pPr indent="-317500" lvl="4" marL="22860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5pPr>
            <a:lvl6pPr indent="-317500" lvl="5" marL="27432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6pPr>
            <a:lvl7pPr indent="-317500" lvl="6" marL="32004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7pPr>
            <a:lvl8pPr indent="-317500" lvl="7" marL="3657600" marR="0" rtl="0" algn="l">
              <a:lnSpc>
                <a:spcPct val="115000"/>
              </a:lnSpc>
              <a:spcBef>
                <a:spcPts val="1600"/>
              </a:spcBef>
              <a:spcAft>
                <a:spcPts val="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8pPr>
            <a:lvl9pPr indent="-317500" lvl="8" marL="4114800" marR="0" rtl="0" algn="l">
              <a:lnSpc>
                <a:spcPct val="115000"/>
              </a:lnSpc>
              <a:spcBef>
                <a:spcPts val="1600"/>
              </a:spcBef>
              <a:spcAft>
                <a:spcPts val="1600"/>
              </a:spcAft>
              <a:buClr>
                <a:srgbClr val="FFFFFF"/>
              </a:buClr>
              <a:buSzPts val="1400"/>
              <a:buFont typeface="Fira Sans"/>
              <a:buChar char="■"/>
              <a:defRPr b="0" i="0" sz="1400" u="none" cap="none" strike="noStrike">
                <a:solidFill>
                  <a:srgbClr val="FFFFFF"/>
                </a:solidFill>
                <a:latin typeface="Fira Sans"/>
                <a:ea typeface="Fira Sans"/>
                <a:cs typeface="Fira Sans"/>
                <a:sym typeface="Fira Sans"/>
              </a:defRPr>
            </a:lvl9pPr>
          </a:lstStyle>
          <a:p/>
        </p:txBody>
      </p:sp>
      <p:sp>
        <p:nvSpPr>
          <p:cNvPr id="108" name="Google Shape;108;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Relationship Id="rId3" Type="http://schemas.openxmlformats.org/officeDocument/2006/relationships/image" Target="../media/image2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Relationship Id="rId3"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3.xml"/><Relationship Id="rId3" Type="http://schemas.openxmlformats.org/officeDocument/2006/relationships/image" Target="../media/image1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6.xml"/><Relationship Id="rId3" Type="http://schemas.openxmlformats.org/officeDocument/2006/relationships/image" Target="../media/image2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 Id="rId3"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2.xml"/><Relationship Id="rId3" Type="http://schemas.openxmlformats.org/officeDocument/2006/relationships/image" Target="../media/image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Relationship Id="rId3" Type="http://schemas.openxmlformats.org/officeDocument/2006/relationships/image" Target="../media/image2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9.xml"/><Relationship Id="rId3" Type="http://schemas.openxmlformats.org/officeDocument/2006/relationships/image" Target="../media/image22.png"/><Relationship Id="rId4" Type="http://schemas.openxmlformats.org/officeDocument/2006/relationships/image" Target="../media/image3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0.xml"/><Relationship Id="rId3" Type="http://schemas.openxmlformats.org/officeDocument/2006/relationships/image" Target="../media/image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 Id="rId3" Type="http://schemas.openxmlformats.org/officeDocument/2006/relationships/image" Target="../media/image33.png"/><Relationship Id="rId4" Type="http://schemas.openxmlformats.org/officeDocument/2006/relationships/image" Target="../media/image3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 Id="rId3"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 Id="rId3" Type="http://schemas.openxmlformats.org/officeDocument/2006/relationships/image" Target="../media/image3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8.xml"/><Relationship Id="rId3" Type="http://schemas.openxmlformats.org/officeDocument/2006/relationships/image" Target="../media/image2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0.xml"/><Relationship Id="rId3" Type="http://schemas.openxmlformats.org/officeDocument/2006/relationships/image" Target="../media/image3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0.xml"/><Relationship Id="rId3" Type="http://schemas.openxmlformats.org/officeDocument/2006/relationships/image" Target="../media/image4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1.xml"/><Relationship Id="rId3" Type="http://schemas.openxmlformats.org/officeDocument/2006/relationships/image" Target="../media/image4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2.xml"/><Relationship Id="rId3" Type="http://schemas.openxmlformats.org/officeDocument/2006/relationships/image" Target="../media/image4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3.xml"/><Relationship Id="rId3" Type="http://schemas.openxmlformats.org/officeDocument/2006/relationships/image" Target="../media/image6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4.xml"/><Relationship Id="rId3" Type="http://schemas.openxmlformats.org/officeDocument/2006/relationships/image" Target="../media/image4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5.xml"/><Relationship Id="rId3" Type="http://schemas.openxmlformats.org/officeDocument/2006/relationships/image" Target="../media/image4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6.xml"/><Relationship Id="rId3" Type="http://schemas.openxmlformats.org/officeDocument/2006/relationships/image" Target="../media/image4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7.xml"/><Relationship Id="rId3" Type="http://schemas.openxmlformats.org/officeDocument/2006/relationships/image" Target="../media/image4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8.xml"/><Relationship Id="rId3" Type="http://schemas.openxmlformats.org/officeDocument/2006/relationships/image" Target="../media/image4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9.xml"/><Relationship Id="rId3" Type="http://schemas.openxmlformats.org/officeDocument/2006/relationships/image" Target="../media/image4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0.xml"/><Relationship Id="rId3" Type="http://schemas.openxmlformats.org/officeDocument/2006/relationships/image" Target="../media/image46.png"/><Relationship Id="rId4" Type="http://schemas.openxmlformats.org/officeDocument/2006/relationships/image" Target="../media/image57.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1.xml"/><Relationship Id="rId3" Type="http://schemas.openxmlformats.org/officeDocument/2006/relationships/image" Target="../media/image46.png"/><Relationship Id="rId4" Type="http://schemas.openxmlformats.org/officeDocument/2006/relationships/image" Target="../media/image57.png"/><Relationship Id="rId5" Type="http://schemas.openxmlformats.org/officeDocument/2006/relationships/image" Target="../media/image62.png"/><Relationship Id="rId6" Type="http://schemas.openxmlformats.org/officeDocument/2006/relationships/image" Target="../media/image4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2.xml"/><Relationship Id="rId3" Type="http://schemas.openxmlformats.org/officeDocument/2006/relationships/image" Target="../media/image46.png"/><Relationship Id="rId4" Type="http://schemas.openxmlformats.org/officeDocument/2006/relationships/image" Target="../media/image57.png"/><Relationship Id="rId5" Type="http://schemas.openxmlformats.org/officeDocument/2006/relationships/image" Target="../media/image62.png"/><Relationship Id="rId6" Type="http://schemas.openxmlformats.org/officeDocument/2006/relationships/image" Target="../media/image44.png"/><Relationship Id="rId7" Type="http://schemas.openxmlformats.org/officeDocument/2006/relationships/image" Target="../media/image4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3.xml"/><Relationship Id="rId3" Type="http://schemas.openxmlformats.org/officeDocument/2006/relationships/image" Target="../media/image46.png"/><Relationship Id="rId4" Type="http://schemas.openxmlformats.org/officeDocument/2006/relationships/image" Target="../media/image48.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5.xml"/><Relationship Id="rId3" Type="http://schemas.openxmlformats.org/officeDocument/2006/relationships/image" Target="../media/image5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8.xml"/><Relationship Id="rId3" Type="http://schemas.openxmlformats.org/officeDocument/2006/relationships/image" Target="../media/image1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9.xml"/><Relationship Id="rId3" Type="http://schemas.openxmlformats.org/officeDocument/2006/relationships/image" Target="../media/image2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2.xml"/><Relationship Id="rId3" Type="http://schemas.openxmlformats.org/officeDocument/2006/relationships/image" Target="../media/image49.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4.xml"/><Relationship Id="rId3" Type="http://schemas.openxmlformats.org/officeDocument/2006/relationships/image" Target="../media/image5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7.xml"/><Relationship Id="rId3" Type="http://schemas.openxmlformats.org/officeDocument/2006/relationships/image" Target="../media/image58.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8.xml"/><Relationship Id="rId3" Type="http://schemas.openxmlformats.org/officeDocument/2006/relationships/image" Target="../media/image6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9.xml"/><Relationship Id="rId3" Type="http://schemas.openxmlformats.org/officeDocument/2006/relationships/image" Target="../media/image63.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0.xml"/><Relationship Id="rId3" Type="http://schemas.openxmlformats.org/officeDocument/2006/relationships/image" Target="../media/image64.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1.xml"/><Relationship Id="rId3" Type="http://schemas.openxmlformats.org/officeDocument/2006/relationships/image" Target="../media/image53.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0.xml"/><Relationship Id="rId3" Type="http://schemas.openxmlformats.org/officeDocument/2006/relationships/image" Target="../media/image54.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2.xml"/><Relationship Id="rId3" Type="http://schemas.openxmlformats.org/officeDocument/2006/relationships/image" Target="../media/image59.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5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0"/>
          <p:cNvSpPr txBox="1"/>
          <p:nvPr>
            <p:ph type="title"/>
          </p:nvPr>
        </p:nvSpPr>
        <p:spPr>
          <a:xfrm>
            <a:off x="455100" y="1108385"/>
            <a:ext cx="82338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000">
                <a:solidFill>
                  <a:srgbClr val="00B0F0"/>
                </a:solidFill>
              </a:rPr>
              <a:t>Introduction to Probability</a:t>
            </a:r>
            <a:endParaRPr b="1" sz="4000">
              <a:solidFill>
                <a:srgbClr val="00B0F0"/>
              </a:solidFill>
              <a:latin typeface="Fira Sans"/>
              <a:ea typeface="Fira Sans"/>
              <a:cs typeface="Fira Sans"/>
              <a:sym typeface="Fira Sans"/>
            </a:endParaRPr>
          </a:p>
          <a:p>
            <a:pPr indent="0" lvl="0" marL="0" rtl="0" algn="ctr">
              <a:lnSpc>
                <a:spcPct val="100000"/>
              </a:lnSpc>
              <a:spcBef>
                <a:spcPts val="0"/>
              </a:spcBef>
              <a:spcAft>
                <a:spcPts val="0"/>
              </a:spcAft>
              <a:buSzPts val="2800"/>
              <a:buNone/>
            </a:pPr>
            <a:br>
              <a:rPr b="1" lang="en" sz="3000"/>
            </a:br>
            <a:br>
              <a:rPr b="1" lang="en" sz="3000"/>
            </a:br>
            <a:r>
              <a:rPr b="1" lang="en" sz="3000">
                <a:solidFill>
                  <a:schemeClr val="lt1"/>
                </a:solidFill>
              </a:rPr>
              <a:t>Instructor: Jason Clague</a:t>
            </a:r>
            <a:endParaRPr b="1" sz="3000">
              <a:solidFill>
                <a:schemeClr val="lt1"/>
              </a:solidFill>
            </a:endParaRPr>
          </a:p>
        </p:txBody>
      </p:sp>
      <p:sp>
        <p:nvSpPr>
          <p:cNvPr id="214" name="Google Shape;214;p50"/>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51"/>
          <p:cNvSpPr/>
          <p:nvPr/>
        </p:nvSpPr>
        <p:spPr>
          <a:xfrm>
            <a:off x="533400" y="473720"/>
            <a:ext cx="6743700" cy="5539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00B0F0"/>
                </a:solidFill>
                <a:latin typeface="Fira Sans"/>
                <a:ea typeface="Fira Sans"/>
                <a:cs typeface="Fira Sans"/>
                <a:sym typeface="Fira Sans"/>
              </a:rPr>
              <a:t>Introduction – </a:t>
            </a:r>
            <a:r>
              <a:rPr b="1" lang="en" sz="3000">
                <a:solidFill>
                  <a:srgbClr val="00B0F0"/>
                </a:solidFill>
                <a:latin typeface="Fira Sans"/>
                <a:ea typeface="Fira Sans"/>
                <a:cs typeface="Fira Sans"/>
                <a:sym typeface="Fira Sans"/>
              </a:rPr>
              <a:t>Jason Clague</a:t>
            </a:r>
            <a:endParaRPr b="0" i="0" sz="3000" u="none" cap="none" strike="noStrike">
              <a:solidFill>
                <a:srgbClr val="00B0F0"/>
              </a:solidFill>
              <a:latin typeface="Fira Sans"/>
              <a:ea typeface="Fira Sans"/>
              <a:cs typeface="Fira Sans"/>
              <a:sym typeface="Fira Sans"/>
            </a:endParaRPr>
          </a:p>
        </p:txBody>
      </p:sp>
      <p:sp>
        <p:nvSpPr>
          <p:cNvPr id="220" name="Google Shape;220;p51"/>
          <p:cNvSpPr txBox="1"/>
          <p:nvPr/>
        </p:nvSpPr>
        <p:spPr>
          <a:xfrm>
            <a:off x="689425" y="1409688"/>
            <a:ext cx="73905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 sz="2000">
                <a:solidFill>
                  <a:schemeClr val="lt1"/>
                </a:solidFill>
                <a:latin typeface="Fira Sans"/>
                <a:ea typeface="Fira Sans"/>
                <a:cs typeface="Fira Sans"/>
                <a:sym typeface="Fira Sans"/>
              </a:rPr>
              <a:t>Senior Data Scientist - DoorDash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 sz="2000">
                <a:solidFill>
                  <a:schemeClr val="lt1"/>
                </a:solidFill>
                <a:latin typeface="Fira Sans"/>
                <a:ea typeface="Fira Sans"/>
                <a:cs typeface="Fira Sans"/>
                <a:sym typeface="Fira Sans"/>
              </a:rPr>
              <a:t>PhD</a:t>
            </a:r>
            <a:r>
              <a:rPr b="1" i="0" lang="en" sz="2000" u="none" cap="none" strike="noStrike">
                <a:solidFill>
                  <a:schemeClr val="lt1"/>
                </a:solidFill>
                <a:latin typeface="Fira Sans"/>
                <a:ea typeface="Fira Sans"/>
                <a:cs typeface="Fira Sans"/>
                <a:sym typeface="Fira Sans"/>
              </a:rPr>
              <a:t> – </a:t>
            </a:r>
            <a:r>
              <a:rPr b="1" lang="en" sz="2000">
                <a:solidFill>
                  <a:schemeClr val="lt1"/>
                </a:solidFill>
                <a:latin typeface="Fira Sans"/>
                <a:ea typeface="Fira Sans"/>
                <a:cs typeface="Fira Sans"/>
                <a:sym typeface="Fira Sans"/>
              </a:rPr>
              <a:t>UCLA (Biostatistics)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Fira Sans"/>
                <a:ea typeface="Fira Sans"/>
                <a:cs typeface="Fira Sans"/>
                <a:sym typeface="Fira Sans"/>
              </a:rPr>
              <a:t>BA – </a:t>
            </a:r>
            <a:r>
              <a:rPr b="1" lang="en" sz="2000">
                <a:solidFill>
                  <a:schemeClr val="lt1"/>
                </a:solidFill>
                <a:latin typeface="Fira Sans"/>
                <a:ea typeface="Fira Sans"/>
                <a:cs typeface="Fira Sans"/>
                <a:sym typeface="Fira Sans"/>
              </a:rPr>
              <a:t>NYU (Mathematics)</a:t>
            </a:r>
            <a:r>
              <a:rPr b="1" i="0" lang="en" sz="2000" u="none" cap="none" strike="noStrike">
                <a:solidFill>
                  <a:schemeClr val="lt1"/>
                </a:solidFill>
                <a:latin typeface="Fira Sans"/>
                <a:ea typeface="Fira Sans"/>
                <a:cs typeface="Fira Sans"/>
                <a:sym typeface="Fira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latin typeface="Fira Sans"/>
                <a:ea typeface="Fira Sans"/>
                <a:cs typeface="Fira Sans"/>
                <a:sym typeface="Fira Sans"/>
              </a:rPr>
              <a:t>Welcome to today’s class, before we begin, </a:t>
            </a:r>
            <a:endParaRPr b="1">
              <a:latin typeface="Fira Sans"/>
              <a:ea typeface="Fira Sans"/>
              <a:cs typeface="Fira Sans"/>
              <a:sym typeface="Fira Sans"/>
            </a:endParaRPr>
          </a:p>
          <a:p>
            <a:pPr indent="0" lvl="0" marL="0" rtl="0" algn="l">
              <a:lnSpc>
                <a:spcPct val="100000"/>
              </a:lnSpc>
              <a:spcBef>
                <a:spcPts val="0"/>
              </a:spcBef>
              <a:spcAft>
                <a:spcPts val="0"/>
              </a:spcAft>
              <a:buSzPts val="2800"/>
              <a:buNone/>
            </a:pPr>
            <a:r>
              <a:rPr b="1" lang="en">
                <a:latin typeface="Fira Sans"/>
                <a:ea typeface="Fira Sans"/>
                <a:cs typeface="Fira Sans"/>
                <a:sym typeface="Fira Sans"/>
              </a:rPr>
              <a:t>pop into the chat:</a:t>
            </a:r>
            <a:endParaRPr b="1">
              <a:latin typeface="Fira Sans"/>
              <a:ea typeface="Fira Sans"/>
              <a:cs typeface="Fira Sans"/>
              <a:sym typeface="Fira Sans"/>
            </a:endParaRPr>
          </a:p>
        </p:txBody>
      </p:sp>
      <p:sp>
        <p:nvSpPr>
          <p:cNvPr id="226" name="Google Shape;226;p52"/>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fld id="{00000000-1234-1234-1234-123412341234}" type="slidenum">
              <a:rPr lang="en"/>
              <a:t>‹#›</a:t>
            </a:fld>
            <a:endParaRPr/>
          </a:p>
        </p:txBody>
      </p:sp>
      <p:sp>
        <p:nvSpPr>
          <p:cNvPr id="227" name="Google Shape;227;p52"/>
          <p:cNvSpPr txBox="1"/>
          <p:nvPr>
            <p:ph idx="1" type="body"/>
          </p:nvPr>
        </p:nvSpPr>
        <p:spPr>
          <a:xfrm>
            <a:off x="1123900" y="1993825"/>
            <a:ext cx="15513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2000">
                <a:solidFill>
                  <a:schemeClr val="lt1"/>
                </a:solidFill>
              </a:rPr>
              <a:t>Your Name</a:t>
            </a:r>
            <a:endParaRPr b="1" sz="2000"/>
          </a:p>
        </p:txBody>
      </p:sp>
      <p:grpSp>
        <p:nvGrpSpPr>
          <p:cNvPr id="228" name="Google Shape;228;p52"/>
          <p:cNvGrpSpPr/>
          <p:nvPr/>
        </p:nvGrpSpPr>
        <p:grpSpPr>
          <a:xfrm>
            <a:off x="2808225" y="1897675"/>
            <a:ext cx="1427268" cy="1426368"/>
            <a:chOff x="3145150" y="1332175"/>
            <a:chExt cx="1427268" cy="1426368"/>
          </a:xfrm>
        </p:grpSpPr>
        <p:sp>
          <p:nvSpPr>
            <p:cNvPr id="229" name="Google Shape;229;p52"/>
            <p:cNvSpPr/>
            <p:nvPr/>
          </p:nvSpPr>
          <p:spPr>
            <a:xfrm>
              <a:off x="3145150" y="1332175"/>
              <a:ext cx="765000" cy="765000"/>
            </a:xfrm>
            <a:prstGeom prst="ellipse">
              <a:avLst/>
            </a:prstGeom>
            <a:solidFill>
              <a:srgbClr val="FBB831"/>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230" name="Google Shape;230;p52"/>
            <p:cNvCxnSpPr>
              <a:endCxn id="229" idx="5"/>
            </p:cNvCxnSpPr>
            <p:nvPr/>
          </p:nvCxnSpPr>
          <p:spPr>
            <a:xfrm rot="10800000">
              <a:off x="3798118" y="1985143"/>
              <a:ext cx="774300" cy="773400"/>
            </a:xfrm>
            <a:prstGeom prst="straightConnector1">
              <a:avLst/>
            </a:prstGeom>
            <a:noFill/>
            <a:ln cap="flat" cmpd="sng" w="19050">
              <a:solidFill>
                <a:srgbClr val="FBB831"/>
              </a:solidFill>
              <a:prstDash val="solid"/>
              <a:round/>
              <a:headEnd len="sm" w="sm" type="none"/>
              <a:tailEnd len="sm" w="sm" type="none"/>
            </a:ln>
          </p:spPr>
        </p:cxnSp>
      </p:grpSp>
      <p:grpSp>
        <p:nvGrpSpPr>
          <p:cNvPr id="231" name="Google Shape;231;p52"/>
          <p:cNvGrpSpPr/>
          <p:nvPr/>
        </p:nvGrpSpPr>
        <p:grpSpPr>
          <a:xfrm>
            <a:off x="4235407" y="1897675"/>
            <a:ext cx="1424868" cy="1428768"/>
            <a:chOff x="4572332" y="1332175"/>
            <a:chExt cx="1424868" cy="1428768"/>
          </a:xfrm>
        </p:grpSpPr>
        <p:sp>
          <p:nvSpPr>
            <p:cNvPr id="232" name="Google Shape;232;p52"/>
            <p:cNvSpPr/>
            <p:nvPr/>
          </p:nvSpPr>
          <p:spPr>
            <a:xfrm>
              <a:off x="5232200" y="1332175"/>
              <a:ext cx="765000" cy="765000"/>
            </a:xfrm>
            <a:prstGeom prst="ellipse">
              <a:avLst/>
            </a:prstGeom>
            <a:solidFill>
              <a:srgbClr val="FB8569"/>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233" name="Google Shape;233;p52"/>
            <p:cNvCxnSpPr>
              <a:endCxn id="232" idx="3"/>
            </p:cNvCxnSpPr>
            <p:nvPr/>
          </p:nvCxnSpPr>
          <p:spPr>
            <a:xfrm flipH="1" rot="10800000">
              <a:off x="4572332" y="1985143"/>
              <a:ext cx="771900" cy="775800"/>
            </a:xfrm>
            <a:prstGeom prst="straightConnector1">
              <a:avLst/>
            </a:prstGeom>
            <a:noFill/>
            <a:ln cap="flat" cmpd="sng" w="19050">
              <a:solidFill>
                <a:srgbClr val="FB8569"/>
              </a:solidFill>
              <a:prstDash val="solid"/>
              <a:round/>
              <a:headEnd len="sm" w="sm" type="none"/>
              <a:tailEnd len="sm" w="sm" type="none"/>
            </a:ln>
          </p:spPr>
        </p:cxnSp>
      </p:grpSp>
      <p:grpSp>
        <p:nvGrpSpPr>
          <p:cNvPr id="234" name="Google Shape;234;p52"/>
          <p:cNvGrpSpPr/>
          <p:nvPr/>
        </p:nvGrpSpPr>
        <p:grpSpPr>
          <a:xfrm>
            <a:off x="2808225" y="3169032"/>
            <a:ext cx="1429668" cy="1428768"/>
            <a:chOff x="3145150" y="2755932"/>
            <a:chExt cx="1429668" cy="1428768"/>
          </a:xfrm>
        </p:grpSpPr>
        <p:sp>
          <p:nvSpPr>
            <p:cNvPr id="235" name="Google Shape;235;p52"/>
            <p:cNvSpPr/>
            <p:nvPr/>
          </p:nvSpPr>
          <p:spPr>
            <a:xfrm>
              <a:off x="3145150" y="3419700"/>
              <a:ext cx="765000" cy="765000"/>
            </a:xfrm>
            <a:prstGeom prst="ellipse">
              <a:avLst/>
            </a:prstGeom>
            <a:solidFill>
              <a:srgbClr val="E850E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2500" u="none" cap="none" strike="noStrike">
                  <a:solidFill>
                    <a:schemeClr val="lt1"/>
                  </a:solidFill>
                  <a:latin typeface="Fira Sans Extra Condensed Medium"/>
                  <a:ea typeface="Fira Sans Extra Condensed Medium"/>
                  <a:cs typeface="Fira Sans Extra Condensed Medium"/>
                  <a:sym typeface="Fira Sans Extra Condensed Medium"/>
                </a:rPr>
                <a:t>🏠</a:t>
              </a:r>
              <a:endParaRPr b="0" i="0" sz="32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236" name="Google Shape;236;p52"/>
            <p:cNvCxnSpPr>
              <a:endCxn id="235" idx="7"/>
            </p:cNvCxnSpPr>
            <p:nvPr/>
          </p:nvCxnSpPr>
          <p:spPr>
            <a:xfrm flipH="1">
              <a:off x="3798118" y="2755932"/>
              <a:ext cx="776700" cy="775800"/>
            </a:xfrm>
            <a:prstGeom prst="straightConnector1">
              <a:avLst/>
            </a:prstGeom>
            <a:noFill/>
            <a:ln cap="flat" cmpd="sng" w="19050">
              <a:solidFill>
                <a:srgbClr val="E850E0"/>
              </a:solidFill>
              <a:prstDash val="solid"/>
              <a:round/>
              <a:headEnd len="sm" w="sm" type="none"/>
              <a:tailEnd len="sm" w="sm" type="none"/>
            </a:ln>
          </p:spPr>
        </p:cxnSp>
      </p:grpSp>
      <p:grpSp>
        <p:nvGrpSpPr>
          <p:cNvPr id="237" name="Google Shape;237;p52"/>
          <p:cNvGrpSpPr/>
          <p:nvPr/>
        </p:nvGrpSpPr>
        <p:grpSpPr>
          <a:xfrm>
            <a:off x="4237807" y="3174132"/>
            <a:ext cx="1422468" cy="1423668"/>
            <a:chOff x="4574732" y="2761032"/>
            <a:chExt cx="1422468" cy="1423668"/>
          </a:xfrm>
        </p:grpSpPr>
        <p:sp>
          <p:nvSpPr>
            <p:cNvPr id="238" name="Google Shape;238;p52"/>
            <p:cNvSpPr/>
            <p:nvPr/>
          </p:nvSpPr>
          <p:spPr>
            <a:xfrm>
              <a:off x="5232200" y="3419700"/>
              <a:ext cx="765000" cy="765000"/>
            </a:xfrm>
            <a:prstGeom prst="ellipse">
              <a:avLst/>
            </a:prstGeom>
            <a:solidFill>
              <a:srgbClr val="FB569C"/>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25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2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239" name="Google Shape;239;p52"/>
            <p:cNvCxnSpPr>
              <a:endCxn id="238" idx="1"/>
            </p:cNvCxnSpPr>
            <p:nvPr/>
          </p:nvCxnSpPr>
          <p:spPr>
            <a:xfrm>
              <a:off x="4574732" y="2761032"/>
              <a:ext cx="769500" cy="770700"/>
            </a:xfrm>
            <a:prstGeom prst="straightConnector1">
              <a:avLst/>
            </a:prstGeom>
            <a:noFill/>
            <a:ln cap="flat" cmpd="sng" w="19050">
              <a:solidFill>
                <a:srgbClr val="FB569C"/>
              </a:solidFill>
              <a:prstDash val="solid"/>
              <a:round/>
              <a:headEnd len="sm" w="sm" type="none"/>
              <a:tailEnd len="sm" w="sm" type="none"/>
            </a:ln>
          </p:spPr>
        </p:cxnSp>
      </p:grpSp>
      <p:grpSp>
        <p:nvGrpSpPr>
          <p:cNvPr id="240" name="Google Shape;240;p52"/>
          <p:cNvGrpSpPr/>
          <p:nvPr/>
        </p:nvGrpSpPr>
        <p:grpSpPr>
          <a:xfrm>
            <a:off x="3648650" y="2662138"/>
            <a:ext cx="1171200" cy="1171200"/>
            <a:chOff x="5587975" y="1952850"/>
            <a:chExt cx="1171200" cy="1171200"/>
          </a:xfrm>
        </p:grpSpPr>
        <p:sp>
          <p:nvSpPr>
            <p:cNvPr id="241" name="Google Shape;241;p52"/>
            <p:cNvSpPr/>
            <p:nvPr/>
          </p:nvSpPr>
          <p:spPr>
            <a:xfrm>
              <a:off x="5587975" y="1952850"/>
              <a:ext cx="1171200" cy="11712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2"/>
            <p:cNvSpPr/>
            <p:nvPr/>
          </p:nvSpPr>
          <p:spPr>
            <a:xfrm>
              <a:off x="5673875" y="2038750"/>
              <a:ext cx="999300" cy="999300"/>
            </a:xfrm>
            <a:prstGeom prst="ellipse">
              <a:avLst/>
            </a:prstGeom>
            <a:solidFill>
              <a:srgbClr val="EEEEEE"/>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4500" u="none" cap="none" strike="noStrike">
                  <a:solidFill>
                    <a:srgbClr val="000000"/>
                  </a:solidFill>
                  <a:latin typeface="Fira Sans Extra Condensed Medium"/>
                  <a:ea typeface="Fira Sans Extra Condensed Medium"/>
                  <a:cs typeface="Fira Sans Extra Condensed Medium"/>
                  <a:sym typeface="Fira Sans Extra Condensed Medium"/>
                </a:rPr>
                <a:t>👤</a:t>
              </a:r>
              <a:endParaRPr b="0" i="0" sz="4200" u="none" cap="none" strike="noStrike">
                <a:solidFill>
                  <a:srgbClr val="000000"/>
                </a:solidFill>
                <a:latin typeface="Arial"/>
                <a:ea typeface="Arial"/>
                <a:cs typeface="Arial"/>
                <a:sym typeface="Arial"/>
              </a:endParaRPr>
            </a:p>
          </p:txBody>
        </p:sp>
      </p:grpSp>
      <p:sp>
        <p:nvSpPr>
          <p:cNvPr id="243" name="Google Shape;243;p52"/>
          <p:cNvSpPr txBox="1"/>
          <p:nvPr>
            <p:ph idx="1" type="body"/>
          </p:nvPr>
        </p:nvSpPr>
        <p:spPr>
          <a:xfrm>
            <a:off x="5909400" y="1993825"/>
            <a:ext cx="12891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2000">
                <a:solidFill>
                  <a:schemeClr val="lt1"/>
                </a:solidFill>
              </a:rPr>
              <a:t>Role</a:t>
            </a:r>
            <a:endParaRPr b="1" sz="2000"/>
          </a:p>
        </p:txBody>
      </p:sp>
      <p:sp>
        <p:nvSpPr>
          <p:cNvPr id="244" name="Google Shape;244;p52"/>
          <p:cNvSpPr txBox="1"/>
          <p:nvPr>
            <p:ph idx="1" type="body"/>
          </p:nvPr>
        </p:nvSpPr>
        <p:spPr>
          <a:xfrm>
            <a:off x="1123900" y="3928950"/>
            <a:ext cx="14274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2000">
                <a:solidFill>
                  <a:schemeClr val="lt1"/>
                </a:solidFill>
              </a:rPr>
              <a:t>Location</a:t>
            </a:r>
            <a:endParaRPr b="1" sz="2000"/>
          </a:p>
        </p:txBody>
      </p:sp>
      <p:sp>
        <p:nvSpPr>
          <p:cNvPr id="245" name="Google Shape;245;p52"/>
          <p:cNvSpPr txBox="1"/>
          <p:nvPr>
            <p:ph idx="1" type="body"/>
          </p:nvPr>
        </p:nvSpPr>
        <p:spPr>
          <a:xfrm>
            <a:off x="5842000" y="3928950"/>
            <a:ext cx="19317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2000">
                <a:solidFill>
                  <a:schemeClr val="lt1"/>
                </a:solidFill>
              </a:rPr>
              <a:t>Company</a:t>
            </a:r>
            <a:endParaRPr b="1"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000"/>
              <a:t>Optimize Your Experience</a:t>
            </a:r>
            <a:endParaRPr b="1" sz="3000"/>
          </a:p>
        </p:txBody>
      </p:sp>
      <p:pic>
        <p:nvPicPr>
          <p:cNvPr id="251" name="Google Shape;251;p53"/>
          <p:cNvPicPr preferRelativeResize="0"/>
          <p:nvPr/>
        </p:nvPicPr>
        <p:blipFill rotWithShape="1">
          <a:blip r:embed="rId3">
            <a:alphaModFix/>
          </a:blip>
          <a:srcRect b="0" l="0" r="0" t="0"/>
          <a:stretch/>
        </p:blipFill>
        <p:spPr>
          <a:xfrm>
            <a:off x="5881450" y="790838"/>
            <a:ext cx="2263800" cy="2263800"/>
          </a:xfrm>
          <a:prstGeom prst="ellipse">
            <a:avLst/>
          </a:prstGeom>
          <a:noFill/>
          <a:ln>
            <a:noFill/>
          </a:ln>
        </p:spPr>
      </p:pic>
      <p:pic>
        <p:nvPicPr>
          <p:cNvPr id="252" name="Google Shape;252;p53"/>
          <p:cNvPicPr preferRelativeResize="0"/>
          <p:nvPr/>
        </p:nvPicPr>
        <p:blipFill rotWithShape="1">
          <a:blip r:embed="rId4">
            <a:alphaModFix/>
          </a:blip>
          <a:srcRect b="0" l="0" r="0" t="0"/>
          <a:stretch/>
        </p:blipFill>
        <p:spPr>
          <a:xfrm>
            <a:off x="200825" y="2682000"/>
            <a:ext cx="2207700" cy="2207700"/>
          </a:xfrm>
          <a:prstGeom prst="ellipse">
            <a:avLst/>
          </a:prstGeom>
          <a:noFill/>
          <a:ln>
            <a:noFill/>
          </a:ln>
        </p:spPr>
      </p:pic>
      <p:sp>
        <p:nvSpPr>
          <p:cNvPr id="253" name="Google Shape;253;p53"/>
          <p:cNvSpPr txBox="1"/>
          <p:nvPr>
            <p:ph idx="1" type="body"/>
          </p:nvPr>
        </p:nvSpPr>
        <p:spPr>
          <a:xfrm>
            <a:off x="457200" y="1287188"/>
            <a:ext cx="5541600" cy="10086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latin typeface="Fira Sans"/>
                <a:ea typeface="Fira Sans"/>
                <a:cs typeface="Fira Sans"/>
                <a:sym typeface="Fira Sans"/>
              </a:rPr>
              <a:t>Interact with your instructors via Sunday live class.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Don’t be shy to speak up and get clarifications !</a:t>
            </a:r>
            <a:endParaRPr sz="1600">
              <a:solidFill>
                <a:schemeClr val="lt1"/>
              </a:solidFill>
              <a:latin typeface="Fira Sans"/>
              <a:ea typeface="Fira Sans"/>
              <a:cs typeface="Fira Sans"/>
              <a:sym typeface="Fira Sans"/>
            </a:endParaRPr>
          </a:p>
        </p:txBody>
      </p:sp>
      <p:sp>
        <p:nvSpPr>
          <p:cNvPr id="254" name="Google Shape;254;p53"/>
          <p:cNvSpPr txBox="1"/>
          <p:nvPr>
            <p:ph idx="1" type="body"/>
          </p:nvPr>
        </p:nvSpPr>
        <p:spPr>
          <a:xfrm>
            <a:off x="2685300" y="3337950"/>
            <a:ext cx="6147000" cy="15516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Solve your assignments, MCQs and other assessments and get   feedback (Thursday review session)</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Use your resources! It’s your experience – what you put in is what you’ll get out.</a:t>
            </a:r>
            <a:endParaRPr sz="16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graphicFrame>
        <p:nvGraphicFramePr>
          <p:cNvPr id="259" name="Google Shape;259;p54"/>
          <p:cNvGraphicFramePr/>
          <p:nvPr/>
        </p:nvGraphicFramePr>
        <p:xfrm>
          <a:off x="302863" y="704250"/>
          <a:ext cx="3000000" cy="3000000"/>
        </p:xfrm>
        <a:graphic>
          <a:graphicData uri="http://schemas.openxmlformats.org/drawingml/2006/table">
            <a:tbl>
              <a:tblPr>
                <a:noFill/>
                <a:tableStyleId>{CAB50D28-1267-4B51-B4A6-6584F8CA731B}</a:tableStyleId>
              </a:tblPr>
              <a:tblGrid>
                <a:gridCol w="1139850"/>
                <a:gridCol w="2019825"/>
                <a:gridCol w="1792225"/>
                <a:gridCol w="1633975"/>
                <a:gridCol w="2111900"/>
              </a:tblGrid>
              <a:tr h="519500">
                <a:tc>
                  <a:txBody>
                    <a:bodyPr/>
                    <a:lstStyle/>
                    <a:p>
                      <a:pPr indent="0" lvl="0" marL="0" marR="0" rtl="0" algn="ctr">
                        <a:lnSpc>
                          <a:spcPct val="115000"/>
                        </a:lnSpc>
                        <a:spcBef>
                          <a:spcPts val="0"/>
                        </a:spcBef>
                        <a:spcAft>
                          <a:spcPts val="0"/>
                        </a:spcAft>
                        <a:buClr>
                          <a:srgbClr val="000000"/>
                        </a:buClr>
                        <a:buSzPts val="1000"/>
                        <a:buFont typeface="Arial"/>
                        <a:buNone/>
                      </a:pPr>
                      <a:r>
                        <a:t/>
                      </a:r>
                      <a:endParaRPr sz="1400" u="none" cap="none" strike="noStrike">
                        <a:solidFill>
                          <a:schemeClr val="lt1"/>
                        </a:solidFill>
                        <a:latin typeface="Fira Sans"/>
                        <a:ea typeface="Fira Sans"/>
                        <a:cs typeface="Fira Sans"/>
                        <a:sym typeface="Fira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300" u="none" cap="none" strike="noStrike">
                          <a:solidFill>
                            <a:schemeClr val="lt1"/>
                          </a:solidFill>
                          <a:latin typeface="Fira Sans"/>
                          <a:ea typeface="Fira Sans"/>
                          <a:cs typeface="Fira Sans"/>
                          <a:sym typeface="Fira Sans"/>
                        </a:rPr>
                        <a:t>1st Hour (9-10 PT)</a:t>
                      </a:r>
                      <a:endParaRPr b="1" sz="13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896D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300" u="none" cap="none" strike="noStrike">
                          <a:solidFill>
                            <a:schemeClr val="lt1"/>
                          </a:solidFill>
                          <a:latin typeface="Fira Sans"/>
                          <a:ea typeface="Fira Sans"/>
                          <a:cs typeface="Fira Sans"/>
                          <a:sym typeface="Fira Sans"/>
                        </a:rPr>
                        <a:t>2nd Hour (10-11 PT)</a:t>
                      </a:r>
                      <a:endParaRPr b="1" sz="13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896D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300" u="none" cap="none" strike="noStrike">
                          <a:solidFill>
                            <a:schemeClr val="lt1"/>
                          </a:solidFill>
                          <a:latin typeface="Fira Sans"/>
                          <a:ea typeface="Fira Sans"/>
                          <a:cs typeface="Fira Sans"/>
                          <a:sym typeface="Fira Sans"/>
                        </a:rPr>
                        <a:t>3rd Hour (11-12 PT)</a:t>
                      </a:r>
                      <a:endParaRPr b="1" sz="13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896D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300" u="none" cap="none" strike="noStrike">
                          <a:solidFill>
                            <a:schemeClr val="lt1"/>
                          </a:solidFill>
                          <a:latin typeface="Fira Sans"/>
                          <a:ea typeface="Fira Sans"/>
                          <a:cs typeface="Fira Sans"/>
                          <a:sym typeface="Fira Sans"/>
                        </a:rPr>
                        <a:t>4th Hour (12-1 PT)</a:t>
                      </a:r>
                      <a:endParaRPr b="1" sz="13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896D2"/>
                    </a:solidFill>
                  </a:tcPr>
                </a:tc>
              </a:tr>
              <a:tr h="658875">
                <a:tc>
                  <a:txBody>
                    <a:bodyPr/>
                    <a:lstStyle/>
                    <a:p>
                      <a:pPr indent="0" lvl="0" marL="0" marR="0" rtl="0" algn="ctr">
                        <a:lnSpc>
                          <a:spcPct val="115000"/>
                        </a:lnSpc>
                        <a:spcBef>
                          <a:spcPts val="0"/>
                        </a:spcBef>
                        <a:spcAft>
                          <a:spcPts val="0"/>
                        </a:spcAft>
                        <a:buClr>
                          <a:srgbClr val="000000"/>
                        </a:buClr>
                        <a:buSzPts val="1000"/>
                        <a:buFont typeface="Arial"/>
                        <a:buNone/>
                      </a:pPr>
                      <a:r>
                        <a:rPr lang="en" sz="1400" u="none" cap="none" strike="noStrike">
                          <a:solidFill>
                            <a:schemeClr val="lt1"/>
                          </a:solidFill>
                          <a:latin typeface="Fira Sans"/>
                          <a:ea typeface="Fira Sans"/>
                          <a:cs typeface="Fira Sans"/>
                          <a:sym typeface="Fira Sans"/>
                        </a:rPr>
                        <a:t>h:00 - h:15</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 sz="1400" u="none" cap="none" strike="noStrike">
                          <a:solidFill>
                            <a:schemeClr val="lt1"/>
                          </a:solidFill>
                          <a:latin typeface="Fira Sans"/>
                          <a:ea typeface="Fira Sans"/>
                          <a:cs typeface="Fira Sans"/>
                          <a:sym typeface="Fira Sans"/>
                        </a:rPr>
                        <a:t>What is Probability</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ctr">
                        <a:lnSpc>
                          <a:spcPct val="115000"/>
                        </a:lnSpc>
                        <a:spcBef>
                          <a:spcPts val="0"/>
                        </a:spcBef>
                        <a:spcAft>
                          <a:spcPts val="0"/>
                        </a:spcAft>
                        <a:buClr>
                          <a:srgbClr val="000000"/>
                        </a:buClr>
                        <a:buSzPts val="1400"/>
                        <a:buFont typeface="Arial"/>
                        <a:buNone/>
                      </a:pPr>
                      <a:r>
                        <a:rPr lang="en" sz="1400" u="none" cap="none" strike="noStrike">
                          <a:solidFill>
                            <a:schemeClr val="lt1"/>
                          </a:solidFill>
                          <a:latin typeface="Fira Sans"/>
                          <a:ea typeface="Fira Sans"/>
                          <a:cs typeface="Fira Sans"/>
                          <a:sym typeface="Fira Sans"/>
                        </a:rPr>
                        <a:t>Approaches to Probability</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Axiomatic</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Frequentist</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Classical</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Quiz &amp; Examples</a:t>
                      </a:r>
                      <a:endParaRPr sz="1400" u="none" cap="none" strike="noStrike"/>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ctr">
                        <a:lnSpc>
                          <a:spcPct val="115000"/>
                        </a:lnSpc>
                        <a:spcBef>
                          <a:spcPts val="0"/>
                        </a:spcBef>
                        <a:spcAft>
                          <a:spcPts val="0"/>
                        </a:spcAft>
                        <a:buClr>
                          <a:srgbClr val="000000"/>
                        </a:buClr>
                        <a:buSzPts val="1400"/>
                        <a:buFont typeface="Arial"/>
                        <a:buNone/>
                      </a:pPr>
                      <a:r>
                        <a:t/>
                      </a:r>
                      <a:endParaRPr sz="1400" u="none" cap="none" strike="noStrike">
                        <a:solidFill>
                          <a:schemeClr val="lt1"/>
                        </a:solidFill>
                        <a:latin typeface="Fira Sans"/>
                        <a:ea typeface="Fira Sans"/>
                        <a:cs typeface="Fira Sans"/>
                        <a:sym typeface="Fira Sans"/>
                      </a:endParaRPr>
                    </a:p>
                    <a:p>
                      <a:pPr indent="0" lvl="0" marL="0" marR="0" rtl="0" algn="ctr">
                        <a:lnSpc>
                          <a:spcPct val="115000"/>
                        </a:lnSpc>
                        <a:spcBef>
                          <a:spcPts val="0"/>
                        </a:spcBef>
                        <a:spcAft>
                          <a:spcPts val="0"/>
                        </a:spcAft>
                        <a:buClr>
                          <a:schemeClr val="dk1"/>
                        </a:buClr>
                        <a:buSzPts val="1000"/>
                        <a:buFont typeface="Arial"/>
                        <a:buNone/>
                      </a:pPr>
                      <a:r>
                        <a:rPr lang="en" sz="1400" u="none" cap="none" strike="noStrike">
                          <a:solidFill>
                            <a:schemeClr val="lt1"/>
                          </a:solidFill>
                          <a:latin typeface="Fira Sans"/>
                          <a:ea typeface="Fira Sans"/>
                          <a:cs typeface="Fira Sans"/>
                          <a:sym typeface="Fira Sans"/>
                        </a:rPr>
                        <a:t>Independence and Conditional Probability</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3">
                  <a:txBody>
                    <a:bodyPr/>
                    <a:lstStyle/>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Types of Probability</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Bayesian</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Empirical</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Transition</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213125">
                <a:tc>
                  <a:txBody>
                    <a:bodyPr/>
                    <a:lstStyle/>
                    <a:p>
                      <a:pPr indent="0" lvl="0" marL="0" marR="0" rtl="0" algn="ctr">
                        <a:lnSpc>
                          <a:spcPct val="115000"/>
                        </a:lnSpc>
                        <a:spcBef>
                          <a:spcPts val="0"/>
                        </a:spcBef>
                        <a:spcAft>
                          <a:spcPts val="0"/>
                        </a:spcAft>
                        <a:buClr>
                          <a:srgbClr val="000000"/>
                        </a:buClr>
                        <a:buSzPts val="1000"/>
                        <a:buFont typeface="Arial"/>
                        <a:buNone/>
                      </a:pPr>
                      <a:r>
                        <a:rPr lang="en" sz="1400" u="none" cap="none" strike="noStrike">
                          <a:solidFill>
                            <a:schemeClr val="lt1"/>
                          </a:solidFill>
                          <a:latin typeface="Fira Sans"/>
                          <a:ea typeface="Fira Sans"/>
                          <a:cs typeface="Fira Sans"/>
                          <a:sym typeface="Fira Sans"/>
                        </a:rPr>
                        <a:t>h:15 - h:35</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Order &amp; Structure</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Scenarios</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Quiz</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vMerge="1"/>
                <a:tc vMerge="1"/>
                <a:tc vMerge="1"/>
              </a:tr>
              <a:tr h="1438350">
                <a:tc>
                  <a:txBody>
                    <a:bodyPr/>
                    <a:lstStyle/>
                    <a:p>
                      <a:pPr indent="0" lvl="0" marL="0" marR="0" rtl="0" algn="ctr">
                        <a:lnSpc>
                          <a:spcPct val="115000"/>
                        </a:lnSpc>
                        <a:spcBef>
                          <a:spcPts val="0"/>
                        </a:spcBef>
                        <a:spcAft>
                          <a:spcPts val="0"/>
                        </a:spcAft>
                        <a:buClr>
                          <a:srgbClr val="000000"/>
                        </a:buClr>
                        <a:buSzPts val="1000"/>
                        <a:buFont typeface="Arial"/>
                        <a:buNone/>
                      </a:pPr>
                      <a:r>
                        <a:rPr lang="en" sz="1400" u="none" cap="none" strike="noStrike">
                          <a:solidFill>
                            <a:schemeClr val="lt1"/>
                          </a:solidFill>
                          <a:latin typeface="Fira Sans"/>
                          <a:ea typeface="Fira Sans"/>
                          <a:cs typeface="Fira Sans"/>
                          <a:sym typeface="Fira Sans"/>
                        </a:rPr>
                        <a:t>h:35 - h:55</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Basic Definitions</a:t>
                      </a:r>
                      <a:endParaRPr sz="1400" u="none" cap="none" strike="noStrike">
                        <a:solidFill>
                          <a:schemeClr val="lt1"/>
                        </a:solidFill>
                        <a:latin typeface="Fira Sans"/>
                        <a:ea typeface="Fira Sans"/>
                        <a:cs typeface="Fira Sans"/>
                        <a:sym typeface="Fira Sans"/>
                      </a:endParaRPr>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Sample Space/Events</a:t>
                      </a:r>
                      <a:endParaRPr sz="1400" u="none" cap="none" strike="noStrike">
                        <a:solidFill>
                          <a:schemeClr val="lt1"/>
                        </a:solidFill>
                        <a:latin typeface="Fira Sans"/>
                        <a:ea typeface="Fira Sans"/>
                        <a:cs typeface="Fira Sans"/>
                        <a:sym typeface="Fira Sans"/>
                      </a:endParaRPr>
                    </a:p>
                    <a:p>
                      <a:pPr indent="-317500" lvl="0" marL="457200" marR="0" rtl="0" algn="l">
                        <a:lnSpc>
                          <a:spcPct val="115000"/>
                        </a:lnSpc>
                        <a:spcBef>
                          <a:spcPts val="0"/>
                        </a:spcBef>
                        <a:spcAft>
                          <a:spcPts val="0"/>
                        </a:spcAft>
                        <a:buClr>
                          <a:schemeClr val="lt1"/>
                        </a:buClr>
                        <a:buSzPts val="1400"/>
                        <a:buFont typeface="Fira Sans"/>
                        <a:buChar char="●"/>
                      </a:pPr>
                      <a:r>
                        <a:rPr lang="en" sz="1400" u="none" cap="none" strike="noStrike">
                          <a:solidFill>
                            <a:schemeClr val="lt1"/>
                          </a:solidFill>
                          <a:latin typeface="Fira Sans"/>
                          <a:ea typeface="Fira Sans"/>
                          <a:cs typeface="Fira Sans"/>
                          <a:sym typeface="Fira Sans"/>
                        </a:rPr>
                        <a:t>Axioms of Probability</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Counting</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Examples</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Factorials</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Scenario’s &amp; Examples</a:t>
                      </a:r>
                      <a:endParaRPr b="0" i="0" sz="1400" u="none" cap="none" strike="noStrike">
                        <a:solidFill>
                          <a:schemeClr val="lt1"/>
                        </a:solidFill>
                        <a:latin typeface="Fira Sans"/>
                        <a:ea typeface="Fira Sans"/>
                        <a:cs typeface="Fira Sans"/>
                        <a:sym typeface="Fira Sans"/>
                      </a:endParaRPr>
                    </a:p>
                    <a:p>
                      <a:pPr indent="-196850" lvl="0" marL="28575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Scenarios</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Quiz</a:t>
                      </a:r>
                      <a:endParaRPr sz="1400" u="none" cap="none" strike="noStrike"/>
                    </a:p>
                    <a:p>
                      <a:pPr indent="-317500" lvl="0" marL="457200" marR="0" rtl="0" algn="l">
                        <a:lnSpc>
                          <a:spcPct val="115000"/>
                        </a:lnSpc>
                        <a:spcBef>
                          <a:spcPts val="0"/>
                        </a:spcBef>
                        <a:spcAft>
                          <a:spcPts val="0"/>
                        </a:spcAft>
                        <a:buClr>
                          <a:schemeClr val="lt1"/>
                        </a:buClr>
                        <a:buSzPts val="1400"/>
                        <a:buFont typeface="Fira Sans"/>
                        <a:buChar char="●"/>
                      </a:pPr>
                      <a:r>
                        <a:rPr b="0" i="0" lang="en" sz="1400" u="none" cap="none" strike="noStrike">
                          <a:solidFill>
                            <a:schemeClr val="lt1"/>
                          </a:solidFill>
                          <a:latin typeface="Fira Sans"/>
                          <a:ea typeface="Fira Sans"/>
                          <a:cs typeface="Fira Sans"/>
                          <a:sym typeface="Fira Sans"/>
                        </a:rPr>
                        <a:t>Assumptions</a:t>
                      </a:r>
                      <a:endParaRPr b="0" i="0" sz="1400" u="none" cap="none" strike="noStrike">
                        <a:solidFill>
                          <a:schemeClr val="lt1"/>
                        </a:solidFill>
                        <a:latin typeface="Fira Sans"/>
                        <a:ea typeface="Fira Sans"/>
                        <a:cs typeface="Fira Sans"/>
                        <a:sym typeface="Fira Sans"/>
                      </a:endParaRPr>
                    </a:p>
                    <a:p>
                      <a:pPr indent="-196850" lvl="0" marL="285750" marR="0" rtl="0" algn="l">
                        <a:lnSpc>
                          <a:spcPct val="100000"/>
                        </a:lnSpc>
                        <a:spcBef>
                          <a:spcPts val="0"/>
                        </a:spcBef>
                        <a:spcAft>
                          <a:spcPts val="0"/>
                        </a:spcAft>
                        <a:buClr>
                          <a:srgbClr val="000000"/>
                        </a:buClr>
                        <a:buSzPts val="1400"/>
                        <a:buFont typeface="Arial"/>
                        <a:buNone/>
                      </a:pPr>
                      <a:r>
                        <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vMerge="1"/>
              </a:tr>
              <a:tr h="319275">
                <a:tc>
                  <a:txBody>
                    <a:bodyPr/>
                    <a:lstStyle/>
                    <a:p>
                      <a:pPr indent="0" lvl="0" marL="0" marR="0" rtl="0" algn="ctr">
                        <a:lnSpc>
                          <a:spcPct val="115000"/>
                        </a:lnSpc>
                        <a:spcBef>
                          <a:spcPts val="0"/>
                        </a:spcBef>
                        <a:spcAft>
                          <a:spcPts val="0"/>
                        </a:spcAft>
                        <a:buClr>
                          <a:srgbClr val="000000"/>
                        </a:buClr>
                        <a:buSzPts val="1000"/>
                        <a:buFont typeface="Arial"/>
                        <a:buNone/>
                      </a:pPr>
                      <a:r>
                        <a:rPr lang="en" sz="1400" u="none" cap="none" strike="noStrike">
                          <a:solidFill>
                            <a:schemeClr val="lt1"/>
                          </a:solidFill>
                          <a:latin typeface="Fira Sans"/>
                          <a:ea typeface="Fira Sans"/>
                          <a:cs typeface="Fira Sans"/>
                          <a:sym typeface="Fira Sans"/>
                        </a:rPr>
                        <a:t>h:55 - h:00</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 sz="1400" u="none" cap="none" strike="noStrike">
                          <a:solidFill>
                            <a:schemeClr val="lt1"/>
                          </a:solidFill>
                          <a:latin typeface="Fira Sans"/>
                          <a:ea typeface="Fira Sans"/>
                          <a:cs typeface="Fira Sans"/>
                          <a:sym typeface="Fira Sans"/>
                        </a:rPr>
                        <a:t>Summary</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400" u="none" cap="none" strike="noStrike">
                          <a:solidFill>
                            <a:schemeClr val="lt1"/>
                          </a:solidFill>
                          <a:latin typeface="Fira Sans"/>
                          <a:ea typeface="Fira Sans"/>
                          <a:cs typeface="Fira Sans"/>
                          <a:sym typeface="Fira Sans"/>
                        </a:rPr>
                        <a:t>Break</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 sz="1400" u="none" cap="none" strike="noStrike">
                          <a:solidFill>
                            <a:schemeClr val="lt1"/>
                          </a:solidFill>
                          <a:latin typeface="Fira Sans"/>
                          <a:ea typeface="Fira Sans"/>
                          <a:cs typeface="Fira Sans"/>
                          <a:sym typeface="Fira Sans"/>
                        </a:rPr>
                        <a:t>Break</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 sz="1400" u="none" cap="none" strike="noStrike">
                          <a:solidFill>
                            <a:schemeClr val="lt1"/>
                          </a:solidFill>
                          <a:latin typeface="Fira Sans"/>
                          <a:ea typeface="Fira Sans"/>
                          <a:cs typeface="Fira Sans"/>
                          <a:sym typeface="Fira Sans"/>
                        </a:rPr>
                        <a:t>Summary</a:t>
                      </a:r>
                      <a:endParaRPr sz="1400" u="none" cap="none" strike="noStrike">
                        <a:solidFill>
                          <a:schemeClr val="lt1"/>
                        </a:solidFill>
                        <a:latin typeface="Fira Sans"/>
                        <a:ea typeface="Fira Sans"/>
                        <a:cs typeface="Fira Sans"/>
                        <a:sym typeface="Fira Sans"/>
                      </a:endParaRPr>
                    </a:p>
                  </a:txBody>
                  <a:tcPr marT="63500" marB="63500" marR="63500" marL="635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260" name="Google Shape;260;p54"/>
          <p:cNvSpPr txBox="1"/>
          <p:nvPr>
            <p:ph type="title"/>
          </p:nvPr>
        </p:nvSpPr>
        <p:spPr>
          <a:xfrm>
            <a:off x="242650" y="848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Today’s </a:t>
            </a:r>
            <a:r>
              <a:rPr lang="en" sz="2700">
                <a:solidFill>
                  <a:srgbClr val="3896D2"/>
                </a:solidFill>
              </a:rPr>
              <a:t>Agenda</a:t>
            </a:r>
            <a:endParaRPr sz="2700">
              <a:solidFill>
                <a:srgbClr val="3896D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5"/>
          <p:cNvSpPr txBox="1"/>
          <p:nvPr>
            <p:ph type="title"/>
          </p:nvPr>
        </p:nvSpPr>
        <p:spPr>
          <a:xfrm>
            <a:off x="242650" y="848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Today’s </a:t>
            </a:r>
            <a:r>
              <a:rPr lang="en" sz="2700">
                <a:solidFill>
                  <a:srgbClr val="3896D2"/>
                </a:solidFill>
              </a:rPr>
              <a:t>Agenda</a:t>
            </a:r>
            <a:endParaRPr sz="2700">
              <a:solidFill>
                <a:srgbClr val="3896D2"/>
              </a:solidFill>
            </a:endParaRPr>
          </a:p>
        </p:txBody>
      </p:sp>
      <p:grpSp>
        <p:nvGrpSpPr>
          <p:cNvPr id="266" name="Google Shape;266;p55"/>
          <p:cNvGrpSpPr/>
          <p:nvPr/>
        </p:nvGrpSpPr>
        <p:grpSpPr>
          <a:xfrm>
            <a:off x="6787913" y="1076325"/>
            <a:ext cx="1653075" cy="3657600"/>
            <a:chOff x="6788575" y="1076325"/>
            <a:chExt cx="1653075" cy="3657600"/>
          </a:xfrm>
        </p:grpSpPr>
        <p:sp>
          <p:nvSpPr>
            <p:cNvPr id="267" name="Google Shape;267;p55"/>
            <p:cNvSpPr/>
            <p:nvPr/>
          </p:nvSpPr>
          <p:spPr>
            <a:xfrm>
              <a:off x="6788575" y="1076325"/>
              <a:ext cx="1645200" cy="33018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Types of Probability</a:t>
              </a:r>
              <a:endParaRPr b="1" i="0" sz="2000" u="none" cap="none" strike="noStrike">
                <a:solidFill>
                  <a:srgbClr val="FFFFFF"/>
                </a:solidFill>
                <a:latin typeface="Roboto"/>
                <a:ea typeface="Roboto"/>
                <a:cs typeface="Roboto"/>
                <a:sym typeface="Roboto"/>
              </a:endParaRPr>
            </a:p>
          </p:txBody>
        </p:sp>
        <p:sp>
          <p:nvSpPr>
            <p:cNvPr id="268" name="Google Shape;268;p55"/>
            <p:cNvSpPr/>
            <p:nvPr/>
          </p:nvSpPr>
          <p:spPr>
            <a:xfrm>
              <a:off x="7119925"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sp>
          <p:nvSpPr>
            <p:cNvPr id="269" name="Google Shape;269;p55"/>
            <p:cNvSpPr/>
            <p:nvPr/>
          </p:nvSpPr>
          <p:spPr>
            <a:xfrm>
              <a:off x="6796450" y="4485525"/>
              <a:ext cx="1645200" cy="248400"/>
            </a:xfrm>
            <a:prstGeom prst="rect">
              <a:avLst/>
            </a:prstGeom>
            <a:solidFill>
              <a:srgbClr val="3A80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0" name="Google Shape;270;p55"/>
            <p:cNvGrpSpPr/>
            <p:nvPr/>
          </p:nvGrpSpPr>
          <p:grpSpPr>
            <a:xfrm>
              <a:off x="7336859" y="2789275"/>
              <a:ext cx="548633" cy="548633"/>
              <a:chOff x="-48633175" y="2711375"/>
              <a:chExt cx="299325" cy="299325"/>
            </a:xfrm>
          </p:grpSpPr>
          <p:sp>
            <p:nvSpPr>
              <p:cNvPr id="271" name="Google Shape;271;p55"/>
              <p:cNvSpPr/>
              <p:nvPr/>
            </p:nvSpPr>
            <p:spPr>
              <a:xfrm>
                <a:off x="-48633175" y="2711375"/>
                <a:ext cx="299325" cy="299325"/>
              </a:xfrm>
              <a:custGeom>
                <a:rect b="b" l="l" r="r" t="t"/>
                <a:pathLst>
                  <a:path extrusionOk="0" h="11973" w="11973">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55"/>
              <p:cNvSpPr/>
              <p:nvPr/>
            </p:nvSpPr>
            <p:spPr>
              <a:xfrm>
                <a:off x="-48579600" y="2764950"/>
                <a:ext cx="192975" cy="191400"/>
              </a:xfrm>
              <a:custGeom>
                <a:rect b="b" l="l" r="r" t="t"/>
                <a:pathLst>
                  <a:path extrusionOk="0" h="7656" w="7719">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3" name="Google Shape;273;p55"/>
          <p:cNvGrpSpPr/>
          <p:nvPr/>
        </p:nvGrpSpPr>
        <p:grpSpPr>
          <a:xfrm>
            <a:off x="703013" y="1076325"/>
            <a:ext cx="1649125" cy="3657600"/>
            <a:chOff x="703675" y="1076325"/>
            <a:chExt cx="1649125" cy="3657600"/>
          </a:xfrm>
        </p:grpSpPr>
        <p:sp>
          <p:nvSpPr>
            <p:cNvPr id="274" name="Google Shape;274;p55"/>
            <p:cNvSpPr/>
            <p:nvPr/>
          </p:nvSpPr>
          <p:spPr>
            <a:xfrm>
              <a:off x="707600" y="1076325"/>
              <a:ext cx="1645200" cy="3301800"/>
            </a:xfrm>
            <a:prstGeom prst="round2SameRect">
              <a:avLst>
                <a:gd fmla="val 50000" name="adj1"/>
                <a:gd fmla="val 0" name="adj2"/>
              </a:avLst>
            </a:prstGeom>
            <a:solidFill>
              <a:srgbClr val="FBB831"/>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800" u="none" cap="none" strike="noStrike">
                  <a:solidFill>
                    <a:srgbClr val="FFFFFF"/>
                  </a:solidFill>
                  <a:latin typeface="Roboto"/>
                  <a:ea typeface="Roboto"/>
                  <a:cs typeface="Roboto"/>
                  <a:sym typeface="Roboto"/>
                </a:rPr>
                <a:t>What is Probability</a:t>
              </a:r>
              <a:endParaRPr b="1" i="0" sz="1800" u="none" cap="none" strike="noStrike">
                <a:solidFill>
                  <a:srgbClr val="FFFFFF"/>
                </a:solidFill>
                <a:latin typeface="Arial"/>
                <a:ea typeface="Arial"/>
                <a:cs typeface="Arial"/>
                <a:sym typeface="Arial"/>
              </a:endParaRPr>
            </a:p>
          </p:txBody>
        </p:sp>
        <p:sp>
          <p:nvSpPr>
            <p:cNvPr id="275" name="Google Shape;275;p55"/>
            <p:cNvSpPr/>
            <p:nvPr/>
          </p:nvSpPr>
          <p:spPr>
            <a:xfrm>
              <a:off x="1038950"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D1CC62"/>
                  </a:solidFill>
                  <a:latin typeface="Fira Sans Extra Condensed Medium"/>
                  <a:ea typeface="Fira Sans Extra Condensed Medium"/>
                  <a:cs typeface="Fira Sans Extra Condensed Medium"/>
                  <a:sym typeface="Fira Sans Extra Condensed Medium"/>
                </a:rPr>
                <a:t>1</a:t>
              </a:r>
              <a:endParaRPr b="0" i="0" sz="1400" u="none" cap="none" strike="noStrike">
                <a:solidFill>
                  <a:srgbClr val="D1CC62"/>
                </a:solidFill>
                <a:latin typeface="Arial"/>
                <a:ea typeface="Arial"/>
                <a:cs typeface="Arial"/>
                <a:sym typeface="Arial"/>
              </a:endParaRPr>
            </a:p>
          </p:txBody>
        </p:sp>
        <p:sp>
          <p:nvSpPr>
            <p:cNvPr id="276" name="Google Shape;276;p55"/>
            <p:cNvSpPr/>
            <p:nvPr/>
          </p:nvSpPr>
          <p:spPr>
            <a:xfrm>
              <a:off x="703675" y="4485525"/>
              <a:ext cx="1645200" cy="248400"/>
            </a:xfrm>
            <a:prstGeom prst="rect">
              <a:avLst/>
            </a:prstGeom>
            <a:solidFill>
              <a:srgbClr val="FBB8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7" name="Google Shape;277;p55"/>
            <p:cNvGrpSpPr/>
            <p:nvPr/>
          </p:nvGrpSpPr>
          <p:grpSpPr>
            <a:xfrm>
              <a:off x="1251957" y="2789276"/>
              <a:ext cx="548631" cy="548631"/>
              <a:chOff x="-46772025" y="2701925"/>
              <a:chExt cx="300900" cy="300900"/>
            </a:xfrm>
          </p:grpSpPr>
          <p:sp>
            <p:nvSpPr>
              <p:cNvPr id="278" name="Google Shape;278;p55"/>
              <p:cNvSpPr/>
              <p:nvPr/>
            </p:nvSpPr>
            <p:spPr>
              <a:xfrm>
                <a:off x="-46647575" y="2826375"/>
                <a:ext cx="53575" cy="53575"/>
              </a:xfrm>
              <a:custGeom>
                <a:rect b="b" l="l" r="r" t="t"/>
                <a:pathLst>
                  <a:path extrusionOk="0" h="2143" w="2143">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55"/>
              <p:cNvSpPr/>
              <p:nvPr/>
            </p:nvSpPr>
            <p:spPr>
              <a:xfrm>
                <a:off x="-46772025" y="2701925"/>
                <a:ext cx="300900" cy="300900"/>
              </a:xfrm>
              <a:custGeom>
                <a:rect b="b" l="l" r="r" t="t"/>
                <a:pathLst>
                  <a:path extrusionOk="0" h="12036" w="12036">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80" name="Google Shape;280;p55"/>
          <p:cNvGrpSpPr/>
          <p:nvPr/>
        </p:nvGrpSpPr>
        <p:grpSpPr>
          <a:xfrm>
            <a:off x="4635075" y="1076325"/>
            <a:ext cx="1922100" cy="3657600"/>
            <a:chOff x="4647412" y="1076325"/>
            <a:chExt cx="1922100" cy="3657600"/>
          </a:xfrm>
        </p:grpSpPr>
        <p:sp>
          <p:nvSpPr>
            <p:cNvPr id="281" name="Google Shape;281;p55"/>
            <p:cNvSpPr/>
            <p:nvPr/>
          </p:nvSpPr>
          <p:spPr>
            <a:xfrm>
              <a:off x="4647412" y="1076325"/>
              <a:ext cx="1922100" cy="3301800"/>
            </a:xfrm>
            <a:prstGeom prst="round2SameRect">
              <a:avLst>
                <a:gd fmla="val 50000" name="adj1"/>
                <a:gd fmla="val 0" name="adj2"/>
              </a:avLst>
            </a:prstGeom>
            <a:solidFill>
              <a:srgbClr val="1FC2BA"/>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1" marL="0" marR="0" rtl="0" algn="l">
                <a:lnSpc>
                  <a:spcPct val="100000"/>
                </a:lnSpc>
                <a:spcBef>
                  <a:spcPts val="0"/>
                </a:spcBef>
                <a:spcAft>
                  <a:spcPts val="0"/>
                </a:spcAft>
                <a:buClr>
                  <a:srgbClr val="000000"/>
                </a:buClr>
                <a:buSzPts val="1600"/>
                <a:buFont typeface="Arial"/>
                <a:buNone/>
              </a:pPr>
              <a:r>
                <a:t/>
              </a:r>
              <a:endParaRPr b="0" i="0" sz="1300" u="none" cap="none" strike="noStrike">
                <a:solidFill>
                  <a:srgbClr val="FFFFFF"/>
                </a:solidFill>
                <a:latin typeface="Roboto"/>
                <a:ea typeface="Roboto"/>
                <a:cs typeface="Roboto"/>
                <a:sym typeface="Roboto"/>
              </a:endParaRPr>
            </a:p>
            <a:p>
              <a:pPr indent="0" lvl="1"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Independence in Probability</a:t>
              </a:r>
              <a:endParaRPr b="1" i="0" sz="2000" u="none" cap="none" strike="noStrike">
                <a:solidFill>
                  <a:srgbClr val="FFFFFF"/>
                </a:solidFill>
                <a:latin typeface="Arial"/>
                <a:ea typeface="Arial"/>
                <a:cs typeface="Arial"/>
                <a:sym typeface="Arial"/>
              </a:endParaRPr>
            </a:p>
          </p:txBody>
        </p:sp>
        <p:sp>
          <p:nvSpPr>
            <p:cNvPr id="282" name="Google Shape;282;p55"/>
            <p:cNvSpPr/>
            <p:nvPr/>
          </p:nvSpPr>
          <p:spPr>
            <a:xfrm>
              <a:off x="5063608"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1FC2BA"/>
                  </a:solidFill>
                  <a:latin typeface="Fira Sans Extra Condensed Medium"/>
                  <a:ea typeface="Fira Sans Extra Condensed Medium"/>
                  <a:cs typeface="Fira Sans Extra Condensed Medium"/>
                  <a:sym typeface="Fira Sans Extra Condensed Medium"/>
                </a:rPr>
                <a:t>3</a:t>
              </a:r>
              <a:endParaRPr b="0" i="0" sz="1400" u="none" cap="none" strike="noStrike">
                <a:solidFill>
                  <a:srgbClr val="1FC2BA"/>
                </a:solidFill>
                <a:latin typeface="Arial"/>
                <a:ea typeface="Arial"/>
                <a:cs typeface="Arial"/>
                <a:sym typeface="Arial"/>
              </a:endParaRPr>
            </a:p>
          </p:txBody>
        </p:sp>
        <p:sp>
          <p:nvSpPr>
            <p:cNvPr id="283" name="Google Shape;283;p55"/>
            <p:cNvSpPr/>
            <p:nvPr/>
          </p:nvSpPr>
          <p:spPr>
            <a:xfrm>
              <a:off x="4765525" y="4485525"/>
              <a:ext cx="1645200" cy="248400"/>
            </a:xfrm>
            <a:prstGeom prst="rect">
              <a:avLst/>
            </a:prstGeom>
            <a:solidFill>
              <a:srgbClr val="1FC2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55"/>
            <p:cNvSpPr/>
            <p:nvPr/>
          </p:nvSpPr>
          <p:spPr>
            <a:xfrm>
              <a:off x="5309863" y="2789272"/>
              <a:ext cx="548641" cy="548631"/>
            </a:xfrm>
            <a:custGeom>
              <a:rect b="b" l="l" r="r" t="t"/>
              <a:pathLst>
                <a:path extrusionOk="0" h="12036" w="12068">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 name="Google Shape;285;p55"/>
          <p:cNvGrpSpPr/>
          <p:nvPr/>
        </p:nvGrpSpPr>
        <p:grpSpPr>
          <a:xfrm>
            <a:off x="2733929" y="1076325"/>
            <a:ext cx="1645208" cy="3657600"/>
            <a:chOff x="2734592" y="1076325"/>
            <a:chExt cx="1645208" cy="3657600"/>
          </a:xfrm>
        </p:grpSpPr>
        <p:sp>
          <p:nvSpPr>
            <p:cNvPr id="286" name="Google Shape;286;p55"/>
            <p:cNvSpPr/>
            <p:nvPr/>
          </p:nvSpPr>
          <p:spPr>
            <a:xfrm>
              <a:off x="2734592" y="1076325"/>
              <a:ext cx="1645200" cy="3301800"/>
            </a:xfrm>
            <a:prstGeom prst="round2SameRect">
              <a:avLst>
                <a:gd fmla="val 50000" name="adj1"/>
                <a:gd fmla="val 0" name="adj2"/>
              </a:avLst>
            </a:prstGeom>
            <a:solidFill>
              <a:srgbClr val="C27BA0"/>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Approach to Probabilit</a:t>
              </a:r>
              <a:r>
                <a:rPr b="1" i="0" lang="en" sz="2000" u="none" cap="none" strike="noStrike">
                  <a:solidFill>
                    <a:srgbClr val="FFFFFF"/>
                  </a:solidFill>
                  <a:latin typeface="Roboto"/>
                  <a:ea typeface="Roboto"/>
                  <a:cs typeface="Roboto"/>
                  <a:sym typeface="Roboto"/>
                </a:rPr>
                <a:t>y</a:t>
              </a:r>
              <a:endParaRPr b="1" i="0" sz="2000" u="none" cap="none" strike="noStrike">
                <a:solidFill>
                  <a:srgbClr val="FFFFFF"/>
                </a:solidFill>
                <a:latin typeface="Arial"/>
                <a:ea typeface="Arial"/>
                <a:cs typeface="Arial"/>
                <a:sym typeface="Arial"/>
              </a:endParaRPr>
            </a:p>
          </p:txBody>
        </p:sp>
        <p:sp>
          <p:nvSpPr>
            <p:cNvPr id="287" name="Google Shape;287;p55"/>
            <p:cNvSpPr/>
            <p:nvPr/>
          </p:nvSpPr>
          <p:spPr>
            <a:xfrm>
              <a:off x="3065942"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8FC03F"/>
                  </a:solidFill>
                  <a:latin typeface="Fira Sans Extra Condensed Medium"/>
                  <a:ea typeface="Fira Sans Extra Condensed Medium"/>
                  <a:cs typeface="Fira Sans Extra Condensed Medium"/>
                  <a:sym typeface="Fira Sans Extra Condensed Medium"/>
                </a:rPr>
                <a:t>2</a:t>
              </a:r>
              <a:endParaRPr b="0" i="0" sz="1400" u="none" cap="none" strike="noStrike">
                <a:solidFill>
                  <a:srgbClr val="8FC03F"/>
                </a:solidFill>
                <a:latin typeface="Arial"/>
                <a:ea typeface="Arial"/>
                <a:cs typeface="Arial"/>
                <a:sym typeface="Arial"/>
              </a:endParaRPr>
            </a:p>
          </p:txBody>
        </p:sp>
        <p:sp>
          <p:nvSpPr>
            <p:cNvPr id="288" name="Google Shape;288;p55"/>
            <p:cNvSpPr/>
            <p:nvPr/>
          </p:nvSpPr>
          <p:spPr>
            <a:xfrm>
              <a:off x="2734600" y="4485525"/>
              <a:ext cx="1645200" cy="248400"/>
            </a:xfrm>
            <a:prstGeom prst="rect">
              <a:avLst/>
            </a:prstGeom>
            <a:solidFill>
              <a:srgbClr val="C27B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9" name="Google Shape;289;p55"/>
            <p:cNvGrpSpPr/>
            <p:nvPr/>
          </p:nvGrpSpPr>
          <p:grpSpPr>
            <a:xfrm>
              <a:off x="3282873" y="2789270"/>
              <a:ext cx="548631" cy="548652"/>
              <a:chOff x="-49786250" y="2316650"/>
              <a:chExt cx="300900" cy="299450"/>
            </a:xfrm>
          </p:grpSpPr>
          <p:sp>
            <p:nvSpPr>
              <p:cNvPr id="290" name="Google Shape;290;p55"/>
              <p:cNvSpPr/>
              <p:nvPr/>
            </p:nvSpPr>
            <p:spPr>
              <a:xfrm>
                <a:off x="-49746875" y="2316650"/>
                <a:ext cx="217400" cy="299450"/>
              </a:xfrm>
              <a:custGeom>
                <a:rect b="b" l="l" r="r" t="t"/>
                <a:pathLst>
                  <a:path extrusionOk="0" h="11978" w="8696">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5"/>
              <p:cNvSpPr/>
              <p:nvPr/>
            </p:nvSpPr>
            <p:spPr>
              <a:xfrm>
                <a:off x="-49786250" y="2422325"/>
                <a:ext cx="36250" cy="17350"/>
              </a:xfrm>
              <a:custGeom>
                <a:rect b="b" l="l" r="r" t="t"/>
                <a:pathLst>
                  <a:path extrusionOk="0" h="694" w="145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55"/>
              <p:cNvSpPr/>
              <p:nvPr/>
            </p:nvSpPr>
            <p:spPr>
              <a:xfrm>
                <a:off x="-49783900" y="2362475"/>
                <a:ext cx="31550" cy="30150"/>
              </a:xfrm>
              <a:custGeom>
                <a:rect b="b" l="l" r="r" t="t"/>
                <a:pathLst>
                  <a:path extrusionOk="0" h="1206" w="1262">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55"/>
              <p:cNvSpPr/>
              <p:nvPr/>
            </p:nvSpPr>
            <p:spPr>
              <a:xfrm>
                <a:off x="-49783900" y="2468800"/>
                <a:ext cx="31550" cy="30150"/>
              </a:xfrm>
              <a:custGeom>
                <a:rect b="b" l="l" r="r" t="t"/>
                <a:pathLst>
                  <a:path extrusionOk="0" h="1206" w="1262">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55"/>
              <p:cNvSpPr/>
              <p:nvPr/>
            </p:nvSpPr>
            <p:spPr>
              <a:xfrm>
                <a:off x="-495208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5"/>
              <p:cNvSpPr/>
              <p:nvPr/>
            </p:nvSpPr>
            <p:spPr>
              <a:xfrm>
                <a:off x="-49519250" y="2362475"/>
                <a:ext cx="31525" cy="31325"/>
              </a:xfrm>
              <a:custGeom>
                <a:rect b="b" l="l" r="r" t="t"/>
                <a:pathLst>
                  <a:path extrusionOk="0" h="1253" w="1261">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55"/>
              <p:cNvSpPr/>
              <p:nvPr/>
            </p:nvSpPr>
            <p:spPr>
              <a:xfrm>
                <a:off x="-49519250" y="2468800"/>
                <a:ext cx="31525" cy="30150"/>
              </a:xfrm>
              <a:custGeom>
                <a:rect b="b" l="l" r="r" t="t"/>
                <a:pathLst>
                  <a:path extrusionOk="0" h="1206" w="1261">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297" name="Google Shape;297;p55"/>
          <p:cNvCxnSpPr/>
          <p:nvPr/>
        </p:nvCxnSpPr>
        <p:spPr>
          <a:xfrm>
            <a:off x="2551525" y="1307225"/>
            <a:ext cx="22500" cy="3649800"/>
          </a:xfrm>
          <a:prstGeom prst="straightConnector1">
            <a:avLst/>
          </a:prstGeom>
          <a:noFill/>
          <a:ln cap="flat" cmpd="sng" w="19050">
            <a:solidFill>
              <a:srgbClr val="FF0000"/>
            </a:solidFill>
            <a:prstDash val="solid"/>
            <a:round/>
            <a:headEnd len="med" w="med" type="diamond"/>
            <a:tailEnd len="med" w="med" type="diamond"/>
          </a:ln>
        </p:spPr>
      </p:cxnSp>
      <p:cxnSp>
        <p:nvCxnSpPr>
          <p:cNvPr id="298" name="Google Shape;298;p55"/>
          <p:cNvCxnSpPr/>
          <p:nvPr/>
        </p:nvCxnSpPr>
        <p:spPr>
          <a:xfrm>
            <a:off x="4487288" y="1295950"/>
            <a:ext cx="51300" cy="3739800"/>
          </a:xfrm>
          <a:prstGeom prst="straightConnector1">
            <a:avLst/>
          </a:prstGeom>
          <a:noFill/>
          <a:ln cap="flat" cmpd="sng" w="19050">
            <a:solidFill>
              <a:srgbClr val="FF0000"/>
            </a:solidFill>
            <a:prstDash val="solid"/>
            <a:round/>
            <a:headEnd len="med" w="med" type="diamond"/>
            <a:tailEnd len="med" w="med" type="diamond"/>
          </a:ln>
        </p:spPr>
      </p:cxnSp>
      <p:cxnSp>
        <p:nvCxnSpPr>
          <p:cNvPr id="299" name="Google Shape;299;p55"/>
          <p:cNvCxnSpPr/>
          <p:nvPr/>
        </p:nvCxnSpPr>
        <p:spPr>
          <a:xfrm>
            <a:off x="6653638" y="1239850"/>
            <a:ext cx="49500" cy="3692400"/>
          </a:xfrm>
          <a:prstGeom prst="straightConnector1">
            <a:avLst/>
          </a:prstGeom>
          <a:noFill/>
          <a:ln cap="flat" cmpd="sng" w="19050">
            <a:solidFill>
              <a:srgbClr val="FF0000"/>
            </a:solidFill>
            <a:prstDash val="solid"/>
            <a:round/>
            <a:headEnd len="med" w="med" type="diamond"/>
            <a:tailEnd len="med" w="med" type="diamond"/>
          </a:ln>
        </p:spPr>
      </p:cxnSp>
      <p:sp>
        <p:nvSpPr>
          <p:cNvPr id="300" name="Google Shape;300;p55"/>
          <p:cNvSpPr txBox="1"/>
          <p:nvPr>
            <p:ph idx="1" type="body"/>
          </p:nvPr>
        </p:nvSpPr>
        <p:spPr>
          <a:xfrm>
            <a:off x="2088625" y="7590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301" name="Google Shape;301;p55"/>
          <p:cNvSpPr txBox="1"/>
          <p:nvPr>
            <p:ph idx="1" type="body"/>
          </p:nvPr>
        </p:nvSpPr>
        <p:spPr>
          <a:xfrm>
            <a:off x="4028788" y="753375"/>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302" name="Google Shape;302;p55"/>
          <p:cNvSpPr txBox="1"/>
          <p:nvPr>
            <p:ph idx="1" type="body"/>
          </p:nvPr>
        </p:nvSpPr>
        <p:spPr>
          <a:xfrm>
            <a:off x="6204238" y="7253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303" name="Google Shape;303;p55"/>
          <p:cNvSpPr txBox="1"/>
          <p:nvPr>
            <p:ph idx="1" type="body"/>
          </p:nvPr>
        </p:nvSpPr>
        <p:spPr>
          <a:xfrm>
            <a:off x="1053438" y="494776"/>
            <a:ext cx="948300" cy="62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3000"/>
              <a:t>⭐</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6"/>
          <p:cNvSpPr txBox="1"/>
          <p:nvPr>
            <p:ph type="title"/>
          </p:nvPr>
        </p:nvSpPr>
        <p:spPr>
          <a:xfrm>
            <a:off x="311700" y="929150"/>
            <a:ext cx="8520600" cy="262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sz="5000"/>
              <a:t>What is Probability?</a:t>
            </a:r>
            <a:endParaRPr sz="5000"/>
          </a:p>
        </p:txBody>
      </p:sp>
      <p:sp>
        <p:nvSpPr>
          <p:cNvPr id="309" name="Google Shape;309;p56"/>
          <p:cNvSpPr txBox="1"/>
          <p:nvPr>
            <p:ph idx="12" type="sldNum"/>
          </p:nvPr>
        </p:nvSpPr>
        <p:spPr>
          <a:xfrm>
            <a:off x="9" y="474990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sz="1300">
                <a:solidFill>
                  <a:srgbClr val="FFFFFF"/>
                </a:solidFill>
                <a:latin typeface="Fira Sans"/>
                <a:ea typeface="Fira Sans"/>
                <a:cs typeface="Fira Sans"/>
                <a:sym typeface="Fira Sans"/>
              </a:rPr>
              <a:t>‹#›</a:t>
            </a:fld>
            <a:endParaRPr sz="1300">
              <a:solidFill>
                <a:srgbClr val="FFFFFF"/>
              </a:solidFill>
              <a:latin typeface="Fira Sans"/>
              <a:ea typeface="Fira Sans"/>
              <a:cs typeface="Fira Sans"/>
              <a:sym typeface="Fira Sans"/>
            </a:endParaRPr>
          </a:p>
        </p:txBody>
      </p:sp>
      <p:pic>
        <p:nvPicPr>
          <p:cNvPr descr="Dice with solid fill" id="310" name="Google Shape;310;p56"/>
          <p:cNvPicPr preferRelativeResize="0"/>
          <p:nvPr/>
        </p:nvPicPr>
        <p:blipFill rotWithShape="1">
          <a:blip r:embed="rId3">
            <a:alphaModFix/>
          </a:blip>
          <a:srcRect b="0" l="0" r="0" t="0"/>
          <a:stretch/>
        </p:blipFill>
        <p:spPr>
          <a:xfrm>
            <a:off x="4114800" y="3051733"/>
            <a:ext cx="914400" cy="914400"/>
          </a:xfrm>
          <a:prstGeom prst="rect">
            <a:avLst/>
          </a:prstGeom>
          <a:noFill/>
          <a:ln>
            <a:noFill/>
          </a:ln>
        </p:spPr>
      </p:pic>
      <p:pic>
        <p:nvPicPr>
          <p:cNvPr descr="Playing card with solid fill" id="311" name="Google Shape;311;p56"/>
          <p:cNvPicPr preferRelativeResize="0"/>
          <p:nvPr/>
        </p:nvPicPr>
        <p:blipFill rotWithShape="1">
          <a:blip r:embed="rId4">
            <a:alphaModFix/>
          </a:blip>
          <a:srcRect b="0" l="0" r="0" t="0"/>
          <a:stretch/>
        </p:blipFill>
        <p:spPr>
          <a:xfrm>
            <a:off x="2590800" y="3005300"/>
            <a:ext cx="914400" cy="914400"/>
          </a:xfrm>
          <a:prstGeom prst="rect">
            <a:avLst/>
          </a:prstGeom>
          <a:noFill/>
          <a:ln>
            <a:noFill/>
          </a:ln>
        </p:spPr>
      </p:pic>
      <p:pic>
        <p:nvPicPr>
          <p:cNvPr descr="Help with solid fill" id="312" name="Google Shape;312;p56"/>
          <p:cNvPicPr preferRelativeResize="0"/>
          <p:nvPr/>
        </p:nvPicPr>
        <p:blipFill rotWithShape="1">
          <a:blip r:embed="rId5">
            <a:alphaModFix/>
          </a:blip>
          <a:srcRect b="0" l="0" r="0" t="0"/>
          <a:stretch/>
        </p:blipFill>
        <p:spPr>
          <a:xfrm>
            <a:off x="5638800" y="3051725"/>
            <a:ext cx="914400" cy="91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Lineup</a:t>
            </a:r>
            <a:endParaRPr>
              <a:solidFill>
                <a:srgbClr val="3896D2"/>
              </a:solidFill>
              <a:latin typeface="Fira Sans"/>
              <a:ea typeface="Fira Sans"/>
              <a:cs typeface="Fira Sans"/>
              <a:sym typeface="Fira Sans"/>
            </a:endParaRPr>
          </a:p>
        </p:txBody>
      </p:sp>
      <p:sp>
        <p:nvSpPr>
          <p:cNvPr id="318" name="Google Shape;318;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250000"/>
              </a:lnSpc>
              <a:spcBef>
                <a:spcPts val="0"/>
              </a:spcBef>
              <a:spcAft>
                <a:spcPts val="0"/>
              </a:spcAft>
              <a:buClr>
                <a:srgbClr val="FFFFFF"/>
              </a:buClr>
              <a:buSzPts val="1600"/>
              <a:buFont typeface="Fira Sans"/>
              <a:buChar char="●"/>
            </a:pPr>
            <a:r>
              <a:rPr lang="en" sz="1600">
                <a:solidFill>
                  <a:srgbClr val="FFFFFF"/>
                </a:solidFill>
              </a:rPr>
              <a:t>Understanding the concept of randomness and experiment.</a:t>
            </a:r>
            <a:endParaRPr sz="1600">
              <a:solidFill>
                <a:srgbClr val="FFFFFF"/>
              </a:solidFill>
            </a:endParaRPr>
          </a:p>
          <a:p>
            <a:pPr indent="-330200" lvl="0" marL="457200" rtl="0" algn="l">
              <a:lnSpc>
                <a:spcPct val="250000"/>
              </a:lnSpc>
              <a:spcBef>
                <a:spcPts val="0"/>
              </a:spcBef>
              <a:spcAft>
                <a:spcPts val="0"/>
              </a:spcAft>
              <a:buClr>
                <a:srgbClr val="FFFFFF"/>
              </a:buClr>
              <a:buSzPts val="1600"/>
              <a:buFont typeface="Fira Sans"/>
              <a:buChar char="●"/>
            </a:pPr>
            <a:r>
              <a:rPr lang="en" sz="1600">
                <a:solidFill>
                  <a:srgbClr val="FFFFFF"/>
                </a:solidFill>
              </a:rPr>
              <a:t>Understanding what is an experiment</a:t>
            </a:r>
            <a:endParaRPr sz="1600">
              <a:solidFill>
                <a:srgbClr val="FFFFFF"/>
              </a:solidFill>
            </a:endParaRPr>
          </a:p>
          <a:p>
            <a:pPr indent="-330200" lvl="0" marL="457200" rtl="0" algn="l">
              <a:lnSpc>
                <a:spcPct val="250000"/>
              </a:lnSpc>
              <a:spcBef>
                <a:spcPts val="0"/>
              </a:spcBef>
              <a:spcAft>
                <a:spcPts val="0"/>
              </a:spcAft>
              <a:buClr>
                <a:srgbClr val="FFFFFF"/>
              </a:buClr>
              <a:buSzPts val="1600"/>
              <a:buFont typeface="Fira Sans"/>
              <a:buChar char="●"/>
            </a:pPr>
            <a:r>
              <a:rPr lang="en" sz="1600">
                <a:solidFill>
                  <a:srgbClr val="FFFFFF"/>
                </a:solidFill>
              </a:rPr>
              <a:t>Examples of Probability use case</a:t>
            </a:r>
            <a:endParaRPr sz="1600">
              <a:solidFill>
                <a:srgbClr val="FFFFFF"/>
              </a:solidFill>
            </a:endParaRPr>
          </a:p>
        </p:txBody>
      </p:sp>
      <p:sp>
        <p:nvSpPr>
          <p:cNvPr id="319" name="Google Shape;319;p5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600">
                <a:solidFill>
                  <a:schemeClr val="lt1"/>
                </a:solidFill>
                <a:latin typeface="Fira Sans"/>
                <a:ea typeface="Fira Sans"/>
                <a:cs typeface="Fira Sans"/>
                <a:sym typeface="Fira Sans"/>
              </a:rPr>
              <a:t>At the most basic level, probability seeks to </a:t>
            </a:r>
            <a:r>
              <a:rPr lang="en" sz="1600">
                <a:solidFill>
                  <a:schemeClr val="lt1"/>
                </a:solidFill>
              </a:rPr>
              <a:t>quantify uncertainty. </a:t>
            </a:r>
            <a:endParaRPr sz="1600">
              <a:solidFill>
                <a:schemeClr val="lt1"/>
              </a:solidFill>
            </a:endParaRPr>
          </a:p>
          <a:p>
            <a:pPr indent="-330200" lvl="0" marL="457200" rtl="0" algn="l">
              <a:lnSpc>
                <a:spcPct val="150000"/>
              </a:lnSpc>
              <a:spcBef>
                <a:spcPts val="1200"/>
              </a:spcBef>
              <a:spcAft>
                <a:spcPts val="0"/>
              </a:spcAft>
              <a:buClr>
                <a:schemeClr val="lt1"/>
              </a:buClr>
              <a:buSzPts val="1600"/>
              <a:buChar char="●"/>
            </a:pPr>
            <a:r>
              <a:rPr lang="en" sz="1600">
                <a:solidFill>
                  <a:schemeClr val="lt1"/>
                </a:solidFill>
              </a:rPr>
              <a:t>How likely is it to rain on my vacation?</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How long will I have to wait at the stop light?</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What are the chances that my ML model makes a mistake?</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Can you think of an example?</a:t>
            </a:r>
            <a:endParaRPr sz="1600">
              <a:solidFill>
                <a:schemeClr val="lt1"/>
              </a:solidFill>
            </a:endParaRPr>
          </a:p>
          <a:p>
            <a:pPr indent="0" lvl="0" marL="0" rtl="0" algn="l">
              <a:lnSpc>
                <a:spcPct val="150000"/>
              </a:lnSpc>
              <a:spcBef>
                <a:spcPts val="1200"/>
              </a:spcBef>
              <a:spcAft>
                <a:spcPts val="1200"/>
              </a:spcAft>
              <a:buSzPts val="1946"/>
              <a:buNone/>
            </a:pPr>
            <a:r>
              <a:rPr lang="en" sz="1600">
                <a:solidFill>
                  <a:schemeClr val="lt1"/>
                </a:solidFill>
              </a:rPr>
              <a:t>The applications and interpretations are numerous, but we will focus on the parts that will be needed later for ML.</a:t>
            </a:r>
            <a:endParaRPr sz="1600">
              <a:solidFill>
                <a:schemeClr val="lt1"/>
              </a:solidFill>
            </a:endParaRPr>
          </a:p>
        </p:txBody>
      </p:sp>
      <p:sp>
        <p:nvSpPr>
          <p:cNvPr id="325" name="Google Shape;325;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326" name="Google Shape;326;p5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9"/>
          <p:cNvSpPr txBox="1"/>
          <p:nvPr>
            <p:ph idx="1" type="body"/>
          </p:nvPr>
        </p:nvSpPr>
        <p:spPr>
          <a:xfrm>
            <a:off x="205050" y="1017725"/>
            <a:ext cx="8651700" cy="38127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550">
                <a:solidFill>
                  <a:schemeClr val="lt1"/>
                </a:solidFill>
              </a:rPr>
              <a:t>Let's start with a case study: </a:t>
            </a:r>
            <a:br>
              <a:rPr lang="en" sz="1550">
                <a:solidFill>
                  <a:schemeClr val="lt1"/>
                </a:solidFill>
              </a:rPr>
            </a:br>
            <a:r>
              <a:rPr lang="en" sz="1550">
                <a:solidFill>
                  <a:schemeClr val="lt1"/>
                </a:solidFill>
              </a:rPr>
              <a:t>	Anna loves watching movies. She has a list of movies from different genres that she considers each evening. Today, she is choosing from the following movies/genres:</a:t>
            </a:r>
            <a:endParaRPr sz="1550">
              <a:solidFill>
                <a:schemeClr val="lt1"/>
              </a:solidFill>
            </a:endParaRPr>
          </a:p>
          <a:p>
            <a:pPr indent="0" lvl="0" marL="457200" marR="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946"/>
              <a:buNone/>
            </a:pPr>
            <a:r>
              <a:t/>
            </a:r>
            <a:endParaRPr sz="1600">
              <a:solidFill>
                <a:schemeClr val="lt1"/>
              </a:solidFill>
            </a:endParaRPr>
          </a:p>
        </p:txBody>
      </p:sp>
      <p:sp>
        <p:nvSpPr>
          <p:cNvPr id="332" name="Google Shape;332;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333" name="Google Shape;333;p5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334" name="Google Shape;334;p59"/>
          <p:cNvGrpSpPr/>
          <p:nvPr/>
        </p:nvGrpSpPr>
        <p:grpSpPr>
          <a:xfrm>
            <a:off x="379400" y="2260125"/>
            <a:ext cx="1288200" cy="774900"/>
            <a:chOff x="805600" y="2269975"/>
            <a:chExt cx="1288200" cy="774900"/>
          </a:xfrm>
        </p:grpSpPr>
        <p:sp>
          <p:nvSpPr>
            <p:cNvPr id="335" name="Google Shape;335;p59"/>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36" name="Google Shape;336;p59"/>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337" name="Google Shape;337;p59"/>
          <p:cNvGrpSpPr/>
          <p:nvPr/>
        </p:nvGrpSpPr>
        <p:grpSpPr>
          <a:xfrm>
            <a:off x="7611325" y="2260125"/>
            <a:ext cx="1288275" cy="774900"/>
            <a:chOff x="805525" y="2269975"/>
            <a:chExt cx="1288275" cy="774900"/>
          </a:xfrm>
        </p:grpSpPr>
        <p:sp>
          <p:nvSpPr>
            <p:cNvPr id="338" name="Google Shape;338;p59"/>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39" name="Google Shape;339;p59"/>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340" name="Google Shape;340;p59"/>
          <p:cNvGrpSpPr/>
          <p:nvPr/>
        </p:nvGrpSpPr>
        <p:grpSpPr>
          <a:xfrm>
            <a:off x="5088488" y="2260125"/>
            <a:ext cx="1288200" cy="774900"/>
            <a:chOff x="805600" y="2269975"/>
            <a:chExt cx="1288200" cy="774900"/>
          </a:xfrm>
        </p:grpSpPr>
        <p:sp>
          <p:nvSpPr>
            <p:cNvPr id="341" name="Google Shape;341;p59"/>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42" name="Google Shape;342;p59"/>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343" name="Google Shape;343;p59"/>
          <p:cNvGrpSpPr/>
          <p:nvPr/>
        </p:nvGrpSpPr>
        <p:grpSpPr>
          <a:xfrm>
            <a:off x="2565650" y="2260125"/>
            <a:ext cx="1288200" cy="774900"/>
            <a:chOff x="805600" y="2269975"/>
            <a:chExt cx="1288200" cy="774900"/>
          </a:xfrm>
        </p:grpSpPr>
        <p:sp>
          <p:nvSpPr>
            <p:cNvPr id="344" name="Google Shape;344;p59"/>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45" name="Google Shape;345;p59"/>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351" name="Google Shape;351;p6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352" name="Google Shape;352;p60"/>
          <p:cNvGrpSpPr/>
          <p:nvPr/>
        </p:nvGrpSpPr>
        <p:grpSpPr>
          <a:xfrm>
            <a:off x="379400" y="2260125"/>
            <a:ext cx="1288200" cy="774900"/>
            <a:chOff x="805600" y="2269975"/>
            <a:chExt cx="1288200" cy="774900"/>
          </a:xfrm>
        </p:grpSpPr>
        <p:sp>
          <p:nvSpPr>
            <p:cNvPr id="353" name="Google Shape;353;p60"/>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54" name="Google Shape;354;p60"/>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355" name="Google Shape;355;p60"/>
          <p:cNvGrpSpPr/>
          <p:nvPr/>
        </p:nvGrpSpPr>
        <p:grpSpPr>
          <a:xfrm>
            <a:off x="7611325" y="2260125"/>
            <a:ext cx="1288275" cy="774900"/>
            <a:chOff x="805525" y="2269975"/>
            <a:chExt cx="1288275" cy="774900"/>
          </a:xfrm>
        </p:grpSpPr>
        <p:sp>
          <p:nvSpPr>
            <p:cNvPr id="356" name="Google Shape;356;p60"/>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57" name="Google Shape;357;p60"/>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358" name="Google Shape;358;p60"/>
          <p:cNvGrpSpPr/>
          <p:nvPr/>
        </p:nvGrpSpPr>
        <p:grpSpPr>
          <a:xfrm>
            <a:off x="5088488" y="2260125"/>
            <a:ext cx="1288200" cy="774900"/>
            <a:chOff x="805600" y="2269975"/>
            <a:chExt cx="1288200" cy="774900"/>
          </a:xfrm>
        </p:grpSpPr>
        <p:sp>
          <p:nvSpPr>
            <p:cNvPr id="359" name="Google Shape;359;p60"/>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60" name="Google Shape;360;p60"/>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361" name="Google Shape;361;p60"/>
          <p:cNvGrpSpPr/>
          <p:nvPr/>
        </p:nvGrpSpPr>
        <p:grpSpPr>
          <a:xfrm>
            <a:off x="2565650" y="2260125"/>
            <a:ext cx="1288200" cy="774900"/>
            <a:chOff x="805600" y="2269975"/>
            <a:chExt cx="1288200" cy="774900"/>
          </a:xfrm>
        </p:grpSpPr>
        <p:sp>
          <p:nvSpPr>
            <p:cNvPr id="362" name="Google Shape;362;p60"/>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63" name="Google Shape;363;p60"/>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
        <p:nvSpPr>
          <p:cNvPr id="364" name="Google Shape;364;p60"/>
          <p:cNvSpPr txBox="1"/>
          <p:nvPr/>
        </p:nvSpPr>
        <p:spPr>
          <a:xfrm>
            <a:off x="87175" y="3190175"/>
            <a:ext cx="1997100" cy="671700"/>
          </a:xfrm>
          <a:prstGeom prst="rect">
            <a:avLst/>
          </a:prstGeom>
          <a:noFill/>
          <a:ln>
            <a:noFill/>
          </a:ln>
        </p:spPr>
        <p:txBody>
          <a:bodyPr anchorCtr="0" anchor="t" bIns="91425" lIns="91425" spcFirstLastPara="1" rIns="91425" wrap="square" tIns="91425">
            <a:spAutoFit/>
          </a:bodyPr>
          <a:lstStyle/>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"Mad Max"</a:t>
            </a:r>
            <a:endParaRPr b="0" i="0" sz="1265" u="none" cap="none" strike="noStrike">
              <a:solidFill>
                <a:srgbClr val="EA9999"/>
              </a:solidFill>
              <a:latin typeface="Fira Sans"/>
              <a:ea typeface="Fira Sans"/>
              <a:cs typeface="Fira Sans"/>
              <a:sym typeface="Fira Sans"/>
            </a:endParaRPr>
          </a:p>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"John Wick"</a:t>
            </a:r>
            <a:endParaRPr b="0" i="0" sz="300" u="none" cap="none" strike="noStrike">
              <a:solidFill>
                <a:srgbClr val="EA9999"/>
              </a:solidFill>
              <a:latin typeface="Fira Sans"/>
              <a:ea typeface="Fira Sans"/>
              <a:cs typeface="Fira Sans"/>
              <a:sym typeface="Fira Sans"/>
            </a:endParaRPr>
          </a:p>
        </p:txBody>
      </p:sp>
      <p:sp>
        <p:nvSpPr>
          <p:cNvPr id="365" name="Google Shape;365;p60"/>
          <p:cNvSpPr txBox="1"/>
          <p:nvPr>
            <p:ph idx="1" type="body"/>
          </p:nvPr>
        </p:nvSpPr>
        <p:spPr>
          <a:xfrm>
            <a:off x="205050" y="1017725"/>
            <a:ext cx="8651700" cy="38127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550">
                <a:solidFill>
                  <a:schemeClr val="lt1"/>
                </a:solidFill>
              </a:rPr>
              <a:t>Let's start with a case study: </a:t>
            </a:r>
            <a:br>
              <a:rPr lang="en" sz="1550">
                <a:solidFill>
                  <a:schemeClr val="lt1"/>
                </a:solidFill>
              </a:rPr>
            </a:br>
            <a:r>
              <a:rPr lang="en" sz="1550">
                <a:solidFill>
                  <a:schemeClr val="lt1"/>
                </a:solidFill>
              </a:rPr>
              <a:t>	Anna loves watching movies. She has a list of movies from different genres that she considers each evening. Today, she is choosing from the following movies/genres:</a:t>
            </a:r>
            <a:endParaRPr sz="1550">
              <a:solidFill>
                <a:schemeClr val="lt1"/>
              </a:solidFill>
            </a:endParaRPr>
          </a:p>
          <a:p>
            <a:pPr indent="0" lvl="0" marL="457200" marR="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946"/>
              <a:buNone/>
            </a:pPr>
            <a:r>
              <a:t/>
            </a:r>
            <a:endParaRPr sz="16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371" name="Google Shape;371;p6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372" name="Google Shape;372;p61"/>
          <p:cNvGrpSpPr/>
          <p:nvPr/>
        </p:nvGrpSpPr>
        <p:grpSpPr>
          <a:xfrm>
            <a:off x="379400" y="2260125"/>
            <a:ext cx="1288200" cy="774900"/>
            <a:chOff x="805600" y="2269975"/>
            <a:chExt cx="1288200" cy="774900"/>
          </a:xfrm>
        </p:grpSpPr>
        <p:sp>
          <p:nvSpPr>
            <p:cNvPr id="373" name="Google Shape;373;p61"/>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74" name="Google Shape;374;p61"/>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375" name="Google Shape;375;p61"/>
          <p:cNvGrpSpPr/>
          <p:nvPr/>
        </p:nvGrpSpPr>
        <p:grpSpPr>
          <a:xfrm>
            <a:off x="7611325" y="2260125"/>
            <a:ext cx="1288275" cy="774900"/>
            <a:chOff x="805525" y="2269975"/>
            <a:chExt cx="1288275" cy="774900"/>
          </a:xfrm>
        </p:grpSpPr>
        <p:sp>
          <p:nvSpPr>
            <p:cNvPr id="376" name="Google Shape;376;p61"/>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77" name="Google Shape;377;p61"/>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378" name="Google Shape;378;p61"/>
          <p:cNvGrpSpPr/>
          <p:nvPr/>
        </p:nvGrpSpPr>
        <p:grpSpPr>
          <a:xfrm>
            <a:off x="5088488" y="2260125"/>
            <a:ext cx="1288200" cy="774900"/>
            <a:chOff x="805600" y="2269975"/>
            <a:chExt cx="1288200" cy="774900"/>
          </a:xfrm>
        </p:grpSpPr>
        <p:sp>
          <p:nvSpPr>
            <p:cNvPr id="379" name="Google Shape;379;p61"/>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80" name="Google Shape;380;p61"/>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381" name="Google Shape;381;p61"/>
          <p:cNvGrpSpPr/>
          <p:nvPr/>
        </p:nvGrpSpPr>
        <p:grpSpPr>
          <a:xfrm>
            <a:off x="2565650" y="2260125"/>
            <a:ext cx="1288200" cy="774900"/>
            <a:chOff x="805600" y="2269975"/>
            <a:chExt cx="1288200" cy="774900"/>
          </a:xfrm>
        </p:grpSpPr>
        <p:sp>
          <p:nvSpPr>
            <p:cNvPr id="382" name="Google Shape;382;p61"/>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83" name="Google Shape;383;p61"/>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
        <p:nvSpPr>
          <p:cNvPr id="384" name="Google Shape;384;p61"/>
          <p:cNvSpPr txBox="1"/>
          <p:nvPr/>
        </p:nvSpPr>
        <p:spPr>
          <a:xfrm>
            <a:off x="87175" y="3190175"/>
            <a:ext cx="1997100" cy="671700"/>
          </a:xfrm>
          <a:prstGeom prst="rect">
            <a:avLst/>
          </a:prstGeom>
          <a:noFill/>
          <a:ln>
            <a:noFill/>
          </a:ln>
        </p:spPr>
        <p:txBody>
          <a:bodyPr anchorCtr="0" anchor="t" bIns="91425" lIns="91425" spcFirstLastPara="1" rIns="91425" wrap="square" tIns="91425">
            <a:spAutoFit/>
          </a:bodyPr>
          <a:lstStyle/>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"Mad Max"</a:t>
            </a:r>
            <a:endParaRPr b="0" i="0" sz="1265" u="none" cap="none" strike="noStrike">
              <a:solidFill>
                <a:srgbClr val="EA9999"/>
              </a:solidFill>
              <a:latin typeface="Fira Sans"/>
              <a:ea typeface="Fira Sans"/>
              <a:cs typeface="Fira Sans"/>
              <a:sym typeface="Fira Sans"/>
            </a:endParaRPr>
          </a:p>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"John Wick"</a:t>
            </a:r>
            <a:endParaRPr b="0" i="0" sz="300" u="none" cap="none" strike="noStrike">
              <a:solidFill>
                <a:srgbClr val="EA9999"/>
              </a:solidFill>
              <a:latin typeface="Fira Sans"/>
              <a:ea typeface="Fira Sans"/>
              <a:cs typeface="Fira Sans"/>
              <a:sym typeface="Fira Sans"/>
            </a:endParaRPr>
          </a:p>
        </p:txBody>
      </p:sp>
      <p:sp>
        <p:nvSpPr>
          <p:cNvPr id="385" name="Google Shape;385;p61"/>
          <p:cNvSpPr txBox="1"/>
          <p:nvPr/>
        </p:nvSpPr>
        <p:spPr>
          <a:xfrm>
            <a:off x="1707025" y="3190175"/>
            <a:ext cx="2831100" cy="963900"/>
          </a:xfrm>
          <a:prstGeom prst="rect">
            <a:avLst/>
          </a:prstGeom>
          <a:noFill/>
          <a:ln>
            <a:noFill/>
          </a:ln>
        </p:spPr>
        <p:txBody>
          <a:bodyPr anchorCtr="0" anchor="t" bIns="91425" lIns="91425" spcFirstLastPara="1" rIns="91425" wrap="square" tIns="91425">
            <a:spAutoFit/>
          </a:bodyPr>
          <a:lstStyle/>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"The Hangover"</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"Superbad"</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"Bridesmaids"</a:t>
            </a:r>
            <a:endParaRPr b="0" i="0" sz="400" u="none" cap="none" strike="noStrike">
              <a:solidFill>
                <a:srgbClr val="8FC03F"/>
              </a:solidFill>
              <a:latin typeface="Fira Sans"/>
              <a:ea typeface="Fira Sans"/>
              <a:cs typeface="Fira Sans"/>
              <a:sym typeface="Fira Sans"/>
            </a:endParaRPr>
          </a:p>
        </p:txBody>
      </p:sp>
      <p:sp>
        <p:nvSpPr>
          <p:cNvPr id="386" name="Google Shape;386;p61"/>
          <p:cNvSpPr txBox="1"/>
          <p:nvPr>
            <p:ph idx="1" type="body"/>
          </p:nvPr>
        </p:nvSpPr>
        <p:spPr>
          <a:xfrm>
            <a:off x="205050" y="1017725"/>
            <a:ext cx="8651700" cy="38127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550">
                <a:solidFill>
                  <a:schemeClr val="lt1"/>
                </a:solidFill>
              </a:rPr>
              <a:t>Let's start with a case study: </a:t>
            </a:r>
            <a:br>
              <a:rPr lang="en" sz="1550">
                <a:solidFill>
                  <a:schemeClr val="lt1"/>
                </a:solidFill>
              </a:rPr>
            </a:br>
            <a:r>
              <a:rPr lang="en" sz="1550">
                <a:solidFill>
                  <a:schemeClr val="lt1"/>
                </a:solidFill>
              </a:rPr>
              <a:t>	Anna loves watching movies. She has a list of movies from different genres that she considers each evening. Today, she is choosing from the following movies/genres:</a:t>
            </a:r>
            <a:endParaRPr sz="1550">
              <a:solidFill>
                <a:schemeClr val="lt1"/>
              </a:solidFill>
            </a:endParaRPr>
          </a:p>
          <a:p>
            <a:pPr indent="0" lvl="0" marL="457200" marR="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946"/>
              <a:buNone/>
            </a:pPr>
            <a:r>
              <a:t/>
            </a:r>
            <a:endParaRPr sz="1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392" name="Google Shape;392;p6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393" name="Google Shape;393;p62"/>
          <p:cNvGrpSpPr/>
          <p:nvPr/>
        </p:nvGrpSpPr>
        <p:grpSpPr>
          <a:xfrm>
            <a:off x="379400" y="2260125"/>
            <a:ext cx="1288200" cy="774900"/>
            <a:chOff x="805600" y="2269975"/>
            <a:chExt cx="1288200" cy="774900"/>
          </a:xfrm>
        </p:grpSpPr>
        <p:sp>
          <p:nvSpPr>
            <p:cNvPr id="394" name="Google Shape;394;p62"/>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95" name="Google Shape;395;p62"/>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396" name="Google Shape;396;p62"/>
          <p:cNvGrpSpPr/>
          <p:nvPr/>
        </p:nvGrpSpPr>
        <p:grpSpPr>
          <a:xfrm>
            <a:off x="7611325" y="2260125"/>
            <a:ext cx="1288275" cy="774900"/>
            <a:chOff x="805525" y="2269975"/>
            <a:chExt cx="1288275" cy="774900"/>
          </a:xfrm>
        </p:grpSpPr>
        <p:sp>
          <p:nvSpPr>
            <p:cNvPr id="397" name="Google Shape;397;p62"/>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398" name="Google Shape;398;p62"/>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399" name="Google Shape;399;p62"/>
          <p:cNvGrpSpPr/>
          <p:nvPr/>
        </p:nvGrpSpPr>
        <p:grpSpPr>
          <a:xfrm>
            <a:off x="5088488" y="2260125"/>
            <a:ext cx="1288200" cy="774900"/>
            <a:chOff x="805600" y="2269975"/>
            <a:chExt cx="1288200" cy="774900"/>
          </a:xfrm>
        </p:grpSpPr>
        <p:sp>
          <p:nvSpPr>
            <p:cNvPr id="400" name="Google Shape;400;p62"/>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01" name="Google Shape;401;p62"/>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402" name="Google Shape;402;p62"/>
          <p:cNvGrpSpPr/>
          <p:nvPr/>
        </p:nvGrpSpPr>
        <p:grpSpPr>
          <a:xfrm>
            <a:off x="2565650" y="2260125"/>
            <a:ext cx="1288200" cy="774900"/>
            <a:chOff x="805600" y="2269975"/>
            <a:chExt cx="1288200" cy="774900"/>
          </a:xfrm>
        </p:grpSpPr>
        <p:sp>
          <p:nvSpPr>
            <p:cNvPr id="403" name="Google Shape;403;p62"/>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04" name="Google Shape;404;p62"/>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
        <p:nvSpPr>
          <p:cNvPr id="405" name="Google Shape;405;p62"/>
          <p:cNvSpPr txBox="1"/>
          <p:nvPr/>
        </p:nvSpPr>
        <p:spPr>
          <a:xfrm>
            <a:off x="87175" y="3190175"/>
            <a:ext cx="1997100" cy="671700"/>
          </a:xfrm>
          <a:prstGeom prst="rect">
            <a:avLst/>
          </a:prstGeom>
          <a:noFill/>
          <a:ln>
            <a:noFill/>
          </a:ln>
        </p:spPr>
        <p:txBody>
          <a:bodyPr anchorCtr="0" anchor="t" bIns="91425" lIns="91425" spcFirstLastPara="1" rIns="91425" wrap="square" tIns="91425">
            <a:spAutoFit/>
          </a:bodyPr>
          <a:lstStyle/>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"Mad Max"</a:t>
            </a:r>
            <a:endParaRPr b="0" i="0" sz="1265" u="none" cap="none" strike="noStrike">
              <a:solidFill>
                <a:srgbClr val="EA9999"/>
              </a:solidFill>
              <a:latin typeface="Fira Sans"/>
              <a:ea typeface="Fira Sans"/>
              <a:cs typeface="Fira Sans"/>
              <a:sym typeface="Fira Sans"/>
            </a:endParaRPr>
          </a:p>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"John Wick"</a:t>
            </a:r>
            <a:endParaRPr b="0" i="0" sz="300" u="none" cap="none" strike="noStrike">
              <a:solidFill>
                <a:srgbClr val="EA9999"/>
              </a:solidFill>
              <a:latin typeface="Fira Sans"/>
              <a:ea typeface="Fira Sans"/>
              <a:cs typeface="Fira Sans"/>
              <a:sym typeface="Fira Sans"/>
            </a:endParaRPr>
          </a:p>
        </p:txBody>
      </p:sp>
      <p:sp>
        <p:nvSpPr>
          <p:cNvPr id="406" name="Google Shape;406;p62"/>
          <p:cNvSpPr txBox="1"/>
          <p:nvPr/>
        </p:nvSpPr>
        <p:spPr>
          <a:xfrm>
            <a:off x="4127700" y="3190175"/>
            <a:ext cx="3019200" cy="1255800"/>
          </a:xfrm>
          <a:prstGeom prst="rect">
            <a:avLst/>
          </a:prstGeom>
          <a:noFill/>
          <a:ln>
            <a:noFill/>
          </a:ln>
        </p:spPr>
        <p:txBody>
          <a:bodyPr anchorCtr="0" anchor="t" bIns="91425" lIns="91425" spcFirstLastPara="1" rIns="91425" wrap="square" tIns="91425">
            <a:spAutoFit/>
          </a:bodyPr>
          <a:lstStyle/>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"Shawshank Redemption"</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"Forrest Gump"</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"The Godfather"</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"Schindler's List"</a:t>
            </a:r>
            <a:endParaRPr b="0" i="0" sz="500" u="none" cap="none" strike="noStrike">
              <a:solidFill>
                <a:srgbClr val="00B0F0"/>
              </a:solidFill>
              <a:latin typeface="Fira Sans"/>
              <a:ea typeface="Fira Sans"/>
              <a:cs typeface="Fira Sans"/>
              <a:sym typeface="Fira Sans"/>
            </a:endParaRPr>
          </a:p>
        </p:txBody>
      </p:sp>
      <p:sp>
        <p:nvSpPr>
          <p:cNvPr id="407" name="Google Shape;407;p62"/>
          <p:cNvSpPr txBox="1"/>
          <p:nvPr/>
        </p:nvSpPr>
        <p:spPr>
          <a:xfrm>
            <a:off x="1707025" y="3190175"/>
            <a:ext cx="2831100" cy="963900"/>
          </a:xfrm>
          <a:prstGeom prst="rect">
            <a:avLst/>
          </a:prstGeom>
          <a:noFill/>
          <a:ln>
            <a:noFill/>
          </a:ln>
        </p:spPr>
        <p:txBody>
          <a:bodyPr anchorCtr="0" anchor="t" bIns="91425" lIns="91425" spcFirstLastPara="1" rIns="91425" wrap="square" tIns="91425">
            <a:spAutoFit/>
          </a:bodyPr>
          <a:lstStyle/>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"The Hangover"</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"Superbad"</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"Bridesmaids"</a:t>
            </a:r>
            <a:endParaRPr b="0" i="0" sz="400" u="none" cap="none" strike="noStrike">
              <a:solidFill>
                <a:srgbClr val="8FC03F"/>
              </a:solidFill>
              <a:latin typeface="Fira Sans"/>
              <a:ea typeface="Fira Sans"/>
              <a:cs typeface="Fira Sans"/>
              <a:sym typeface="Fira Sans"/>
            </a:endParaRPr>
          </a:p>
        </p:txBody>
      </p:sp>
      <p:sp>
        <p:nvSpPr>
          <p:cNvPr id="408" name="Google Shape;408;p62"/>
          <p:cNvSpPr txBox="1"/>
          <p:nvPr>
            <p:ph idx="1" type="body"/>
          </p:nvPr>
        </p:nvSpPr>
        <p:spPr>
          <a:xfrm>
            <a:off x="205050" y="1017725"/>
            <a:ext cx="8651700" cy="38127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550">
                <a:solidFill>
                  <a:schemeClr val="lt1"/>
                </a:solidFill>
              </a:rPr>
              <a:t>Let's start with a case study: </a:t>
            </a:r>
            <a:br>
              <a:rPr lang="en" sz="1550">
                <a:solidFill>
                  <a:schemeClr val="lt1"/>
                </a:solidFill>
              </a:rPr>
            </a:br>
            <a:r>
              <a:rPr lang="en" sz="1550">
                <a:solidFill>
                  <a:schemeClr val="lt1"/>
                </a:solidFill>
              </a:rPr>
              <a:t>	Anna loves watching movies. She has a list of movies from different genres that she considers each evening. Today, she is choosing from the following movies/genres:</a:t>
            </a:r>
            <a:endParaRPr sz="1550">
              <a:solidFill>
                <a:schemeClr val="lt1"/>
              </a:solidFill>
            </a:endParaRPr>
          </a:p>
          <a:p>
            <a:pPr indent="0" lvl="0" marL="457200" marR="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946"/>
              <a:buNone/>
            </a:pPr>
            <a:r>
              <a:t/>
            </a:r>
            <a:endParaRPr sz="1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Intro</a:t>
            </a:r>
            <a:endParaRPr/>
          </a:p>
        </p:txBody>
      </p:sp>
      <p:sp>
        <p:nvSpPr>
          <p:cNvPr id="414" name="Google Shape;414;p6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415" name="Google Shape;415;p63"/>
          <p:cNvGrpSpPr/>
          <p:nvPr/>
        </p:nvGrpSpPr>
        <p:grpSpPr>
          <a:xfrm>
            <a:off x="379400" y="2260125"/>
            <a:ext cx="1288200" cy="774900"/>
            <a:chOff x="805600" y="2269975"/>
            <a:chExt cx="1288200" cy="774900"/>
          </a:xfrm>
        </p:grpSpPr>
        <p:sp>
          <p:nvSpPr>
            <p:cNvPr id="416" name="Google Shape;416;p63"/>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17" name="Google Shape;417;p63"/>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418" name="Google Shape;418;p63"/>
          <p:cNvGrpSpPr/>
          <p:nvPr/>
        </p:nvGrpSpPr>
        <p:grpSpPr>
          <a:xfrm>
            <a:off x="7611325" y="2260125"/>
            <a:ext cx="1288275" cy="774900"/>
            <a:chOff x="805525" y="2269975"/>
            <a:chExt cx="1288275" cy="774900"/>
          </a:xfrm>
        </p:grpSpPr>
        <p:sp>
          <p:nvSpPr>
            <p:cNvPr id="419" name="Google Shape;419;p63"/>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20" name="Google Shape;420;p63"/>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421" name="Google Shape;421;p63"/>
          <p:cNvGrpSpPr/>
          <p:nvPr/>
        </p:nvGrpSpPr>
        <p:grpSpPr>
          <a:xfrm>
            <a:off x="5088488" y="2260125"/>
            <a:ext cx="1288200" cy="774900"/>
            <a:chOff x="805600" y="2269975"/>
            <a:chExt cx="1288200" cy="774900"/>
          </a:xfrm>
        </p:grpSpPr>
        <p:sp>
          <p:nvSpPr>
            <p:cNvPr id="422" name="Google Shape;422;p63"/>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23" name="Google Shape;423;p63"/>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424" name="Google Shape;424;p63"/>
          <p:cNvGrpSpPr/>
          <p:nvPr/>
        </p:nvGrpSpPr>
        <p:grpSpPr>
          <a:xfrm>
            <a:off x="2565650" y="2260125"/>
            <a:ext cx="1288200" cy="774900"/>
            <a:chOff x="805600" y="2269975"/>
            <a:chExt cx="1288200" cy="774900"/>
          </a:xfrm>
        </p:grpSpPr>
        <p:sp>
          <p:nvSpPr>
            <p:cNvPr id="425" name="Google Shape;425;p63"/>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26" name="Google Shape;426;p63"/>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
        <p:nvSpPr>
          <p:cNvPr id="427" name="Google Shape;427;p63"/>
          <p:cNvSpPr txBox="1"/>
          <p:nvPr/>
        </p:nvSpPr>
        <p:spPr>
          <a:xfrm>
            <a:off x="87175" y="3190175"/>
            <a:ext cx="1997100" cy="671700"/>
          </a:xfrm>
          <a:prstGeom prst="rect">
            <a:avLst/>
          </a:prstGeom>
          <a:noFill/>
          <a:ln>
            <a:noFill/>
          </a:ln>
        </p:spPr>
        <p:txBody>
          <a:bodyPr anchorCtr="0" anchor="t" bIns="91425" lIns="91425" spcFirstLastPara="1" rIns="91425" wrap="square" tIns="91425">
            <a:spAutoFit/>
          </a:bodyPr>
          <a:lstStyle/>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"Mad Max"</a:t>
            </a:r>
            <a:endParaRPr b="0" i="0" sz="1265" u="none" cap="none" strike="noStrike">
              <a:solidFill>
                <a:srgbClr val="EA9999"/>
              </a:solidFill>
              <a:latin typeface="Fira Sans"/>
              <a:ea typeface="Fira Sans"/>
              <a:cs typeface="Fira Sans"/>
              <a:sym typeface="Fira Sans"/>
            </a:endParaRPr>
          </a:p>
          <a:p>
            <a:pPr indent="-308951" lvl="0" marL="457200" marR="0" rtl="0" algn="l">
              <a:lnSpc>
                <a:spcPct val="150000"/>
              </a:lnSpc>
              <a:spcBef>
                <a:spcPts val="0"/>
              </a:spcBef>
              <a:spcAft>
                <a:spcPts val="0"/>
              </a:spcAft>
              <a:buClr>
                <a:srgbClr val="EA9999"/>
              </a:buClr>
              <a:buSzPts val="1265"/>
              <a:buFont typeface="Fira Sans"/>
              <a:buAutoNum type="arabicPeriod"/>
            </a:pPr>
            <a:r>
              <a:rPr b="0" i="0" lang="en" sz="1265" u="none" cap="none" strike="noStrike">
                <a:solidFill>
                  <a:srgbClr val="EA9999"/>
                </a:solidFill>
                <a:latin typeface="Fira Sans"/>
                <a:ea typeface="Fira Sans"/>
                <a:cs typeface="Fira Sans"/>
                <a:sym typeface="Fira Sans"/>
              </a:rPr>
              <a:t>"John Wick"</a:t>
            </a:r>
            <a:endParaRPr b="0" i="0" sz="300" u="none" cap="none" strike="noStrike">
              <a:solidFill>
                <a:srgbClr val="EA9999"/>
              </a:solidFill>
              <a:latin typeface="Fira Sans"/>
              <a:ea typeface="Fira Sans"/>
              <a:cs typeface="Fira Sans"/>
              <a:sym typeface="Fira Sans"/>
            </a:endParaRPr>
          </a:p>
        </p:txBody>
      </p:sp>
      <p:sp>
        <p:nvSpPr>
          <p:cNvPr id="428" name="Google Shape;428;p63"/>
          <p:cNvSpPr txBox="1"/>
          <p:nvPr/>
        </p:nvSpPr>
        <p:spPr>
          <a:xfrm>
            <a:off x="7382825" y="3255250"/>
            <a:ext cx="1997100" cy="379500"/>
          </a:xfrm>
          <a:prstGeom prst="rect">
            <a:avLst/>
          </a:prstGeom>
          <a:noFill/>
          <a:ln>
            <a:noFill/>
          </a:ln>
        </p:spPr>
        <p:txBody>
          <a:bodyPr anchorCtr="0" anchor="t" bIns="91425" lIns="91425" spcFirstLastPara="1" rIns="91425" wrap="square" tIns="91425">
            <a:spAutoFit/>
          </a:bodyPr>
          <a:lstStyle/>
          <a:p>
            <a:pPr indent="-308951" lvl="0" marL="457200" marR="0" rtl="0" algn="l">
              <a:lnSpc>
                <a:spcPct val="150000"/>
              </a:lnSpc>
              <a:spcBef>
                <a:spcPts val="0"/>
              </a:spcBef>
              <a:spcAft>
                <a:spcPts val="0"/>
              </a:spcAft>
              <a:buClr>
                <a:srgbClr val="FBB831"/>
              </a:buClr>
              <a:buSzPts val="1265"/>
              <a:buFont typeface="Fira Sans"/>
              <a:buAutoNum type="arabicPeriod"/>
            </a:pPr>
            <a:r>
              <a:rPr b="0" i="0" lang="en" sz="1265" u="none" cap="none" strike="noStrike">
                <a:solidFill>
                  <a:srgbClr val="FBB831"/>
                </a:solidFill>
                <a:latin typeface="Fira Sans"/>
                <a:ea typeface="Fira Sans"/>
                <a:cs typeface="Fira Sans"/>
                <a:sym typeface="Fira Sans"/>
              </a:rPr>
              <a:t>"13th"</a:t>
            </a:r>
            <a:endParaRPr b="0" i="0" sz="100" u="none" cap="none" strike="noStrike">
              <a:solidFill>
                <a:srgbClr val="FBB831"/>
              </a:solidFill>
              <a:latin typeface="Fira Sans"/>
              <a:ea typeface="Fira Sans"/>
              <a:cs typeface="Fira Sans"/>
              <a:sym typeface="Fira Sans"/>
            </a:endParaRPr>
          </a:p>
        </p:txBody>
      </p:sp>
      <p:sp>
        <p:nvSpPr>
          <p:cNvPr id="429" name="Google Shape;429;p63"/>
          <p:cNvSpPr txBox="1"/>
          <p:nvPr/>
        </p:nvSpPr>
        <p:spPr>
          <a:xfrm>
            <a:off x="4127700" y="3190175"/>
            <a:ext cx="3019200" cy="1255800"/>
          </a:xfrm>
          <a:prstGeom prst="rect">
            <a:avLst/>
          </a:prstGeom>
          <a:noFill/>
          <a:ln>
            <a:noFill/>
          </a:ln>
        </p:spPr>
        <p:txBody>
          <a:bodyPr anchorCtr="0" anchor="t" bIns="91425" lIns="91425" spcFirstLastPara="1" rIns="91425" wrap="square" tIns="91425">
            <a:spAutoFit/>
          </a:bodyPr>
          <a:lstStyle/>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"Shawshank Redemption"</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"Forrest Gump"</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"The Godfather"</a:t>
            </a:r>
            <a:endParaRPr b="0" i="0" sz="1265" u="none" cap="none" strike="noStrike">
              <a:solidFill>
                <a:srgbClr val="00B0F0"/>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00B0F0"/>
              </a:buClr>
              <a:buSzPts val="1265"/>
              <a:buFont typeface="Fira Sans"/>
              <a:buAutoNum type="arabicPeriod"/>
            </a:pPr>
            <a:r>
              <a:rPr b="0" i="0" lang="en" sz="1265" u="none" cap="none" strike="noStrike">
                <a:solidFill>
                  <a:srgbClr val="00B0F0"/>
                </a:solidFill>
                <a:latin typeface="Fira Sans"/>
                <a:ea typeface="Fira Sans"/>
                <a:cs typeface="Fira Sans"/>
                <a:sym typeface="Fira Sans"/>
              </a:rPr>
              <a:t>"Schindler's List"</a:t>
            </a:r>
            <a:endParaRPr b="0" i="0" sz="500" u="none" cap="none" strike="noStrike">
              <a:solidFill>
                <a:srgbClr val="00B0F0"/>
              </a:solidFill>
              <a:latin typeface="Fira Sans"/>
              <a:ea typeface="Fira Sans"/>
              <a:cs typeface="Fira Sans"/>
              <a:sym typeface="Fira Sans"/>
            </a:endParaRPr>
          </a:p>
        </p:txBody>
      </p:sp>
      <p:sp>
        <p:nvSpPr>
          <p:cNvPr id="430" name="Google Shape;430;p63"/>
          <p:cNvSpPr txBox="1"/>
          <p:nvPr/>
        </p:nvSpPr>
        <p:spPr>
          <a:xfrm>
            <a:off x="1707025" y="3190175"/>
            <a:ext cx="2831100" cy="963900"/>
          </a:xfrm>
          <a:prstGeom prst="rect">
            <a:avLst/>
          </a:prstGeom>
          <a:noFill/>
          <a:ln>
            <a:noFill/>
          </a:ln>
        </p:spPr>
        <p:txBody>
          <a:bodyPr anchorCtr="0" anchor="t" bIns="91425" lIns="91425" spcFirstLastPara="1" rIns="91425" wrap="square" tIns="91425">
            <a:spAutoFit/>
          </a:bodyPr>
          <a:lstStyle/>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"The Hangover"</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"Superbad"</a:t>
            </a:r>
            <a:endParaRPr b="0" i="0" sz="1265" u="none" cap="none" strike="noStrike">
              <a:solidFill>
                <a:srgbClr val="8FC03F"/>
              </a:solidFill>
              <a:latin typeface="Fira Sans"/>
              <a:ea typeface="Fira Sans"/>
              <a:cs typeface="Fira Sans"/>
              <a:sym typeface="Fira Sans"/>
            </a:endParaRPr>
          </a:p>
          <a:p>
            <a:pPr indent="-308951" lvl="0" marL="914400" marR="0" rtl="0" algn="l">
              <a:lnSpc>
                <a:spcPct val="150000"/>
              </a:lnSpc>
              <a:spcBef>
                <a:spcPts val="0"/>
              </a:spcBef>
              <a:spcAft>
                <a:spcPts val="0"/>
              </a:spcAft>
              <a:buClr>
                <a:srgbClr val="8FC03F"/>
              </a:buClr>
              <a:buSzPts val="1265"/>
              <a:buFont typeface="Fira Sans"/>
              <a:buAutoNum type="arabicPeriod"/>
            </a:pPr>
            <a:r>
              <a:rPr b="0" i="0" lang="en" sz="1265" u="none" cap="none" strike="noStrike">
                <a:solidFill>
                  <a:srgbClr val="8FC03F"/>
                </a:solidFill>
                <a:latin typeface="Fira Sans"/>
                <a:ea typeface="Fira Sans"/>
                <a:cs typeface="Fira Sans"/>
                <a:sym typeface="Fira Sans"/>
              </a:rPr>
              <a:t>"Bridesmaids"</a:t>
            </a:r>
            <a:endParaRPr b="0" i="0" sz="400" u="none" cap="none" strike="noStrike">
              <a:solidFill>
                <a:srgbClr val="8FC03F"/>
              </a:solidFill>
              <a:latin typeface="Fira Sans"/>
              <a:ea typeface="Fira Sans"/>
              <a:cs typeface="Fira Sans"/>
              <a:sym typeface="Fira Sans"/>
            </a:endParaRPr>
          </a:p>
        </p:txBody>
      </p:sp>
      <p:sp>
        <p:nvSpPr>
          <p:cNvPr id="431" name="Google Shape;431;p63"/>
          <p:cNvSpPr txBox="1"/>
          <p:nvPr>
            <p:ph idx="1" type="body"/>
          </p:nvPr>
        </p:nvSpPr>
        <p:spPr>
          <a:xfrm>
            <a:off x="205050" y="1017725"/>
            <a:ext cx="8651700" cy="38127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946"/>
              <a:buNone/>
            </a:pPr>
            <a:r>
              <a:rPr lang="en" sz="1550">
                <a:solidFill>
                  <a:schemeClr val="lt1"/>
                </a:solidFill>
              </a:rPr>
              <a:t>Let's start with a case study: </a:t>
            </a:r>
            <a:br>
              <a:rPr lang="en" sz="1550">
                <a:solidFill>
                  <a:schemeClr val="lt1"/>
                </a:solidFill>
              </a:rPr>
            </a:br>
            <a:r>
              <a:rPr lang="en" sz="1550">
                <a:solidFill>
                  <a:schemeClr val="lt1"/>
                </a:solidFill>
              </a:rPr>
              <a:t>	Anna loves watching movies. She has a list of movies from different genres that she considers each evening. Today, she is choosing from the following movies/genres:</a:t>
            </a:r>
            <a:endParaRPr sz="1550">
              <a:solidFill>
                <a:schemeClr val="lt1"/>
              </a:solidFill>
            </a:endParaRPr>
          </a:p>
          <a:p>
            <a:pPr indent="0" lvl="0" marL="457200" marR="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946"/>
              <a:buNone/>
            </a:pPr>
            <a:r>
              <a:t/>
            </a:r>
            <a:endParaRPr sz="1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Key Concepts</a:t>
            </a:r>
            <a:endParaRPr/>
          </a:p>
        </p:txBody>
      </p:sp>
      <p:sp>
        <p:nvSpPr>
          <p:cNvPr id="437" name="Google Shape;437;p6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1200"/>
              </a:spcAft>
              <a:buSzPts val="1800"/>
              <a:buNone/>
            </a:pPr>
            <a:r>
              <a:rPr lang="en" sz="1600">
                <a:solidFill>
                  <a:schemeClr val="lt1"/>
                </a:solidFill>
              </a:rPr>
              <a:t>Keeping in mind the Anna’s movie/genre example, lets learn about some important concepts used in probability</a:t>
            </a:r>
            <a:endParaRPr sz="1600">
              <a:solidFill>
                <a:schemeClr val="lt1"/>
              </a:solidFill>
            </a:endParaRPr>
          </a:p>
        </p:txBody>
      </p:sp>
      <p:sp>
        <p:nvSpPr>
          <p:cNvPr id="438" name="Google Shape;438;p6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Sample Space</a:t>
            </a:r>
            <a:endParaRPr/>
          </a:p>
        </p:txBody>
      </p:sp>
      <p:sp>
        <p:nvSpPr>
          <p:cNvPr id="444" name="Google Shape;444;p6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sample space is the set of all possible outcomes. For Anna, this represents all the movies she might choose to watch.</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445" name="Google Shape;445;p6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46" name="Google Shape;446;p65"/>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47" name="Google Shape;447;p65"/>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grpSp>
        <p:nvGrpSpPr>
          <p:cNvPr id="448" name="Google Shape;448;p65"/>
          <p:cNvGrpSpPr/>
          <p:nvPr/>
        </p:nvGrpSpPr>
        <p:grpSpPr>
          <a:xfrm>
            <a:off x="5473513" y="2655475"/>
            <a:ext cx="1288200" cy="774900"/>
            <a:chOff x="805600" y="2269975"/>
            <a:chExt cx="1288200" cy="774900"/>
          </a:xfrm>
        </p:grpSpPr>
        <p:sp>
          <p:nvSpPr>
            <p:cNvPr id="449" name="Google Shape;449;p65"/>
            <p:cNvSpPr/>
            <p:nvPr/>
          </p:nvSpPr>
          <p:spPr>
            <a:xfrm>
              <a:off x="805600" y="2269975"/>
              <a:ext cx="1288200" cy="774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50" name="Google Shape;450;p65"/>
            <p:cNvSpPr txBox="1"/>
            <p:nvPr/>
          </p:nvSpPr>
          <p:spPr>
            <a:xfrm>
              <a:off x="858800" y="2364925"/>
              <a:ext cx="11043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Action Movies</a:t>
              </a:r>
              <a:endParaRPr b="0" i="0" sz="1300" u="none" cap="none" strike="noStrike">
                <a:solidFill>
                  <a:srgbClr val="FFFFFF"/>
                </a:solidFill>
                <a:latin typeface="Fira Sans"/>
                <a:ea typeface="Fira Sans"/>
                <a:cs typeface="Fira Sans"/>
                <a:sym typeface="Fira Sans"/>
              </a:endParaRPr>
            </a:p>
          </p:txBody>
        </p:sp>
      </p:grpSp>
      <p:grpSp>
        <p:nvGrpSpPr>
          <p:cNvPr id="451" name="Google Shape;451;p65"/>
          <p:cNvGrpSpPr/>
          <p:nvPr/>
        </p:nvGrpSpPr>
        <p:grpSpPr>
          <a:xfrm>
            <a:off x="6814613" y="3560175"/>
            <a:ext cx="1288275" cy="774900"/>
            <a:chOff x="805525" y="2269975"/>
            <a:chExt cx="1288275" cy="774900"/>
          </a:xfrm>
        </p:grpSpPr>
        <p:sp>
          <p:nvSpPr>
            <p:cNvPr id="452" name="Google Shape;452;p65"/>
            <p:cNvSpPr/>
            <p:nvPr/>
          </p:nvSpPr>
          <p:spPr>
            <a:xfrm>
              <a:off x="805600" y="2269975"/>
              <a:ext cx="1288200" cy="7749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53" name="Google Shape;453;p65"/>
            <p:cNvSpPr txBox="1"/>
            <p:nvPr/>
          </p:nvSpPr>
          <p:spPr>
            <a:xfrm>
              <a:off x="805525" y="2464975"/>
              <a:ext cx="1288200" cy="384900"/>
            </a:xfrm>
            <a:prstGeom prst="rect">
              <a:avLst/>
            </a:prstGeom>
            <a:solidFill>
              <a:srgbClr val="F1C23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Documentary</a:t>
              </a:r>
              <a:endParaRPr b="0" i="0" sz="1300" u="none" cap="none" strike="noStrike">
                <a:solidFill>
                  <a:srgbClr val="FFFFFF"/>
                </a:solidFill>
                <a:latin typeface="Fira Sans"/>
                <a:ea typeface="Fira Sans"/>
                <a:cs typeface="Fira Sans"/>
                <a:sym typeface="Fira Sans"/>
              </a:endParaRPr>
            </a:p>
          </p:txBody>
        </p:sp>
      </p:grpSp>
      <p:grpSp>
        <p:nvGrpSpPr>
          <p:cNvPr id="454" name="Google Shape;454;p65"/>
          <p:cNvGrpSpPr/>
          <p:nvPr/>
        </p:nvGrpSpPr>
        <p:grpSpPr>
          <a:xfrm>
            <a:off x="5473500" y="3560175"/>
            <a:ext cx="1288200" cy="774900"/>
            <a:chOff x="805600" y="2269975"/>
            <a:chExt cx="1288200" cy="774900"/>
          </a:xfrm>
        </p:grpSpPr>
        <p:sp>
          <p:nvSpPr>
            <p:cNvPr id="455" name="Google Shape;455;p65"/>
            <p:cNvSpPr/>
            <p:nvPr/>
          </p:nvSpPr>
          <p:spPr>
            <a:xfrm>
              <a:off x="805600" y="2269975"/>
              <a:ext cx="1288200" cy="774900"/>
            </a:xfrm>
            <a:prstGeom prst="roundRect">
              <a:avLst>
                <a:gd fmla="val 16667" name="adj"/>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56" name="Google Shape;456;p65"/>
            <p:cNvSpPr txBox="1"/>
            <p:nvPr/>
          </p:nvSpPr>
          <p:spPr>
            <a:xfrm>
              <a:off x="924688" y="2464975"/>
              <a:ext cx="1104300" cy="384900"/>
            </a:xfrm>
            <a:prstGeom prst="rect">
              <a:avLst/>
            </a:prstGeom>
            <a:solidFill>
              <a:srgbClr val="3896D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Dramas</a:t>
              </a:r>
              <a:endParaRPr b="0" i="0" sz="800" u="none" cap="none" strike="noStrike">
                <a:solidFill>
                  <a:srgbClr val="FFFFFF"/>
                </a:solidFill>
                <a:latin typeface="Fira Sans"/>
                <a:ea typeface="Fira Sans"/>
                <a:cs typeface="Fira Sans"/>
                <a:sym typeface="Fira Sans"/>
              </a:endParaRPr>
            </a:p>
          </p:txBody>
        </p:sp>
      </p:grpSp>
      <p:grpSp>
        <p:nvGrpSpPr>
          <p:cNvPr id="457" name="Google Shape;457;p65"/>
          <p:cNvGrpSpPr/>
          <p:nvPr/>
        </p:nvGrpSpPr>
        <p:grpSpPr>
          <a:xfrm>
            <a:off x="6814650" y="2655475"/>
            <a:ext cx="1288200" cy="774900"/>
            <a:chOff x="805600" y="2269975"/>
            <a:chExt cx="1288200" cy="774900"/>
          </a:xfrm>
        </p:grpSpPr>
        <p:sp>
          <p:nvSpPr>
            <p:cNvPr id="458" name="Google Shape;458;p65"/>
            <p:cNvSpPr/>
            <p:nvPr/>
          </p:nvSpPr>
          <p:spPr>
            <a:xfrm>
              <a:off x="805600" y="2269975"/>
              <a:ext cx="1288200" cy="774900"/>
            </a:xfrm>
            <a:prstGeom prst="roundRect">
              <a:avLst>
                <a:gd fmla="val 16667" name="adj"/>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59" name="Google Shape;459;p65"/>
            <p:cNvSpPr txBox="1"/>
            <p:nvPr/>
          </p:nvSpPr>
          <p:spPr>
            <a:xfrm>
              <a:off x="897550" y="2464975"/>
              <a:ext cx="1104300" cy="384900"/>
            </a:xfrm>
            <a:prstGeom prst="rect">
              <a:avLst/>
            </a:prstGeom>
            <a:solidFill>
              <a:srgbClr val="8FC03F"/>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Fira Sans"/>
                  <a:ea typeface="Fira Sans"/>
                  <a:cs typeface="Fira Sans"/>
                  <a:sym typeface="Fira Sans"/>
                </a:rPr>
                <a:t>Comedies</a:t>
              </a:r>
              <a:endParaRPr b="0" i="0" sz="13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65" name="Google Shape;465;p66"/>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66" name="Google Shape;466;p66"/>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467" name="Google Shape;467;p66"/>
          <p:cNvSpPr txBox="1"/>
          <p:nvPr/>
        </p:nvSpPr>
        <p:spPr>
          <a:xfrm>
            <a:off x="5465100" y="2624838"/>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Shawshank Redemption</a:t>
            </a:r>
            <a:endParaRPr b="0" i="0" sz="1200" u="none" cap="none" strike="noStrike">
              <a:solidFill>
                <a:srgbClr val="00B0F0"/>
              </a:solidFill>
              <a:latin typeface="Fira Sans"/>
              <a:ea typeface="Fira Sans"/>
              <a:cs typeface="Fira Sans"/>
              <a:sym typeface="Fira Sans"/>
            </a:endParaRPr>
          </a:p>
        </p:txBody>
      </p:sp>
      <p:sp>
        <p:nvSpPr>
          <p:cNvPr id="468" name="Google Shape;468;p66"/>
          <p:cNvSpPr txBox="1"/>
          <p:nvPr/>
        </p:nvSpPr>
        <p:spPr>
          <a:xfrm>
            <a:off x="6857025" y="34199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BB831"/>
                </a:solidFill>
                <a:latin typeface="Fira Sans"/>
                <a:ea typeface="Fira Sans"/>
                <a:cs typeface="Fira Sans"/>
                <a:sym typeface="Fira Sans"/>
              </a:rPr>
              <a:t>13TH </a:t>
            </a:r>
            <a:endParaRPr b="0" i="0" sz="1200" u="none" cap="none" strike="noStrike">
              <a:solidFill>
                <a:srgbClr val="FBB831"/>
              </a:solidFill>
              <a:latin typeface="Fira Sans"/>
              <a:ea typeface="Fira Sans"/>
              <a:cs typeface="Fira Sans"/>
              <a:sym typeface="Fira Sans"/>
            </a:endParaRPr>
          </a:p>
        </p:txBody>
      </p:sp>
      <p:sp>
        <p:nvSpPr>
          <p:cNvPr id="469" name="Google Shape;469;p66"/>
          <p:cNvSpPr txBox="1"/>
          <p:nvPr/>
        </p:nvSpPr>
        <p:spPr>
          <a:xfrm>
            <a:off x="6857025" y="383600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Bridesmaids</a:t>
            </a:r>
            <a:endParaRPr b="0" i="0" sz="1200" u="none" cap="none" strike="noStrike">
              <a:solidFill>
                <a:srgbClr val="8FC03F"/>
              </a:solidFill>
              <a:latin typeface="Fira Sans"/>
              <a:ea typeface="Fira Sans"/>
              <a:cs typeface="Fira Sans"/>
              <a:sym typeface="Fira Sans"/>
            </a:endParaRPr>
          </a:p>
        </p:txBody>
      </p:sp>
      <p:sp>
        <p:nvSpPr>
          <p:cNvPr id="470" name="Google Shape;470;p66"/>
          <p:cNvSpPr txBox="1"/>
          <p:nvPr/>
        </p:nvSpPr>
        <p:spPr>
          <a:xfrm>
            <a:off x="5832850" y="43958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Forrest Gump</a:t>
            </a:r>
            <a:endParaRPr b="0" i="0" sz="1200" u="none" cap="none" strike="noStrike">
              <a:solidFill>
                <a:srgbClr val="00B0F0"/>
              </a:solidFill>
              <a:latin typeface="Fira Sans"/>
              <a:ea typeface="Fira Sans"/>
              <a:cs typeface="Fira Sans"/>
              <a:sym typeface="Fira Sans"/>
            </a:endParaRPr>
          </a:p>
        </p:txBody>
      </p:sp>
      <p:sp>
        <p:nvSpPr>
          <p:cNvPr id="471" name="Google Shape;471;p66"/>
          <p:cNvSpPr txBox="1"/>
          <p:nvPr/>
        </p:nvSpPr>
        <p:spPr>
          <a:xfrm>
            <a:off x="5465100" y="3252500"/>
            <a:ext cx="1074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John Wick</a:t>
            </a:r>
            <a:endParaRPr b="0" i="0" sz="1200" u="none" cap="none" strike="noStrike">
              <a:solidFill>
                <a:srgbClr val="EA9999"/>
              </a:solidFill>
              <a:latin typeface="Fira Sans"/>
              <a:ea typeface="Fira Sans"/>
              <a:cs typeface="Fira Sans"/>
              <a:sym typeface="Fira Sans"/>
            </a:endParaRPr>
          </a:p>
        </p:txBody>
      </p:sp>
      <p:sp>
        <p:nvSpPr>
          <p:cNvPr id="472" name="Google Shape;472;p66"/>
          <p:cNvSpPr txBox="1"/>
          <p:nvPr/>
        </p:nvSpPr>
        <p:spPr>
          <a:xfrm>
            <a:off x="5529650" y="3633625"/>
            <a:ext cx="1435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The Godfather</a:t>
            </a:r>
            <a:endParaRPr b="0" i="0" sz="1200" u="none" cap="none" strike="noStrike">
              <a:solidFill>
                <a:srgbClr val="00B0F0"/>
              </a:solidFill>
              <a:latin typeface="Fira Sans"/>
              <a:ea typeface="Fira Sans"/>
              <a:cs typeface="Fira Sans"/>
              <a:sym typeface="Fira Sans"/>
            </a:endParaRPr>
          </a:p>
        </p:txBody>
      </p:sp>
      <p:sp>
        <p:nvSpPr>
          <p:cNvPr id="473" name="Google Shape;473;p66"/>
          <p:cNvSpPr txBox="1"/>
          <p:nvPr/>
        </p:nvSpPr>
        <p:spPr>
          <a:xfrm>
            <a:off x="6745200" y="30506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Schindler’s List</a:t>
            </a:r>
            <a:endParaRPr b="0" i="0" sz="1200" u="none" cap="none" strike="noStrike">
              <a:solidFill>
                <a:srgbClr val="00B0F0"/>
              </a:solidFill>
              <a:latin typeface="Fira Sans"/>
              <a:ea typeface="Fira Sans"/>
              <a:cs typeface="Fira Sans"/>
              <a:sym typeface="Fira Sans"/>
            </a:endParaRPr>
          </a:p>
        </p:txBody>
      </p:sp>
      <p:sp>
        <p:nvSpPr>
          <p:cNvPr id="474" name="Google Shape;474;p66"/>
          <p:cNvSpPr txBox="1"/>
          <p:nvPr/>
        </p:nvSpPr>
        <p:spPr>
          <a:xfrm>
            <a:off x="5465100" y="2961238"/>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Mad Max</a:t>
            </a:r>
            <a:endParaRPr b="0" i="0" sz="1200" u="none" cap="none" strike="noStrike">
              <a:solidFill>
                <a:srgbClr val="EA9999"/>
              </a:solidFill>
              <a:latin typeface="Fira Sans"/>
              <a:ea typeface="Fira Sans"/>
              <a:cs typeface="Fira Sans"/>
              <a:sym typeface="Fira Sans"/>
            </a:endParaRPr>
          </a:p>
        </p:txBody>
      </p:sp>
      <p:sp>
        <p:nvSpPr>
          <p:cNvPr id="475" name="Google Shape;475;p66"/>
          <p:cNvSpPr txBox="1"/>
          <p:nvPr/>
        </p:nvSpPr>
        <p:spPr>
          <a:xfrm>
            <a:off x="5581150" y="401475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The Hangover</a:t>
            </a:r>
            <a:endParaRPr b="0" i="0" sz="1200" u="none" cap="none" strike="noStrike">
              <a:solidFill>
                <a:srgbClr val="8FC03F"/>
              </a:solidFill>
              <a:latin typeface="Fira Sans"/>
              <a:ea typeface="Fira Sans"/>
              <a:cs typeface="Fira Sans"/>
              <a:sym typeface="Fira Sans"/>
            </a:endParaRPr>
          </a:p>
        </p:txBody>
      </p:sp>
      <p:sp>
        <p:nvSpPr>
          <p:cNvPr id="476" name="Google Shape;476;p66"/>
          <p:cNvSpPr txBox="1"/>
          <p:nvPr/>
        </p:nvSpPr>
        <p:spPr>
          <a:xfrm>
            <a:off x="6964900" y="42520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Superbad</a:t>
            </a:r>
            <a:endParaRPr b="0" i="0" sz="1200" u="none" cap="none" strike="noStrike">
              <a:solidFill>
                <a:srgbClr val="8FC03F"/>
              </a:solidFill>
              <a:latin typeface="Fira Sans"/>
              <a:ea typeface="Fira Sans"/>
              <a:cs typeface="Fira Sans"/>
              <a:sym typeface="Fira Sans"/>
            </a:endParaRPr>
          </a:p>
        </p:txBody>
      </p:sp>
      <p:sp>
        <p:nvSpPr>
          <p:cNvPr id="477" name="Google Shape;477;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Sample Space</a:t>
            </a:r>
            <a:endParaRPr/>
          </a:p>
        </p:txBody>
      </p:sp>
      <p:sp>
        <p:nvSpPr>
          <p:cNvPr id="478" name="Google Shape;478;p6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sample space is the set of all possible outcomes. For Anna, this represents all the movies she might choose to watch.</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Event</a:t>
            </a:r>
            <a:endParaRPr/>
          </a:p>
        </p:txBody>
      </p:sp>
      <p:sp>
        <p:nvSpPr>
          <p:cNvPr id="484" name="Google Shape;484;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An event is a subset of the sample space. It includes one or more outcomes. For example, an event could be Anna watching a specific genre or a specific movie.</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485" name="Google Shape;485;p6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86" name="Google Shape;486;p67"/>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87" name="Google Shape;487;p67"/>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488" name="Google Shape;488;p67"/>
          <p:cNvSpPr txBox="1"/>
          <p:nvPr/>
        </p:nvSpPr>
        <p:spPr>
          <a:xfrm>
            <a:off x="457200" y="2221550"/>
            <a:ext cx="34191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A: Anna watches "Shawshank Redemption"</a:t>
            </a:r>
            <a:endParaRPr b="0" i="0" sz="1800" u="none" cap="none" strike="noStrike">
              <a:solidFill>
                <a:srgbClr val="FFFFFF"/>
              </a:solidFill>
              <a:latin typeface="Fira Sans"/>
              <a:ea typeface="Fira Sans"/>
              <a:cs typeface="Fira Sans"/>
              <a:sym typeface="Fira Sans"/>
            </a:endParaRPr>
          </a:p>
        </p:txBody>
      </p:sp>
      <p:sp>
        <p:nvSpPr>
          <p:cNvPr id="489" name="Google Shape;489;p67"/>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600" u="none" cap="none" strike="noStrike">
                <a:solidFill>
                  <a:schemeClr val="lt1"/>
                </a:solidFill>
                <a:latin typeface="Fira Sans"/>
                <a:ea typeface="Fira Sans"/>
                <a:cs typeface="Fira Sans"/>
                <a:sym typeface="Fira Sans"/>
              </a:rPr>
              <a:t>Shawshank Redemption</a:t>
            </a:r>
            <a:endParaRPr b="0" i="0" sz="1400" u="none" cap="none" strike="noStrike">
              <a:solidFill>
                <a:srgbClr val="000000"/>
              </a:solidFill>
              <a:latin typeface="Fira Sans"/>
              <a:ea typeface="Fira Sans"/>
              <a:cs typeface="Fira Sans"/>
              <a:sym typeface="Fira Sans"/>
            </a:endParaRPr>
          </a:p>
        </p:txBody>
      </p:sp>
      <p:sp>
        <p:nvSpPr>
          <p:cNvPr id="490" name="Google Shape;490;p67"/>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A</a:t>
            </a:r>
            <a:endParaRPr b="0" i="0" sz="1800" u="none" cap="none" strike="noStrike">
              <a:solidFill>
                <a:srgbClr val="FFFFFF"/>
              </a:solidFill>
              <a:latin typeface="Fira Sans"/>
              <a:ea typeface="Fira Sans"/>
              <a:cs typeface="Fira Sans"/>
              <a:sym typeface="Fir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Event</a:t>
            </a:r>
            <a:endParaRPr/>
          </a:p>
        </p:txBody>
      </p:sp>
      <p:sp>
        <p:nvSpPr>
          <p:cNvPr id="496" name="Google Shape;49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An event is a subset of the sample space. It includes one or more outcomes. For example, an event could be Anna watching a specific genre or a specific movie.</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497" name="Google Shape;497;p6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498" name="Google Shape;498;p68"/>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499" name="Google Shape;499;p68"/>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00" name="Google Shape;500;p68"/>
          <p:cNvSpPr txBox="1"/>
          <p:nvPr/>
        </p:nvSpPr>
        <p:spPr>
          <a:xfrm>
            <a:off x="457200" y="2221550"/>
            <a:ext cx="34191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A: Anna watches "Shawshank Redemption"</a:t>
            </a:r>
            <a:endParaRPr b="0" i="0" sz="1800" u="none" cap="none" strike="noStrike">
              <a:solidFill>
                <a:srgbClr val="FFFFFF"/>
              </a:solidFill>
              <a:latin typeface="Fira Sans"/>
              <a:ea typeface="Fira Sans"/>
              <a:cs typeface="Fira Sans"/>
              <a:sym typeface="Fira Sans"/>
            </a:endParaRPr>
          </a:p>
        </p:txBody>
      </p:sp>
      <p:sp>
        <p:nvSpPr>
          <p:cNvPr id="501" name="Google Shape;501;p68"/>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02" name="Google Shape;502;p68"/>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B</a:t>
            </a:r>
            <a:endParaRPr b="0" i="0" sz="1800" u="none" cap="none" strike="noStrike">
              <a:solidFill>
                <a:srgbClr val="FFFFFF"/>
              </a:solidFill>
              <a:latin typeface="Fira Sans"/>
              <a:ea typeface="Fira Sans"/>
              <a:cs typeface="Fira Sans"/>
              <a:sym typeface="Fira Sans"/>
            </a:endParaRPr>
          </a:p>
        </p:txBody>
      </p:sp>
      <p:sp>
        <p:nvSpPr>
          <p:cNvPr id="503" name="Google Shape;503;p68"/>
          <p:cNvSpPr txBox="1"/>
          <p:nvPr/>
        </p:nvSpPr>
        <p:spPr>
          <a:xfrm>
            <a:off x="360150" y="2898650"/>
            <a:ext cx="341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B: Anna watches a Comedy</a:t>
            </a:r>
            <a:endParaRPr b="0" i="0" sz="1800" u="none" cap="none" strike="noStrike">
              <a:solidFill>
                <a:srgbClr val="FFFFFF"/>
              </a:solidFill>
              <a:latin typeface="Fira Sans"/>
              <a:ea typeface="Fira Sans"/>
              <a:cs typeface="Fira Sans"/>
              <a:sym typeface="Fira Sans"/>
            </a:endParaRPr>
          </a:p>
        </p:txBody>
      </p:sp>
      <p:sp>
        <p:nvSpPr>
          <p:cNvPr id="504" name="Google Shape;504;p68"/>
          <p:cNvSpPr txBox="1"/>
          <p:nvPr/>
        </p:nvSpPr>
        <p:spPr>
          <a:xfrm>
            <a:off x="5159750" y="3091525"/>
            <a:ext cx="3000000" cy="1169700"/>
          </a:xfrm>
          <a:prstGeom prst="rect">
            <a:avLst/>
          </a:prstGeom>
          <a:noFill/>
          <a:ln>
            <a:noFill/>
          </a:ln>
        </p:spPr>
        <p:txBody>
          <a:bodyPr anchorCtr="0" anchor="t" bIns="91425" lIns="91425" spcFirstLastPara="1" rIns="91425" wrap="square" tIns="91425">
            <a:spAutoFit/>
          </a:bodyPr>
          <a:lstStyle/>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Hangover</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Superbad</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Bridesmaids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Event</a:t>
            </a:r>
            <a:endParaRPr/>
          </a:p>
        </p:txBody>
      </p:sp>
      <p:sp>
        <p:nvSpPr>
          <p:cNvPr id="510" name="Google Shape;510;p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An event is a subset of the sample space. It includes one or more outcomes. For example, an event could be Anna watching a specific genre or a specific movie.</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11" name="Google Shape;511;p6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12" name="Google Shape;512;p69"/>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13" name="Google Shape;513;p69"/>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14" name="Google Shape;514;p69"/>
          <p:cNvSpPr txBox="1"/>
          <p:nvPr/>
        </p:nvSpPr>
        <p:spPr>
          <a:xfrm>
            <a:off x="457200" y="2221550"/>
            <a:ext cx="34191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A: Anna watches "Shawshank Redemption"</a:t>
            </a:r>
            <a:endParaRPr b="0" i="0" sz="1800" u="none" cap="none" strike="noStrike">
              <a:solidFill>
                <a:srgbClr val="FFFFFF"/>
              </a:solidFill>
              <a:latin typeface="Fira Sans"/>
              <a:ea typeface="Fira Sans"/>
              <a:cs typeface="Fira Sans"/>
              <a:sym typeface="Fira Sans"/>
            </a:endParaRPr>
          </a:p>
        </p:txBody>
      </p:sp>
      <p:sp>
        <p:nvSpPr>
          <p:cNvPr id="515" name="Google Shape;515;p69"/>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16" name="Google Shape;516;p69"/>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C</a:t>
            </a:r>
            <a:endParaRPr b="0" i="0" sz="1800" u="none" cap="none" strike="noStrike">
              <a:solidFill>
                <a:srgbClr val="FFFFFF"/>
              </a:solidFill>
              <a:latin typeface="Fira Sans"/>
              <a:ea typeface="Fira Sans"/>
              <a:cs typeface="Fira Sans"/>
              <a:sym typeface="Fira Sans"/>
            </a:endParaRPr>
          </a:p>
        </p:txBody>
      </p:sp>
      <p:sp>
        <p:nvSpPr>
          <p:cNvPr id="517" name="Google Shape;517;p69"/>
          <p:cNvSpPr txBox="1"/>
          <p:nvPr/>
        </p:nvSpPr>
        <p:spPr>
          <a:xfrm>
            <a:off x="360150" y="2898650"/>
            <a:ext cx="3419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B: Anna watches a Comedy</a:t>
            </a:r>
            <a:endParaRPr b="0" i="0" sz="1800" u="none" cap="none" strike="noStrike">
              <a:solidFill>
                <a:srgbClr val="FFFFFF"/>
              </a:solidFill>
              <a:latin typeface="Fira Sans"/>
              <a:ea typeface="Fira Sans"/>
              <a:cs typeface="Fira Sans"/>
              <a:sym typeface="Fira Sans"/>
            </a:endParaRPr>
          </a:p>
        </p:txBody>
      </p:sp>
      <p:sp>
        <p:nvSpPr>
          <p:cNvPr id="518" name="Google Shape;518;p69"/>
          <p:cNvSpPr txBox="1"/>
          <p:nvPr/>
        </p:nvSpPr>
        <p:spPr>
          <a:xfrm>
            <a:off x="5159750" y="3091525"/>
            <a:ext cx="3000000" cy="800400"/>
          </a:xfrm>
          <a:prstGeom prst="rect">
            <a:avLst/>
          </a:prstGeom>
          <a:noFill/>
          <a:ln>
            <a:noFill/>
          </a:ln>
        </p:spPr>
        <p:txBody>
          <a:bodyPr anchorCtr="0" anchor="t" bIns="91425" lIns="91425" spcFirstLastPara="1" rIns="91425" wrap="square" tIns="91425">
            <a:spAutoFit/>
          </a:bodyPr>
          <a:lstStyle/>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Hangover</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Godfather</a:t>
            </a:r>
            <a:endParaRPr b="0" i="0" sz="1400" u="none" cap="none" strike="noStrike">
              <a:solidFill>
                <a:srgbClr val="000000"/>
              </a:solidFill>
              <a:latin typeface="Arial"/>
              <a:ea typeface="Arial"/>
              <a:cs typeface="Arial"/>
              <a:sym typeface="Arial"/>
            </a:endParaRPr>
          </a:p>
        </p:txBody>
      </p:sp>
      <p:sp>
        <p:nvSpPr>
          <p:cNvPr id="519" name="Google Shape;519;p69"/>
          <p:cNvSpPr txBox="1"/>
          <p:nvPr/>
        </p:nvSpPr>
        <p:spPr>
          <a:xfrm>
            <a:off x="360150" y="3460825"/>
            <a:ext cx="34191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Event C: Anna watches any movie starting with ‘T’</a:t>
            </a:r>
            <a:endParaRPr b="0" i="0" sz="1800" u="none" cap="none" strike="noStrike">
              <a:solidFill>
                <a:srgbClr val="FFFFFF"/>
              </a:solidFill>
              <a:latin typeface="Fira Sans"/>
              <a:ea typeface="Fira Sans"/>
              <a:cs typeface="Fira Sans"/>
              <a:sym typeface="Fir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25" name="Google Shape;525;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26" name="Google Shape;526;p7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32" name="Google Shape;532;p7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Formula: </a:t>
            </a:r>
            <a:endParaRPr sz="1600">
              <a:solidFill>
                <a:schemeClr val="lt1"/>
              </a:solidFill>
            </a:endParaRPr>
          </a:p>
          <a:p>
            <a:pPr indent="0" lvl="0" marL="0" rtl="0" algn="l">
              <a:lnSpc>
                <a:spcPct val="150000"/>
              </a:lnSpc>
              <a:spcBef>
                <a:spcPts val="120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33" name="Google Shape;533;p7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534" name="Google Shape;534;p71"/>
          <p:cNvPicPr preferRelativeResize="0"/>
          <p:nvPr/>
        </p:nvPicPr>
        <p:blipFill rotWithShape="1">
          <a:blip r:embed="rId3">
            <a:alphaModFix/>
          </a:blip>
          <a:srcRect b="0" l="0" r="0" t="0"/>
          <a:stretch/>
        </p:blipFill>
        <p:spPr>
          <a:xfrm>
            <a:off x="1396475" y="2982950"/>
            <a:ext cx="6648350" cy="785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40" name="Google Shape;540;p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41" name="Google Shape;541;p7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42" name="Google Shape;542;p72"/>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A: Probability of Anna watching "Shawshank Redemption"</a:t>
            </a:r>
            <a:endParaRPr b="0" i="0" sz="1800" u="none" cap="none" strike="noStrike">
              <a:solidFill>
                <a:srgbClr val="FFFFFF"/>
              </a:solidFill>
              <a:latin typeface="Fira Sans"/>
              <a:ea typeface="Fira Sans"/>
              <a:cs typeface="Fira Sans"/>
              <a:sym typeface="Fira Sans"/>
            </a:endParaRPr>
          </a:p>
        </p:txBody>
      </p:sp>
      <p:sp>
        <p:nvSpPr>
          <p:cNvPr id="543" name="Google Shape;543;p72"/>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
        <p:nvSpPr>
          <p:cNvPr id="544" name="Google Shape;544;p72"/>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45" name="Google Shape;545;p72"/>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46" name="Google Shape;546;p72"/>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Shawshank Redemption</a:t>
            </a:r>
            <a:endParaRPr b="0" i="0" sz="1400" u="none" cap="none" strike="noStrike">
              <a:solidFill>
                <a:srgbClr val="000000"/>
              </a:solidFill>
              <a:latin typeface="Fira Sans"/>
              <a:ea typeface="Fira Sans"/>
              <a:cs typeface="Fira Sans"/>
              <a:sym typeface="Fira Sans"/>
            </a:endParaRPr>
          </a:p>
        </p:txBody>
      </p:sp>
      <p:sp>
        <p:nvSpPr>
          <p:cNvPr id="547" name="Google Shape;547;p72"/>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A</a:t>
            </a:r>
            <a:endParaRPr b="0" i="0" sz="1800" u="none" cap="none" strike="noStrike">
              <a:solidFill>
                <a:srgbClr val="FFFFFF"/>
              </a:solidFill>
              <a:latin typeface="Fira Sans"/>
              <a:ea typeface="Fira Sans"/>
              <a:cs typeface="Fira Sans"/>
              <a:sym typeface="Fir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53" name="Google Shape;553;p7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54" name="Google Shape;554;p7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55" name="Google Shape;555;p73"/>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A: Probability of Anna watching "Shawshank Redemption"</a:t>
            </a:r>
            <a:endParaRPr b="0" i="0" sz="1800" u="none" cap="none" strike="noStrike">
              <a:solidFill>
                <a:srgbClr val="FFFFFF"/>
              </a:solidFill>
              <a:latin typeface="Fira Sans"/>
              <a:ea typeface="Fira Sans"/>
              <a:cs typeface="Fira Sans"/>
              <a:sym typeface="Fira Sans"/>
            </a:endParaRPr>
          </a:p>
        </p:txBody>
      </p:sp>
      <p:sp>
        <p:nvSpPr>
          <p:cNvPr id="556" name="Google Shape;556;p73"/>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
        <p:nvSpPr>
          <p:cNvPr id="557" name="Google Shape;557;p73"/>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58" name="Google Shape;558;p73"/>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59" name="Google Shape;559;p73"/>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Shawshank Redemption</a:t>
            </a:r>
            <a:endParaRPr b="0" i="0" sz="1400" u="none" cap="none" strike="noStrike">
              <a:solidFill>
                <a:srgbClr val="000000"/>
              </a:solidFill>
              <a:latin typeface="Fira Sans"/>
              <a:ea typeface="Fira Sans"/>
              <a:cs typeface="Fira Sans"/>
              <a:sym typeface="Fira Sans"/>
            </a:endParaRPr>
          </a:p>
        </p:txBody>
      </p:sp>
      <p:sp>
        <p:nvSpPr>
          <p:cNvPr id="560" name="Google Shape;560;p73"/>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A</a:t>
            </a:r>
            <a:endParaRPr b="0" i="0" sz="1800" u="none" cap="none" strike="noStrike">
              <a:solidFill>
                <a:srgbClr val="FFFFFF"/>
              </a:solidFill>
              <a:latin typeface="Fira Sans"/>
              <a:ea typeface="Fira Sans"/>
              <a:cs typeface="Fira Sans"/>
              <a:sym typeface="Fira Sans"/>
            </a:endParaRPr>
          </a:p>
        </p:txBody>
      </p:sp>
      <p:pic>
        <p:nvPicPr>
          <p:cNvPr id="561" name="Google Shape;561;p73"/>
          <p:cNvPicPr preferRelativeResize="0"/>
          <p:nvPr/>
        </p:nvPicPr>
        <p:blipFill rotWithShape="1">
          <a:blip r:embed="rId3">
            <a:alphaModFix/>
          </a:blip>
          <a:srcRect b="0" l="0" r="0" t="0"/>
          <a:stretch/>
        </p:blipFill>
        <p:spPr>
          <a:xfrm>
            <a:off x="185588" y="3758500"/>
            <a:ext cx="5324475" cy="590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67" name="Google Shape;567;p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68" name="Google Shape;568;p7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69" name="Google Shape;569;p74"/>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A: Probability of Anna watching "Shawshank Redemption"</a:t>
            </a:r>
            <a:endParaRPr b="0" i="0" sz="1800" u="none" cap="none" strike="noStrike">
              <a:solidFill>
                <a:srgbClr val="FFFFFF"/>
              </a:solidFill>
              <a:latin typeface="Fira Sans"/>
              <a:ea typeface="Fira Sans"/>
              <a:cs typeface="Fira Sans"/>
              <a:sym typeface="Fira Sans"/>
            </a:endParaRPr>
          </a:p>
        </p:txBody>
      </p:sp>
      <p:sp>
        <p:nvSpPr>
          <p:cNvPr id="570" name="Google Shape;570;p74"/>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
        <p:nvSpPr>
          <p:cNvPr id="571" name="Google Shape;571;p74"/>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72" name="Google Shape;572;p74"/>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73" name="Google Shape;573;p74"/>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Shawshank Redemption</a:t>
            </a:r>
            <a:endParaRPr b="0" i="0" sz="1400" u="none" cap="none" strike="noStrike">
              <a:solidFill>
                <a:srgbClr val="000000"/>
              </a:solidFill>
              <a:latin typeface="Fira Sans"/>
              <a:ea typeface="Fira Sans"/>
              <a:cs typeface="Fira Sans"/>
              <a:sym typeface="Fira Sans"/>
            </a:endParaRPr>
          </a:p>
        </p:txBody>
      </p:sp>
      <p:sp>
        <p:nvSpPr>
          <p:cNvPr id="574" name="Google Shape;574;p74"/>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A</a:t>
            </a:r>
            <a:endParaRPr b="0" i="0" sz="1800" u="none" cap="none" strike="noStrike">
              <a:solidFill>
                <a:srgbClr val="FFFFFF"/>
              </a:solidFill>
              <a:latin typeface="Fira Sans"/>
              <a:ea typeface="Fira Sans"/>
              <a:cs typeface="Fira Sans"/>
              <a:sym typeface="Fira Sans"/>
            </a:endParaRPr>
          </a:p>
        </p:txBody>
      </p:sp>
      <p:sp>
        <p:nvSpPr>
          <p:cNvPr id="575" name="Google Shape;575;p74"/>
          <p:cNvSpPr txBox="1"/>
          <p:nvPr/>
        </p:nvSpPr>
        <p:spPr>
          <a:xfrm>
            <a:off x="195475" y="3679675"/>
            <a:ext cx="5104800" cy="1169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Total number of movies in Sample Space S = {Mad Max, John Wick, The Hangover, Superbad, Bridesmaids, Shawshank Redemption, Forrest Gump, The Godfather, Schindler’s List, 13th} = 10</a:t>
            </a:r>
            <a:endParaRPr b="0" i="0" sz="1800" u="none" cap="none" strike="noStrike">
              <a:solidFill>
                <a:srgbClr val="FFFFFF"/>
              </a:solidFill>
              <a:latin typeface="Fira Sans"/>
              <a:ea typeface="Fira Sans"/>
              <a:cs typeface="Fira Sans"/>
              <a:sym typeface="Fir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81" name="Google Shape;581;p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82" name="Google Shape;582;p7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83" name="Google Shape;583;p75"/>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A: Probability of Anna watching "Shawshank Redemption"</a:t>
            </a:r>
            <a:endParaRPr b="0" i="0" sz="1800" u="none" cap="none" strike="noStrike">
              <a:solidFill>
                <a:srgbClr val="FFFFFF"/>
              </a:solidFill>
              <a:latin typeface="Fira Sans"/>
              <a:ea typeface="Fira Sans"/>
              <a:cs typeface="Fira Sans"/>
              <a:sym typeface="Fira Sans"/>
            </a:endParaRPr>
          </a:p>
        </p:txBody>
      </p:sp>
      <p:sp>
        <p:nvSpPr>
          <p:cNvPr id="584" name="Google Shape;584;p75"/>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
        <p:nvSpPr>
          <p:cNvPr id="585" name="Google Shape;585;p75"/>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586" name="Google Shape;586;p75"/>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587" name="Google Shape;587;p75"/>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Shawshank Redemption</a:t>
            </a:r>
            <a:endParaRPr b="0" i="0" sz="1400" u="none" cap="none" strike="noStrike">
              <a:solidFill>
                <a:srgbClr val="000000"/>
              </a:solidFill>
              <a:latin typeface="Fira Sans"/>
              <a:ea typeface="Fira Sans"/>
              <a:cs typeface="Fira Sans"/>
              <a:sym typeface="Fira Sans"/>
            </a:endParaRPr>
          </a:p>
        </p:txBody>
      </p:sp>
      <p:sp>
        <p:nvSpPr>
          <p:cNvPr id="588" name="Google Shape;588;p75"/>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A</a:t>
            </a:r>
            <a:endParaRPr b="0" i="0" sz="1800" u="none" cap="none" strike="noStrike">
              <a:solidFill>
                <a:srgbClr val="FFFFFF"/>
              </a:solidFill>
              <a:latin typeface="Fira Sans"/>
              <a:ea typeface="Fira Sans"/>
              <a:cs typeface="Fira Sans"/>
              <a:sym typeface="Fira Sans"/>
            </a:endParaRPr>
          </a:p>
        </p:txBody>
      </p:sp>
      <p:pic>
        <p:nvPicPr>
          <p:cNvPr id="589" name="Google Shape;589;p75"/>
          <p:cNvPicPr preferRelativeResize="0"/>
          <p:nvPr/>
        </p:nvPicPr>
        <p:blipFill rotWithShape="1">
          <a:blip r:embed="rId3">
            <a:alphaModFix/>
          </a:blip>
          <a:srcRect b="0" l="0" r="0" t="0"/>
          <a:stretch/>
        </p:blipFill>
        <p:spPr>
          <a:xfrm>
            <a:off x="776588" y="3883476"/>
            <a:ext cx="4039320" cy="572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595" name="Google Shape;595;p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596" name="Google Shape;596;p7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597" name="Google Shape;597;p76"/>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B: Probability of Anna watching Comedies</a:t>
            </a:r>
            <a:endParaRPr b="0" i="0" sz="1800" u="none" cap="none" strike="noStrike">
              <a:solidFill>
                <a:srgbClr val="FFFFFF"/>
              </a:solidFill>
              <a:latin typeface="Fira Sans"/>
              <a:ea typeface="Fira Sans"/>
              <a:cs typeface="Fira Sans"/>
              <a:sym typeface="Fira Sans"/>
            </a:endParaRPr>
          </a:p>
        </p:txBody>
      </p:sp>
      <p:sp>
        <p:nvSpPr>
          <p:cNvPr id="598" name="Google Shape;598;p76"/>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604" name="Google Shape;604;p7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605" name="Google Shape;605;p7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06" name="Google Shape;606;p77"/>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B: Probability of Anna watching Comedies</a:t>
            </a:r>
            <a:endParaRPr b="0" i="0" sz="1800" u="none" cap="none" strike="noStrike">
              <a:solidFill>
                <a:srgbClr val="FFFFFF"/>
              </a:solidFill>
              <a:latin typeface="Fira Sans"/>
              <a:ea typeface="Fira Sans"/>
              <a:cs typeface="Fira Sans"/>
              <a:sym typeface="Fira Sans"/>
            </a:endParaRPr>
          </a:p>
        </p:txBody>
      </p:sp>
      <p:sp>
        <p:nvSpPr>
          <p:cNvPr id="607" name="Google Shape;607;p77"/>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pic>
        <p:nvPicPr>
          <p:cNvPr id="608" name="Google Shape;608;p77"/>
          <p:cNvPicPr preferRelativeResize="0"/>
          <p:nvPr/>
        </p:nvPicPr>
        <p:blipFill rotWithShape="1">
          <a:blip r:embed="rId3">
            <a:alphaModFix/>
          </a:blip>
          <a:srcRect b="0" l="0" r="0" t="0"/>
          <a:stretch/>
        </p:blipFill>
        <p:spPr>
          <a:xfrm>
            <a:off x="1482289" y="3634772"/>
            <a:ext cx="2550424" cy="572700"/>
          </a:xfrm>
          <a:prstGeom prst="rect">
            <a:avLst/>
          </a:prstGeom>
          <a:noFill/>
          <a:ln>
            <a:noFill/>
          </a:ln>
        </p:spPr>
      </p:pic>
      <p:sp>
        <p:nvSpPr>
          <p:cNvPr id="609" name="Google Shape;609;p77"/>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10" name="Google Shape;610;p77"/>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611" name="Google Shape;611;p77"/>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12" name="Google Shape;612;p77"/>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B</a:t>
            </a:r>
            <a:endParaRPr b="0" i="0" sz="1800" u="none" cap="none" strike="noStrike">
              <a:solidFill>
                <a:srgbClr val="FFFFFF"/>
              </a:solidFill>
              <a:latin typeface="Fira Sans"/>
              <a:ea typeface="Fira Sans"/>
              <a:cs typeface="Fira Sans"/>
              <a:sym typeface="Fira Sans"/>
            </a:endParaRPr>
          </a:p>
        </p:txBody>
      </p:sp>
      <p:sp>
        <p:nvSpPr>
          <p:cNvPr id="613" name="Google Shape;613;p77"/>
          <p:cNvSpPr txBox="1"/>
          <p:nvPr/>
        </p:nvSpPr>
        <p:spPr>
          <a:xfrm>
            <a:off x="5159750" y="3091525"/>
            <a:ext cx="3000000" cy="1169700"/>
          </a:xfrm>
          <a:prstGeom prst="rect">
            <a:avLst/>
          </a:prstGeom>
          <a:noFill/>
          <a:ln>
            <a:noFill/>
          </a:ln>
        </p:spPr>
        <p:txBody>
          <a:bodyPr anchorCtr="0" anchor="t" bIns="91425" lIns="91425" spcFirstLastPara="1" rIns="91425" wrap="square" tIns="91425">
            <a:spAutoFit/>
          </a:bodyPr>
          <a:lstStyle/>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Hangover</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Superbad</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Bridesmaids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619" name="Google Shape;619;p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620" name="Google Shape;620;p7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21" name="Google Shape;621;p78"/>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C: Probability of Anna watching any movie starting with ‘T’</a:t>
            </a:r>
            <a:endParaRPr b="0" i="0" sz="1800" u="none" cap="none" strike="noStrike">
              <a:solidFill>
                <a:srgbClr val="FFFFFF"/>
              </a:solidFill>
              <a:latin typeface="Fira Sans"/>
              <a:ea typeface="Fira Sans"/>
              <a:cs typeface="Fira Sans"/>
              <a:sym typeface="Fira Sans"/>
            </a:endParaRPr>
          </a:p>
        </p:txBody>
      </p:sp>
      <p:sp>
        <p:nvSpPr>
          <p:cNvPr id="622" name="Google Shape;622;p78"/>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Probability of an Event</a:t>
            </a:r>
            <a:endParaRPr/>
          </a:p>
        </p:txBody>
      </p:sp>
      <p:sp>
        <p:nvSpPr>
          <p:cNvPr id="628" name="Google Shape;628;p7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The probability of an event is the measure of how likely that event is to occur. For a finite sample space, it is calculated as the ratio of the number of favorable outcomes to the total number of possible outcomes.</a:t>
            </a:r>
            <a:endParaRPr sz="1600">
              <a:solidFill>
                <a:schemeClr val="lt1"/>
              </a:solidFill>
            </a:endParaRPr>
          </a:p>
          <a:p>
            <a:pPr indent="0" lvl="0" marL="0" rtl="0" algn="l">
              <a:lnSpc>
                <a:spcPct val="150000"/>
              </a:lnSpc>
              <a:spcBef>
                <a:spcPts val="1200"/>
              </a:spcBef>
              <a:spcAft>
                <a:spcPts val="1200"/>
              </a:spcAft>
              <a:buSzPts val="1800"/>
              <a:buNone/>
            </a:pPr>
            <a:r>
              <a:rPr lang="en" sz="1600">
                <a:solidFill>
                  <a:schemeClr val="lt1"/>
                </a:solidFill>
              </a:rPr>
              <a:t> </a:t>
            </a:r>
            <a:endParaRPr sz="1600">
              <a:solidFill>
                <a:schemeClr val="lt1"/>
              </a:solidFill>
            </a:endParaRPr>
          </a:p>
        </p:txBody>
      </p:sp>
      <p:sp>
        <p:nvSpPr>
          <p:cNvPr id="629" name="Google Shape;629;p7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30" name="Google Shape;630;p79"/>
          <p:cNvSpPr txBox="1"/>
          <p:nvPr/>
        </p:nvSpPr>
        <p:spPr>
          <a:xfrm>
            <a:off x="311700" y="2764275"/>
            <a:ext cx="47655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Probability of Event C: Probability of Anna watching any movie starting with ‘T’</a:t>
            </a:r>
            <a:endParaRPr b="0" i="0" sz="1800" u="none" cap="none" strike="noStrike">
              <a:solidFill>
                <a:srgbClr val="FFFFFF"/>
              </a:solidFill>
              <a:latin typeface="Fira Sans"/>
              <a:ea typeface="Fira Sans"/>
              <a:cs typeface="Fira Sans"/>
              <a:sym typeface="Fira Sans"/>
            </a:endParaRPr>
          </a:p>
        </p:txBody>
      </p:sp>
      <p:sp>
        <p:nvSpPr>
          <p:cNvPr id="631" name="Google Shape;631;p79"/>
          <p:cNvSpPr txBox="1"/>
          <p:nvPr/>
        </p:nvSpPr>
        <p:spPr>
          <a:xfrm>
            <a:off x="311700" y="24022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Example: </a:t>
            </a:r>
            <a:endParaRPr b="0" i="0" sz="1400" u="none" cap="none" strike="noStrike">
              <a:solidFill>
                <a:srgbClr val="000000"/>
              </a:solidFill>
              <a:latin typeface="Arial"/>
              <a:ea typeface="Arial"/>
              <a:cs typeface="Arial"/>
              <a:sym typeface="Arial"/>
            </a:endParaRPr>
          </a:p>
        </p:txBody>
      </p:sp>
      <p:sp>
        <p:nvSpPr>
          <p:cNvPr id="632" name="Google Shape;632;p79"/>
          <p:cNvSpPr/>
          <p:nvPr/>
        </p:nvSpPr>
        <p:spPr>
          <a:xfrm>
            <a:off x="5203225" y="1834100"/>
            <a:ext cx="3177000" cy="3206100"/>
          </a:xfrm>
          <a:prstGeom prst="ellipse">
            <a:avLst/>
          </a:prstGeom>
          <a:solidFill>
            <a:srgbClr val="43434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33" name="Google Shape;633;p79"/>
          <p:cNvSpPr txBox="1"/>
          <p:nvPr/>
        </p:nvSpPr>
        <p:spPr>
          <a:xfrm>
            <a:off x="5832850" y="1994100"/>
            <a:ext cx="191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Sample Space S</a:t>
            </a:r>
            <a:endParaRPr b="0" i="0" sz="1800" u="none" cap="none" strike="noStrike">
              <a:solidFill>
                <a:srgbClr val="FFFFFF"/>
              </a:solidFill>
              <a:latin typeface="Fira Sans"/>
              <a:ea typeface="Fira Sans"/>
              <a:cs typeface="Fira Sans"/>
              <a:sym typeface="Fira Sans"/>
            </a:endParaRPr>
          </a:p>
        </p:txBody>
      </p:sp>
      <p:sp>
        <p:nvSpPr>
          <p:cNvPr id="634" name="Google Shape;634;p79"/>
          <p:cNvSpPr/>
          <p:nvPr/>
        </p:nvSpPr>
        <p:spPr>
          <a:xfrm>
            <a:off x="5668075" y="2455800"/>
            <a:ext cx="2247300" cy="21585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35" name="Google Shape;635;p79"/>
          <p:cNvSpPr txBox="1"/>
          <p:nvPr/>
        </p:nvSpPr>
        <p:spPr>
          <a:xfrm>
            <a:off x="6246775" y="2629825"/>
            <a:ext cx="101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Event C</a:t>
            </a:r>
            <a:endParaRPr b="0" i="0" sz="1800" u="none" cap="none" strike="noStrike">
              <a:solidFill>
                <a:srgbClr val="FFFFFF"/>
              </a:solidFill>
              <a:latin typeface="Fira Sans"/>
              <a:ea typeface="Fira Sans"/>
              <a:cs typeface="Fira Sans"/>
              <a:sym typeface="Fira Sans"/>
            </a:endParaRPr>
          </a:p>
        </p:txBody>
      </p:sp>
      <p:sp>
        <p:nvSpPr>
          <p:cNvPr id="636" name="Google Shape;636;p79"/>
          <p:cNvSpPr txBox="1"/>
          <p:nvPr/>
        </p:nvSpPr>
        <p:spPr>
          <a:xfrm>
            <a:off x="5159750" y="3091525"/>
            <a:ext cx="3000000" cy="800400"/>
          </a:xfrm>
          <a:prstGeom prst="rect">
            <a:avLst/>
          </a:prstGeom>
          <a:noFill/>
          <a:ln>
            <a:noFill/>
          </a:ln>
        </p:spPr>
        <p:txBody>
          <a:bodyPr anchorCtr="0" anchor="t" bIns="91425" lIns="91425" spcFirstLastPara="1" rIns="91425" wrap="square" tIns="91425">
            <a:spAutoFit/>
          </a:bodyPr>
          <a:lstStyle/>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Hangover</a:t>
            </a:r>
            <a:endParaRPr b="0" i="0" sz="1600" u="none" cap="none" strike="noStrike">
              <a:solidFill>
                <a:schemeClr val="lt1"/>
              </a:solidFill>
              <a:latin typeface="Fira Sans"/>
              <a:ea typeface="Fira Sans"/>
              <a:cs typeface="Fira Sans"/>
              <a:sym typeface="Fira Sans"/>
            </a:endParaRPr>
          </a:p>
          <a:p>
            <a:pPr indent="0" lvl="0" marL="914400" marR="0" rtl="0" algn="l">
              <a:lnSpc>
                <a:spcPct val="15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Godfather</a:t>
            </a:r>
            <a:endParaRPr b="0" i="0" sz="1400" u="none" cap="none" strike="noStrike">
              <a:solidFill>
                <a:srgbClr val="000000"/>
              </a:solidFill>
              <a:latin typeface="Arial"/>
              <a:ea typeface="Arial"/>
              <a:cs typeface="Arial"/>
              <a:sym typeface="Arial"/>
            </a:endParaRPr>
          </a:p>
        </p:txBody>
      </p:sp>
      <p:pic>
        <p:nvPicPr>
          <p:cNvPr id="637" name="Google Shape;637;p79"/>
          <p:cNvPicPr preferRelativeResize="0"/>
          <p:nvPr/>
        </p:nvPicPr>
        <p:blipFill rotWithShape="1">
          <a:blip r:embed="rId3">
            <a:alphaModFix/>
          </a:blip>
          <a:srcRect b="0" l="0" r="0" t="0"/>
          <a:stretch/>
        </p:blipFill>
        <p:spPr>
          <a:xfrm>
            <a:off x="768547" y="3800572"/>
            <a:ext cx="3764548" cy="572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Axioms of Probability</a:t>
            </a:r>
            <a:endParaRPr/>
          </a:p>
        </p:txBody>
      </p:sp>
      <p:sp>
        <p:nvSpPr>
          <p:cNvPr id="643" name="Google Shape;643;p8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a:bodyPr>
          <a:lstStyle/>
          <a:p>
            <a:pPr indent="-334327" lvl="0" marL="457200" rtl="0" algn="just">
              <a:lnSpc>
                <a:spcPct val="183333"/>
              </a:lnSpc>
              <a:spcBef>
                <a:spcPts val="0"/>
              </a:spcBef>
              <a:spcAft>
                <a:spcPts val="0"/>
              </a:spcAft>
              <a:buClr>
                <a:schemeClr val="lt1"/>
              </a:buClr>
              <a:buSzPct val="90000"/>
              <a:buAutoNum type="arabicPeriod"/>
            </a:pPr>
            <a:r>
              <a:rPr lang="en">
                <a:solidFill>
                  <a:schemeClr val="lt1"/>
                </a:solidFill>
              </a:rPr>
              <a:t>Non-Negativity: The probability of an event always lies between 0 and 1.</a:t>
            </a:r>
            <a:endParaRPr/>
          </a:p>
          <a:p>
            <a:pPr indent="-334327" lvl="0" marL="457200" rtl="0" algn="just">
              <a:lnSpc>
                <a:spcPct val="183333"/>
              </a:lnSpc>
              <a:spcBef>
                <a:spcPts val="0"/>
              </a:spcBef>
              <a:spcAft>
                <a:spcPts val="0"/>
              </a:spcAft>
              <a:buClr>
                <a:schemeClr val="lt1"/>
              </a:buClr>
              <a:buSzPct val="90000"/>
              <a:buAutoNum type="arabicPeriod"/>
            </a:pPr>
            <a:r>
              <a:rPr lang="en">
                <a:solidFill>
                  <a:schemeClr val="lt1"/>
                </a:solidFill>
              </a:rPr>
              <a:t>Normalization: The probability of the entire sample space is 1, P(S) = 1.</a:t>
            </a:r>
            <a:endParaRPr>
              <a:solidFill>
                <a:schemeClr val="lt1"/>
              </a:solidFill>
            </a:endParaRPr>
          </a:p>
          <a:p>
            <a:pPr indent="-334327" lvl="0" marL="457200" rtl="0" algn="just">
              <a:lnSpc>
                <a:spcPct val="183333"/>
              </a:lnSpc>
              <a:spcBef>
                <a:spcPts val="0"/>
              </a:spcBef>
              <a:spcAft>
                <a:spcPts val="0"/>
              </a:spcAft>
              <a:buClr>
                <a:schemeClr val="lt1"/>
              </a:buClr>
              <a:buSzPct val="90000"/>
              <a:buAutoNum type="arabicPeriod"/>
            </a:pPr>
            <a:r>
              <a:rPr lang="en">
                <a:solidFill>
                  <a:schemeClr val="lt1"/>
                </a:solidFill>
              </a:rPr>
              <a:t>Additivity: If A and B are </a:t>
            </a:r>
            <a:r>
              <a:rPr b="1" i="1" lang="en">
                <a:solidFill>
                  <a:srgbClr val="00FFFF"/>
                </a:solidFill>
              </a:rPr>
              <a:t>mutually exclusive</a:t>
            </a:r>
            <a:r>
              <a:rPr lang="en">
                <a:solidFill>
                  <a:schemeClr val="lt1"/>
                </a:solidFill>
              </a:rPr>
              <a:t> events, </a:t>
            </a:r>
            <a:endParaRPr>
              <a:solidFill>
                <a:schemeClr val="lt1"/>
              </a:solidFill>
            </a:endParaRPr>
          </a:p>
          <a:p>
            <a:pPr indent="0" lvl="0" marL="457200" rtl="0" algn="just">
              <a:lnSpc>
                <a:spcPct val="183333"/>
              </a:lnSpc>
              <a:spcBef>
                <a:spcPts val="0"/>
              </a:spcBef>
              <a:spcAft>
                <a:spcPts val="0"/>
              </a:spcAft>
              <a:buSzPct val="90000"/>
              <a:buNone/>
            </a:pPr>
            <a:r>
              <a:rPr lang="en">
                <a:solidFill>
                  <a:schemeClr val="lt1"/>
                </a:solidFill>
              </a:rPr>
              <a:t>then P(A or B) = P(A) + P(B).</a:t>
            </a:r>
            <a:endParaRPr>
              <a:solidFill>
                <a:schemeClr val="lt1"/>
              </a:solidFill>
            </a:endParaRPr>
          </a:p>
          <a:p>
            <a:pPr indent="0" lvl="0" marL="0" rtl="0" algn="just">
              <a:lnSpc>
                <a:spcPct val="183333"/>
              </a:lnSpc>
              <a:spcBef>
                <a:spcPts val="0"/>
              </a:spcBef>
              <a:spcAft>
                <a:spcPts val="0"/>
              </a:spcAft>
              <a:buSzPct val="121375"/>
              <a:buNone/>
            </a:pPr>
            <a:r>
              <a:t/>
            </a:r>
            <a:endParaRPr sz="1483">
              <a:solidFill>
                <a:schemeClr val="lt1"/>
              </a:solidFill>
            </a:endParaRPr>
          </a:p>
          <a:p>
            <a:pPr indent="0" lvl="0" marL="457200" rtl="0" algn="just">
              <a:lnSpc>
                <a:spcPct val="183333"/>
              </a:lnSpc>
              <a:spcBef>
                <a:spcPts val="0"/>
              </a:spcBef>
              <a:spcAft>
                <a:spcPts val="0"/>
              </a:spcAft>
              <a:buSzPct val="90000"/>
              <a:buNone/>
            </a:pPr>
            <a:r>
              <a:t/>
            </a:r>
            <a:endParaRPr/>
          </a:p>
        </p:txBody>
      </p:sp>
      <p:sp>
        <p:nvSpPr>
          <p:cNvPr id="644" name="Google Shape;644;p8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81"/>
          <p:cNvSpPr/>
          <p:nvPr/>
        </p:nvSpPr>
        <p:spPr>
          <a:xfrm>
            <a:off x="1202600" y="3407725"/>
            <a:ext cx="6248100" cy="1549800"/>
          </a:xfrm>
          <a:prstGeom prst="roundRect">
            <a:avLst>
              <a:gd fmla="val 16667"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50" name="Google Shape;650;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Axioms of Probability</a:t>
            </a:r>
            <a:endParaRPr/>
          </a:p>
        </p:txBody>
      </p:sp>
      <p:sp>
        <p:nvSpPr>
          <p:cNvPr id="651" name="Google Shape;651;p81"/>
          <p:cNvSpPr txBox="1"/>
          <p:nvPr>
            <p:ph idx="1" type="body"/>
          </p:nvPr>
        </p:nvSpPr>
        <p:spPr>
          <a:xfrm>
            <a:off x="311700" y="1152475"/>
            <a:ext cx="8520600" cy="739800"/>
          </a:xfrm>
          <a:prstGeom prst="rect">
            <a:avLst/>
          </a:prstGeom>
          <a:noFill/>
          <a:ln>
            <a:noFill/>
          </a:ln>
        </p:spPr>
        <p:txBody>
          <a:bodyPr anchorCtr="0" anchor="t" bIns="91425" lIns="91425" spcFirstLastPara="1" rIns="91425" wrap="square" tIns="91425">
            <a:noAutofit/>
          </a:bodyPr>
          <a:lstStyle/>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Non-Negativity: The probability of an event always lies between 0 and 1.</a:t>
            </a:r>
            <a:endParaRPr sz="1850"/>
          </a:p>
          <a:p>
            <a:pPr indent="0" lvl="0" marL="0" rtl="0" algn="just">
              <a:lnSpc>
                <a:spcPct val="183333"/>
              </a:lnSpc>
              <a:spcBef>
                <a:spcPts val="0"/>
              </a:spcBef>
              <a:spcAft>
                <a:spcPts val="0"/>
              </a:spcAft>
              <a:buSzPts val="1800"/>
              <a:buNone/>
            </a:pPr>
            <a:r>
              <a:t/>
            </a:r>
            <a:endParaRPr sz="1483">
              <a:solidFill>
                <a:schemeClr val="lt1"/>
              </a:solidFill>
            </a:endParaRPr>
          </a:p>
          <a:p>
            <a:pPr indent="0" lvl="0" marL="457200" rtl="0" algn="just">
              <a:lnSpc>
                <a:spcPct val="183333"/>
              </a:lnSpc>
              <a:spcBef>
                <a:spcPts val="0"/>
              </a:spcBef>
              <a:spcAft>
                <a:spcPts val="0"/>
              </a:spcAft>
              <a:buSzPts val="1800"/>
              <a:buNone/>
            </a:pPr>
            <a:r>
              <a:t/>
            </a:r>
            <a:endParaRPr/>
          </a:p>
        </p:txBody>
      </p:sp>
      <p:sp>
        <p:nvSpPr>
          <p:cNvPr id="652" name="Google Shape;652;p8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53" name="Google Shape;653;p81"/>
          <p:cNvSpPr txBox="1"/>
          <p:nvPr/>
        </p:nvSpPr>
        <p:spPr>
          <a:xfrm>
            <a:off x="1333550" y="3556825"/>
            <a:ext cx="5986200" cy="140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850"/>
              <a:buFont typeface="Arial"/>
              <a:buNone/>
            </a:pPr>
            <a:r>
              <a:rPr b="0" i="0" lang="en" sz="1850" u="none" cap="none" strike="noStrike">
                <a:solidFill>
                  <a:schemeClr val="lt1"/>
                </a:solidFill>
                <a:latin typeface="Fira Sans"/>
                <a:ea typeface="Fira Sans"/>
                <a:cs typeface="Fira Sans"/>
                <a:sym typeface="Fira Sans"/>
              </a:rPr>
              <a:t>The probability of Anna watching any specific movie is at least 0.</a:t>
            </a:r>
            <a:endParaRPr b="0" i="0" sz="1850" u="none" cap="none" strike="noStrike">
              <a:solidFill>
                <a:schemeClr val="lt1"/>
              </a:solidFill>
              <a:latin typeface="Fira Sans"/>
              <a:ea typeface="Fira Sans"/>
              <a:cs typeface="Fira Sans"/>
              <a:sym typeface="Fira Sans"/>
            </a:endParaRPr>
          </a:p>
          <a:p>
            <a:pPr indent="91438" lvl="0" marL="1280160" marR="0" rtl="0" algn="l">
              <a:lnSpc>
                <a:spcPct val="115000"/>
              </a:lnSpc>
              <a:spcBef>
                <a:spcPts val="1200"/>
              </a:spcBef>
              <a:spcAft>
                <a:spcPts val="1200"/>
              </a:spcAft>
              <a:buClr>
                <a:schemeClr val="dk1"/>
              </a:buClr>
              <a:buSzPts val="1100"/>
              <a:buFont typeface="Arial"/>
              <a:buNone/>
            </a:pPr>
            <a:r>
              <a:rPr b="0" i="0" lang="en" sz="1850" u="none" cap="none" strike="noStrike">
                <a:solidFill>
                  <a:schemeClr val="lt1"/>
                </a:solidFill>
                <a:latin typeface="Fira Sans"/>
                <a:ea typeface="Fira Sans"/>
                <a:cs typeface="Fira Sans"/>
                <a:sym typeface="Fira Sans"/>
              </a:rPr>
              <a:t>𝑷("The Hangover") ≥ 0</a:t>
            </a:r>
            <a:endParaRPr b="0" i="0" sz="1850" u="none" cap="none" strike="noStrike">
              <a:solidFill>
                <a:schemeClr val="lt1"/>
              </a:solidFill>
              <a:latin typeface="Fira Sans"/>
              <a:ea typeface="Fira Sans"/>
              <a:cs typeface="Fira Sans"/>
              <a:sym typeface="Fir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82"/>
          <p:cNvSpPr/>
          <p:nvPr/>
        </p:nvSpPr>
        <p:spPr>
          <a:xfrm>
            <a:off x="1202600" y="3407725"/>
            <a:ext cx="6248100" cy="1549800"/>
          </a:xfrm>
          <a:prstGeom prst="roundRect">
            <a:avLst>
              <a:gd fmla="val 16667"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59" name="Google Shape;659;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Axioms of Probability</a:t>
            </a:r>
            <a:endParaRPr/>
          </a:p>
        </p:txBody>
      </p:sp>
      <p:sp>
        <p:nvSpPr>
          <p:cNvPr id="660" name="Google Shape;660;p82"/>
          <p:cNvSpPr txBox="1"/>
          <p:nvPr>
            <p:ph idx="1" type="body"/>
          </p:nvPr>
        </p:nvSpPr>
        <p:spPr>
          <a:xfrm>
            <a:off x="311700" y="1152475"/>
            <a:ext cx="8520600" cy="1340400"/>
          </a:xfrm>
          <a:prstGeom prst="rect">
            <a:avLst/>
          </a:prstGeom>
          <a:noFill/>
          <a:ln>
            <a:noFill/>
          </a:ln>
        </p:spPr>
        <p:txBody>
          <a:bodyPr anchorCtr="0" anchor="t" bIns="91425" lIns="91425" spcFirstLastPara="1" rIns="91425" wrap="square" tIns="91425">
            <a:noAutofit/>
          </a:bodyPr>
          <a:lstStyle/>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Non-Negativity: The probability of an event always lies between 0 and 1.</a:t>
            </a:r>
            <a:endParaRPr sz="1850"/>
          </a:p>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Normalization: The probability of the entire sample space is 1, P(S) = 1.</a:t>
            </a:r>
            <a:endParaRPr sz="1850">
              <a:solidFill>
                <a:schemeClr val="lt1"/>
              </a:solidFill>
            </a:endParaRPr>
          </a:p>
          <a:p>
            <a:pPr indent="0" lvl="0" marL="0" rtl="0" algn="just">
              <a:lnSpc>
                <a:spcPct val="183333"/>
              </a:lnSpc>
              <a:spcBef>
                <a:spcPts val="0"/>
              </a:spcBef>
              <a:spcAft>
                <a:spcPts val="0"/>
              </a:spcAft>
              <a:buSzPts val="1800"/>
              <a:buNone/>
            </a:pPr>
            <a:r>
              <a:t/>
            </a:r>
            <a:endParaRPr sz="1483">
              <a:solidFill>
                <a:schemeClr val="lt1"/>
              </a:solidFill>
            </a:endParaRPr>
          </a:p>
          <a:p>
            <a:pPr indent="0" lvl="0" marL="457200" rtl="0" algn="just">
              <a:lnSpc>
                <a:spcPct val="183333"/>
              </a:lnSpc>
              <a:spcBef>
                <a:spcPts val="0"/>
              </a:spcBef>
              <a:spcAft>
                <a:spcPts val="0"/>
              </a:spcAft>
              <a:buSzPts val="1800"/>
              <a:buNone/>
            </a:pPr>
            <a:r>
              <a:t/>
            </a:r>
            <a:endParaRPr/>
          </a:p>
        </p:txBody>
      </p:sp>
      <p:sp>
        <p:nvSpPr>
          <p:cNvPr id="661" name="Google Shape;661;p8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62" name="Google Shape;662;p82"/>
          <p:cNvSpPr txBox="1"/>
          <p:nvPr/>
        </p:nvSpPr>
        <p:spPr>
          <a:xfrm>
            <a:off x="1270550" y="3556825"/>
            <a:ext cx="6092700" cy="140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850"/>
              <a:buFont typeface="Arial"/>
              <a:buNone/>
            </a:pPr>
            <a:r>
              <a:rPr b="0" i="0" lang="en" sz="1850" u="none" cap="none" strike="noStrike">
                <a:solidFill>
                  <a:schemeClr val="lt1"/>
                </a:solidFill>
                <a:latin typeface="Fira Sans"/>
                <a:ea typeface="Fira Sans"/>
                <a:cs typeface="Fira Sans"/>
                <a:sym typeface="Fira Sans"/>
              </a:rPr>
              <a:t>The total probability of Anna watching any movie from the sample space is 1. 𝑷(S) = 1</a:t>
            </a:r>
            <a:endParaRPr b="0" i="0" sz="185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850"/>
              <a:buFont typeface="Arial"/>
              <a:buNone/>
            </a:pPr>
            <a:r>
              <a:rPr b="0" i="0" lang="en" sz="1850" u="none" cap="none" strike="noStrike">
                <a:solidFill>
                  <a:schemeClr val="lt1"/>
                </a:solidFill>
                <a:latin typeface="Fira Sans"/>
                <a:ea typeface="Fira Sans"/>
                <a:cs typeface="Fira Sans"/>
                <a:sym typeface="Fira Sans"/>
              </a:rPr>
              <a:t>𝑷("Madmax") + 𝑷("John Wick") + … + 𝑷("13th")  = 1</a:t>
            </a:r>
            <a:endParaRPr b="0" i="0" sz="1850" u="none" cap="none" strike="noStrike">
              <a:solidFill>
                <a:schemeClr val="lt1"/>
              </a:solidFill>
              <a:latin typeface="Fira Sans"/>
              <a:ea typeface="Fira Sans"/>
              <a:cs typeface="Fira Sans"/>
              <a:sym typeface="Fir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Axioms of Probability</a:t>
            </a:r>
            <a:endParaRPr/>
          </a:p>
        </p:txBody>
      </p:sp>
      <p:sp>
        <p:nvSpPr>
          <p:cNvPr id="668" name="Google Shape;668;p83"/>
          <p:cNvSpPr txBox="1"/>
          <p:nvPr>
            <p:ph idx="1" type="body"/>
          </p:nvPr>
        </p:nvSpPr>
        <p:spPr>
          <a:xfrm>
            <a:off x="311700" y="1152475"/>
            <a:ext cx="8520600" cy="2028000"/>
          </a:xfrm>
          <a:prstGeom prst="rect">
            <a:avLst/>
          </a:prstGeom>
          <a:noFill/>
          <a:ln>
            <a:noFill/>
          </a:ln>
        </p:spPr>
        <p:txBody>
          <a:bodyPr anchorCtr="0" anchor="t" bIns="91425" lIns="91425" spcFirstLastPara="1" rIns="91425" wrap="square" tIns="91425">
            <a:noAutofit/>
          </a:bodyPr>
          <a:lstStyle/>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Non-Negativity: The probability of an event always lies between 0 and 1.</a:t>
            </a:r>
            <a:endParaRPr sz="1850"/>
          </a:p>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Normalization: The probability of the entire sample space is 1, P(S) = 1.</a:t>
            </a:r>
            <a:endParaRPr sz="1850">
              <a:solidFill>
                <a:schemeClr val="lt1"/>
              </a:solidFill>
            </a:endParaRPr>
          </a:p>
          <a:p>
            <a:pPr indent="-346075" lvl="0" marL="457200" rtl="0" algn="just">
              <a:lnSpc>
                <a:spcPct val="183333"/>
              </a:lnSpc>
              <a:spcBef>
                <a:spcPts val="0"/>
              </a:spcBef>
              <a:spcAft>
                <a:spcPts val="0"/>
              </a:spcAft>
              <a:buClr>
                <a:schemeClr val="lt1"/>
              </a:buClr>
              <a:buSzPts val="1850"/>
              <a:buAutoNum type="arabicPeriod"/>
            </a:pPr>
            <a:r>
              <a:rPr lang="en" sz="1850">
                <a:solidFill>
                  <a:schemeClr val="lt1"/>
                </a:solidFill>
              </a:rPr>
              <a:t>Additivity: If A and B are </a:t>
            </a:r>
            <a:r>
              <a:rPr b="1" i="1" lang="en" sz="1850">
                <a:solidFill>
                  <a:srgbClr val="00FFFF"/>
                </a:solidFill>
              </a:rPr>
              <a:t>mutually exclusive</a:t>
            </a:r>
            <a:r>
              <a:rPr lang="en" sz="1850">
                <a:solidFill>
                  <a:schemeClr val="lt1"/>
                </a:solidFill>
              </a:rPr>
              <a:t> events, </a:t>
            </a:r>
            <a:endParaRPr sz="1850">
              <a:solidFill>
                <a:schemeClr val="lt1"/>
              </a:solidFill>
            </a:endParaRPr>
          </a:p>
          <a:p>
            <a:pPr indent="0" lvl="0" marL="457200" rtl="0" algn="just">
              <a:lnSpc>
                <a:spcPct val="183333"/>
              </a:lnSpc>
              <a:spcBef>
                <a:spcPts val="0"/>
              </a:spcBef>
              <a:spcAft>
                <a:spcPts val="0"/>
              </a:spcAft>
              <a:buSzPts val="1800"/>
              <a:buNone/>
            </a:pPr>
            <a:r>
              <a:rPr lang="en" sz="1850">
                <a:solidFill>
                  <a:schemeClr val="lt1"/>
                </a:solidFill>
              </a:rPr>
              <a:t>then P(A or B) = P(A) + P(B).</a:t>
            </a:r>
            <a:endParaRPr sz="1850">
              <a:solidFill>
                <a:schemeClr val="lt1"/>
              </a:solidFill>
            </a:endParaRPr>
          </a:p>
          <a:p>
            <a:pPr indent="0" lvl="0" marL="457200" rtl="0" algn="just">
              <a:lnSpc>
                <a:spcPct val="183333"/>
              </a:lnSpc>
              <a:spcBef>
                <a:spcPts val="0"/>
              </a:spcBef>
              <a:spcAft>
                <a:spcPts val="0"/>
              </a:spcAft>
              <a:buSzPts val="1800"/>
              <a:buNone/>
            </a:pPr>
            <a:r>
              <a:t/>
            </a:r>
            <a:endParaRPr sz="1850">
              <a:solidFill>
                <a:schemeClr val="lt1"/>
              </a:solidFill>
            </a:endParaRPr>
          </a:p>
          <a:p>
            <a:pPr indent="0" lvl="0" marL="0" rtl="0" algn="just">
              <a:lnSpc>
                <a:spcPct val="183333"/>
              </a:lnSpc>
              <a:spcBef>
                <a:spcPts val="0"/>
              </a:spcBef>
              <a:spcAft>
                <a:spcPts val="0"/>
              </a:spcAft>
              <a:buSzPts val="1800"/>
              <a:buNone/>
            </a:pPr>
            <a:r>
              <a:t/>
            </a:r>
            <a:endParaRPr sz="1483">
              <a:solidFill>
                <a:schemeClr val="lt1"/>
              </a:solidFill>
            </a:endParaRPr>
          </a:p>
          <a:p>
            <a:pPr indent="0" lvl="0" marL="457200" rtl="0" algn="just">
              <a:lnSpc>
                <a:spcPct val="183333"/>
              </a:lnSpc>
              <a:spcBef>
                <a:spcPts val="0"/>
              </a:spcBef>
              <a:spcAft>
                <a:spcPts val="0"/>
              </a:spcAft>
              <a:buSzPts val="1800"/>
              <a:buNone/>
            </a:pPr>
            <a:r>
              <a:t/>
            </a:r>
            <a:endParaRPr/>
          </a:p>
        </p:txBody>
      </p:sp>
      <p:sp>
        <p:nvSpPr>
          <p:cNvPr id="669" name="Google Shape;669;p8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670" name="Google Shape;670;p83"/>
          <p:cNvSpPr/>
          <p:nvPr/>
        </p:nvSpPr>
        <p:spPr>
          <a:xfrm>
            <a:off x="1202600" y="3407725"/>
            <a:ext cx="6248100" cy="1549800"/>
          </a:xfrm>
          <a:prstGeom prst="roundRect">
            <a:avLst>
              <a:gd fmla="val 16667"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671" name="Google Shape;671;p83"/>
          <p:cNvSpPr txBox="1"/>
          <p:nvPr/>
        </p:nvSpPr>
        <p:spPr>
          <a:xfrm>
            <a:off x="1231950" y="3407725"/>
            <a:ext cx="6247800" cy="1549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850"/>
              <a:buFont typeface="Arial"/>
              <a:buNone/>
            </a:pPr>
            <a:r>
              <a:rPr b="0" i="0" lang="en" sz="1850" u="none" cap="none" strike="noStrike">
                <a:solidFill>
                  <a:schemeClr val="lt1"/>
                </a:solidFill>
                <a:latin typeface="Fira Sans"/>
                <a:ea typeface="Fira Sans"/>
                <a:cs typeface="Fira Sans"/>
                <a:sym typeface="Fira Sans"/>
              </a:rPr>
              <a:t>If Anna’s choices are divided into Dramas and Documentaries, the probability of her watching either is the sum of their individual probabilities.</a:t>
            </a:r>
            <a:endParaRPr b="0" i="0" sz="185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850"/>
              <a:buFont typeface="Arial"/>
              <a:buNone/>
            </a:pPr>
            <a:r>
              <a:rPr b="0" i="0" lang="en" sz="1850" u="none" cap="none" strike="noStrike">
                <a:solidFill>
                  <a:schemeClr val="lt1"/>
                </a:solidFill>
                <a:latin typeface="Fira Sans"/>
                <a:ea typeface="Fira Sans"/>
                <a:cs typeface="Fira Sans"/>
                <a:sym typeface="Fira Sans"/>
              </a:rPr>
              <a:t>𝑷(Drama or Documentary)  = 𝑷(Drama) + 𝑷(Documentary)</a:t>
            </a:r>
            <a:endParaRPr b="0" i="0" sz="1850" u="none" cap="none" strike="noStrike">
              <a:solidFill>
                <a:schemeClr val="lt1"/>
              </a:solidFill>
              <a:latin typeface="Fira Sans"/>
              <a:ea typeface="Fira Sans"/>
              <a:cs typeface="Fira Sans"/>
              <a:sym typeface="Fir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a:t>
            </a:r>
            <a:endParaRPr/>
          </a:p>
        </p:txBody>
      </p:sp>
      <p:sp>
        <p:nvSpPr>
          <p:cNvPr id="677" name="Google Shape;677;p84"/>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grpSp>
        <p:nvGrpSpPr>
          <p:cNvPr id="678" name="Google Shape;678;p84"/>
          <p:cNvGrpSpPr/>
          <p:nvPr/>
        </p:nvGrpSpPr>
        <p:grpSpPr>
          <a:xfrm>
            <a:off x="384014" y="1103699"/>
            <a:ext cx="8448226" cy="671133"/>
            <a:chOff x="1037539" y="1103712"/>
            <a:chExt cx="7069054" cy="671133"/>
          </a:xfrm>
        </p:grpSpPr>
        <p:sp>
          <p:nvSpPr>
            <p:cNvPr id="679" name="Google Shape;679;p84"/>
            <p:cNvSpPr/>
            <p:nvPr/>
          </p:nvSpPr>
          <p:spPr>
            <a:xfrm>
              <a:off x="1037539" y="1103879"/>
              <a:ext cx="1310700" cy="6708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0" name="Google Shape;680;p84"/>
            <p:cNvGrpSpPr/>
            <p:nvPr/>
          </p:nvGrpSpPr>
          <p:grpSpPr>
            <a:xfrm>
              <a:off x="2081001" y="1103712"/>
              <a:ext cx="6025460" cy="671133"/>
              <a:chOff x="2189480" y="2153920"/>
              <a:chExt cx="7213528" cy="1137900"/>
            </a:xfrm>
          </p:grpSpPr>
          <p:sp>
            <p:nvSpPr>
              <p:cNvPr id="681" name="Google Shape;681;p84"/>
              <p:cNvSpPr/>
              <p:nvPr/>
            </p:nvSpPr>
            <p:spPr>
              <a:xfrm>
                <a:off x="2189480" y="2153920"/>
                <a:ext cx="7173000" cy="11379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682" name="Google Shape;682;p84"/>
              <p:cNvSpPr/>
              <p:nvPr/>
            </p:nvSpPr>
            <p:spPr>
              <a:xfrm>
                <a:off x="7779408" y="2153920"/>
                <a:ext cx="1623600" cy="1137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83" name="Google Shape;683;p84"/>
            <p:cNvSpPr txBox="1"/>
            <p:nvPr/>
          </p:nvSpPr>
          <p:spPr>
            <a:xfrm>
              <a:off x="2426993" y="1261238"/>
              <a:ext cx="5679600" cy="356100"/>
            </a:xfrm>
            <a:prstGeom prst="rect">
              <a:avLst/>
            </a:prstGeom>
            <a:noFill/>
            <a:ln>
              <a:noFill/>
            </a:ln>
          </p:spPr>
          <p:txBody>
            <a:bodyPr anchorCtr="0" anchor="ctr" bIns="91425" lIns="91425" spcFirstLastPara="1" rIns="91425" wrap="square" tIns="91425">
              <a:noAutofit/>
            </a:bodyPr>
            <a:lstStyle/>
            <a:p>
              <a:pPr indent="0" lvl="0" marL="114300" marR="0" rtl="0" algn="l">
                <a:lnSpc>
                  <a:spcPct val="15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Probability provides a quantitative approach to uncertain situations and gives an insight where there is lack of it</a:t>
              </a:r>
              <a:endParaRPr b="0" i="0" sz="1400" u="none" cap="none" strike="noStrike">
                <a:solidFill>
                  <a:srgbClr val="000000"/>
                </a:solidFill>
                <a:latin typeface="Arial"/>
                <a:ea typeface="Arial"/>
                <a:cs typeface="Arial"/>
                <a:sym typeface="Arial"/>
              </a:endParaRPr>
            </a:p>
          </p:txBody>
        </p:sp>
        <p:sp>
          <p:nvSpPr>
            <p:cNvPr id="684" name="Google Shape;684;p84"/>
            <p:cNvSpPr txBox="1"/>
            <p:nvPr/>
          </p:nvSpPr>
          <p:spPr>
            <a:xfrm>
              <a:off x="1365589" y="1212925"/>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01</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685" name="Google Shape;685;p84"/>
          <p:cNvGrpSpPr/>
          <p:nvPr/>
        </p:nvGrpSpPr>
        <p:grpSpPr>
          <a:xfrm>
            <a:off x="384014" y="1842504"/>
            <a:ext cx="8448278" cy="671133"/>
            <a:chOff x="1037539" y="1842516"/>
            <a:chExt cx="7069097" cy="671133"/>
          </a:xfrm>
        </p:grpSpPr>
        <p:sp>
          <p:nvSpPr>
            <p:cNvPr id="686" name="Google Shape;686;p84"/>
            <p:cNvSpPr/>
            <p:nvPr/>
          </p:nvSpPr>
          <p:spPr>
            <a:xfrm>
              <a:off x="1037539" y="1842683"/>
              <a:ext cx="1310700" cy="670800"/>
            </a:xfrm>
            <a:prstGeom prst="homePlate">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7" name="Google Shape;687;p84"/>
            <p:cNvGrpSpPr/>
            <p:nvPr/>
          </p:nvGrpSpPr>
          <p:grpSpPr>
            <a:xfrm>
              <a:off x="2081001" y="1842516"/>
              <a:ext cx="6025460" cy="671133"/>
              <a:chOff x="2189480" y="2153920"/>
              <a:chExt cx="7213528" cy="1137900"/>
            </a:xfrm>
          </p:grpSpPr>
          <p:sp>
            <p:nvSpPr>
              <p:cNvPr id="688" name="Google Shape;688;p84"/>
              <p:cNvSpPr/>
              <p:nvPr/>
            </p:nvSpPr>
            <p:spPr>
              <a:xfrm>
                <a:off x="2189480" y="2153920"/>
                <a:ext cx="7173000" cy="1137900"/>
              </a:xfrm>
              <a:prstGeom prst="chevron">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689" name="Google Shape;689;p84"/>
              <p:cNvSpPr/>
              <p:nvPr/>
            </p:nvSpPr>
            <p:spPr>
              <a:xfrm>
                <a:off x="7779408" y="2153920"/>
                <a:ext cx="1623600" cy="1137900"/>
              </a:xfrm>
              <a:prstGeom prst="rect">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90" name="Google Shape;690;p84"/>
            <p:cNvSpPr txBox="1"/>
            <p:nvPr/>
          </p:nvSpPr>
          <p:spPr>
            <a:xfrm>
              <a:off x="2436636" y="2000037"/>
              <a:ext cx="5670000" cy="356100"/>
            </a:xfrm>
            <a:prstGeom prst="rect">
              <a:avLst/>
            </a:prstGeom>
            <a:noFill/>
            <a:ln>
              <a:noFill/>
            </a:ln>
          </p:spPr>
          <p:txBody>
            <a:bodyPr anchorCtr="0" anchor="ctr" bIns="91425" lIns="91425" spcFirstLastPara="1" rIns="91425" wrap="square" tIns="91425">
              <a:noAutofit/>
            </a:bodyPr>
            <a:lstStyle/>
            <a:p>
              <a:pPr indent="0" lvl="0" marL="114300" marR="0" rtl="0" algn="l">
                <a:lnSpc>
                  <a:spcPct val="15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We took an example case of Anna’s movies</a:t>
              </a:r>
              <a:endParaRPr b="0" i="0" sz="1400" u="none" cap="none" strike="noStrike">
                <a:solidFill>
                  <a:srgbClr val="000000"/>
                </a:solidFill>
                <a:latin typeface="Arial"/>
                <a:ea typeface="Arial"/>
                <a:cs typeface="Arial"/>
                <a:sym typeface="Arial"/>
              </a:endParaRPr>
            </a:p>
          </p:txBody>
        </p:sp>
        <p:sp>
          <p:nvSpPr>
            <p:cNvPr id="691" name="Google Shape;691;p84"/>
            <p:cNvSpPr txBox="1"/>
            <p:nvPr/>
          </p:nvSpPr>
          <p:spPr>
            <a:xfrm>
              <a:off x="1365600" y="1951733"/>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02</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692" name="Google Shape;692;p84"/>
          <p:cNvGrpSpPr/>
          <p:nvPr/>
        </p:nvGrpSpPr>
        <p:grpSpPr>
          <a:xfrm>
            <a:off x="384014" y="2581306"/>
            <a:ext cx="8448068" cy="671133"/>
            <a:chOff x="1037539" y="2581319"/>
            <a:chExt cx="7068922" cy="671133"/>
          </a:xfrm>
        </p:grpSpPr>
        <p:sp>
          <p:nvSpPr>
            <p:cNvPr id="693" name="Google Shape;693;p84"/>
            <p:cNvSpPr/>
            <p:nvPr/>
          </p:nvSpPr>
          <p:spPr>
            <a:xfrm>
              <a:off x="1037539" y="2581486"/>
              <a:ext cx="1310700" cy="670800"/>
            </a:xfrm>
            <a:prstGeom prst="homePlate">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94" name="Google Shape;694;p84"/>
            <p:cNvGrpSpPr/>
            <p:nvPr/>
          </p:nvGrpSpPr>
          <p:grpSpPr>
            <a:xfrm>
              <a:off x="2081001" y="2581319"/>
              <a:ext cx="6025460" cy="671133"/>
              <a:chOff x="2189480" y="2153920"/>
              <a:chExt cx="7213528" cy="1137900"/>
            </a:xfrm>
          </p:grpSpPr>
          <p:sp>
            <p:nvSpPr>
              <p:cNvPr id="695" name="Google Shape;695;p84"/>
              <p:cNvSpPr/>
              <p:nvPr/>
            </p:nvSpPr>
            <p:spPr>
              <a:xfrm>
                <a:off x="2189480" y="2153920"/>
                <a:ext cx="7173000" cy="1137900"/>
              </a:xfrm>
              <a:prstGeom prst="chevron">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696" name="Google Shape;696;p84"/>
              <p:cNvSpPr/>
              <p:nvPr/>
            </p:nvSpPr>
            <p:spPr>
              <a:xfrm>
                <a:off x="7779408" y="2153920"/>
                <a:ext cx="1623600" cy="1137900"/>
              </a:xfrm>
              <a:prstGeom prst="rect">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97" name="Google Shape;697;p84"/>
            <p:cNvSpPr txBox="1"/>
            <p:nvPr/>
          </p:nvSpPr>
          <p:spPr>
            <a:xfrm flipH="1">
              <a:off x="2513854" y="2738838"/>
              <a:ext cx="55926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Fira Sans"/>
                  <a:ea typeface="Fira Sans"/>
                  <a:cs typeface="Fira Sans"/>
                  <a:sym typeface="Fira Sans"/>
                </a:rPr>
                <a:t>We learnt all these basic definitions with that example: Sample space, Event, Probability of an event, Axioms of probability </a:t>
              </a:r>
              <a:endParaRPr b="0" i="0" sz="1400" u="none" cap="none" strike="noStrike">
                <a:solidFill>
                  <a:srgbClr val="FFFFFF"/>
                </a:solidFill>
                <a:latin typeface="Roboto"/>
                <a:ea typeface="Roboto"/>
                <a:cs typeface="Roboto"/>
                <a:sym typeface="Roboto"/>
              </a:endParaRPr>
            </a:p>
          </p:txBody>
        </p:sp>
        <p:sp>
          <p:nvSpPr>
            <p:cNvPr id="698" name="Google Shape;698;p84"/>
            <p:cNvSpPr txBox="1"/>
            <p:nvPr/>
          </p:nvSpPr>
          <p:spPr>
            <a:xfrm>
              <a:off x="1365600" y="2690536"/>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03</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sz="1300">
                <a:latin typeface="Fira Sans"/>
                <a:ea typeface="Fira Sans"/>
                <a:cs typeface="Fira Sans"/>
                <a:sym typeface="Fira Sans"/>
              </a:rPr>
              <a:t>‹#›</a:t>
            </a:fld>
            <a:endParaRPr sz="1300">
              <a:latin typeface="Fira Sans"/>
              <a:ea typeface="Fira Sans"/>
              <a:cs typeface="Fira Sans"/>
              <a:sym typeface="Fira Sans"/>
            </a:endParaRPr>
          </a:p>
        </p:txBody>
      </p:sp>
      <p:pic>
        <p:nvPicPr>
          <p:cNvPr id="704" name="Google Shape;704;p85"/>
          <p:cNvPicPr preferRelativeResize="0"/>
          <p:nvPr/>
        </p:nvPicPr>
        <p:blipFill rotWithShape="1">
          <a:blip r:embed="rId3">
            <a:alphaModFix/>
          </a:blip>
          <a:srcRect b="0" l="0" r="0" t="0"/>
          <a:stretch/>
        </p:blipFill>
        <p:spPr>
          <a:xfrm>
            <a:off x="1982950" y="231025"/>
            <a:ext cx="4838724" cy="4838724"/>
          </a:xfrm>
          <a:prstGeom prst="cloud">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8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710" name="Google Shape;710;p86"/>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Which of the following correctly defines the relationship between trials, experiments, and outcomes?</a:t>
            </a:r>
            <a:endParaRPr b="1" i="0" sz="1800" u="none" cap="none" strike="noStrike">
              <a:solidFill>
                <a:srgbClr val="FFAB40"/>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FFAB40"/>
              </a:solidFill>
              <a:latin typeface="Fira Sans"/>
              <a:ea typeface="Fira Sans"/>
              <a:cs typeface="Fira Sans"/>
              <a:sym typeface="Fira Sans"/>
            </a:endParaRPr>
          </a:p>
        </p:txBody>
      </p:sp>
      <p:sp>
        <p:nvSpPr>
          <p:cNvPr id="711" name="Google Shape;711;p86"/>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712" name="Google Shape;712;p86"/>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713" name="Google Shape;713;p86"/>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714" name="Google Shape;714;p86"/>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715" name="Google Shape;715;p86"/>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716" name="Google Shape;716;p86"/>
          <p:cNvSpPr txBox="1"/>
          <p:nvPr/>
        </p:nvSpPr>
        <p:spPr>
          <a:xfrm>
            <a:off x="1080349" y="2205525"/>
            <a:ext cx="7421275"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 trial is a single observation within an experiment, and the experiment is the procedure conducted to reach an outcome. The outcome is the conclusion drawn from the experiment</a:t>
            </a:r>
            <a:r>
              <a:rPr b="0" i="0" lang="en" sz="1100" u="none" cap="none" strike="noStrike">
                <a:solidFill>
                  <a:schemeClr val="lt1"/>
                </a:solidFill>
                <a:latin typeface="Arial"/>
                <a:ea typeface="Arial"/>
                <a:cs typeface="Arial"/>
                <a:sym typeface="Arial"/>
              </a:rPr>
              <a:t>.</a:t>
            </a:r>
            <a:endParaRPr b="0" i="0" sz="11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lt1"/>
              </a:solidFill>
              <a:latin typeface="Fira Sans"/>
              <a:ea typeface="Fira Sans"/>
              <a:cs typeface="Fira Sans"/>
              <a:sym typeface="Fira Sans"/>
            </a:endParaRPr>
          </a:p>
        </p:txBody>
      </p:sp>
      <p:sp>
        <p:nvSpPr>
          <p:cNvPr id="717" name="Google Shape;717;p86"/>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An experiment is a series of trials, and a trial is a single observation. The outcome is the hypothesis being tested.</a:t>
            </a:r>
            <a:endParaRPr b="0" i="0" sz="14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718" name="Google Shape;718;p86"/>
          <p:cNvSpPr txBox="1"/>
          <p:nvPr/>
        </p:nvSpPr>
        <p:spPr>
          <a:xfrm>
            <a:off x="1012875" y="3292149"/>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An outcome is the result of a single trial, and a trial is a specific test conducted within an experiment. The experiment is a broad investigation.</a:t>
            </a:r>
            <a:endParaRPr b="0" i="0" sz="1400" u="none" cap="none" strike="noStrike">
              <a:solidFill>
                <a:schemeClr val="lt1"/>
              </a:solidFill>
              <a:latin typeface="Fira Sans"/>
              <a:ea typeface="Fira Sans"/>
              <a:cs typeface="Fira Sans"/>
              <a:sym typeface="Fira Sans"/>
            </a:endParaRPr>
          </a:p>
        </p:txBody>
      </p:sp>
      <p:sp>
        <p:nvSpPr>
          <p:cNvPr id="719" name="Google Shape;719;p86"/>
          <p:cNvSpPr txBox="1"/>
          <p:nvPr/>
        </p:nvSpPr>
        <p:spPr>
          <a:xfrm>
            <a:off x="1043774" y="3819714"/>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A trial is the overall investigation, and an experiment is a specific test within that trial. The outcome is the data collected.</a:t>
            </a:r>
            <a:endParaRPr b="0" i="0" sz="1400" u="none" cap="none" strike="noStrike">
              <a:solidFill>
                <a:schemeClr val="lt1"/>
              </a:solidFill>
              <a:latin typeface="Fira Sans"/>
              <a:ea typeface="Fira Sans"/>
              <a:cs typeface="Fira Sans"/>
              <a:sym typeface="Fir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8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725" name="Google Shape;725;p87"/>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Which of the following correctly defines the relationship between trials, experiments, and outcomes?</a:t>
            </a:r>
            <a:endParaRPr b="1" i="0" sz="1800" u="none" cap="none" strike="noStrike">
              <a:solidFill>
                <a:srgbClr val="FFAB40"/>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FFAB40"/>
              </a:solidFill>
              <a:latin typeface="Fira Sans"/>
              <a:ea typeface="Fira Sans"/>
              <a:cs typeface="Fira Sans"/>
              <a:sym typeface="Fira Sans"/>
            </a:endParaRPr>
          </a:p>
        </p:txBody>
      </p:sp>
      <p:sp>
        <p:nvSpPr>
          <p:cNvPr id="726" name="Google Shape;726;p87"/>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727" name="Google Shape;727;p87"/>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728" name="Google Shape;728;p87"/>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729" name="Google Shape;729;p87"/>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730" name="Google Shape;730;p87"/>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731" name="Google Shape;731;p87"/>
          <p:cNvSpPr txBox="1"/>
          <p:nvPr/>
        </p:nvSpPr>
        <p:spPr>
          <a:xfrm>
            <a:off x="1080349" y="2205525"/>
            <a:ext cx="74214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 trial is a single observation within an experiment, and the experiment is the procedure conducted to reach an outcome. The outcome is the conclusion drawn from the experiment</a:t>
            </a:r>
            <a:r>
              <a:rPr b="0" i="0" lang="en" sz="1100" u="none" cap="none" strike="noStrike">
                <a:solidFill>
                  <a:schemeClr val="lt1"/>
                </a:solidFill>
                <a:latin typeface="Arial"/>
                <a:ea typeface="Arial"/>
                <a:cs typeface="Arial"/>
                <a:sym typeface="Arial"/>
              </a:rPr>
              <a:t>.</a:t>
            </a:r>
            <a:endParaRPr b="0" i="0" sz="11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lt1"/>
              </a:solidFill>
              <a:latin typeface="Fira Sans"/>
              <a:ea typeface="Fira Sans"/>
              <a:cs typeface="Fira Sans"/>
              <a:sym typeface="Fira Sans"/>
            </a:endParaRPr>
          </a:p>
        </p:txBody>
      </p:sp>
      <p:sp>
        <p:nvSpPr>
          <p:cNvPr id="732" name="Google Shape;732;p87"/>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An experiment is a series of trials, and a trial is a single observation. The outcome is the hypothesis being tested.</a:t>
            </a:r>
            <a:endParaRPr b="0" i="0" sz="14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733" name="Google Shape;733;p87"/>
          <p:cNvSpPr txBox="1"/>
          <p:nvPr/>
        </p:nvSpPr>
        <p:spPr>
          <a:xfrm>
            <a:off x="1012875" y="3292149"/>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An outcome is the result of a single trial, and a trial is a specific test conducted within an experiment. The experiment is a broad investigation.</a:t>
            </a:r>
            <a:endParaRPr b="0" i="0" sz="1400" u="none" cap="none" strike="noStrike">
              <a:solidFill>
                <a:schemeClr val="lt1"/>
              </a:solidFill>
              <a:latin typeface="Fira Sans"/>
              <a:ea typeface="Fira Sans"/>
              <a:cs typeface="Fira Sans"/>
              <a:sym typeface="Fira Sans"/>
            </a:endParaRPr>
          </a:p>
        </p:txBody>
      </p:sp>
      <p:sp>
        <p:nvSpPr>
          <p:cNvPr id="734" name="Google Shape;734;p87"/>
          <p:cNvSpPr txBox="1"/>
          <p:nvPr/>
        </p:nvSpPr>
        <p:spPr>
          <a:xfrm>
            <a:off x="1043774" y="3819714"/>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A trial is the overall investigation, and an experiment is a specific test within that trial. The outcome is the data collected.</a:t>
            </a:r>
            <a:endParaRPr b="0" i="0" sz="1400" u="none" cap="none" strike="noStrike">
              <a:solidFill>
                <a:schemeClr val="lt1"/>
              </a:solidFill>
              <a:latin typeface="Fira Sans"/>
              <a:ea typeface="Fira Sans"/>
              <a:cs typeface="Fira Sans"/>
              <a:sym typeface="Fira Sans"/>
            </a:endParaRPr>
          </a:p>
        </p:txBody>
      </p:sp>
      <p:pic>
        <p:nvPicPr>
          <p:cNvPr descr="Badge Tick1 outline" id="735" name="Google Shape;735;p87"/>
          <p:cNvPicPr preferRelativeResize="0"/>
          <p:nvPr/>
        </p:nvPicPr>
        <p:blipFill rotWithShape="1">
          <a:blip r:embed="rId3">
            <a:alphaModFix/>
          </a:blip>
          <a:srcRect b="0" l="0" r="0" t="0"/>
          <a:stretch/>
        </p:blipFill>
        <p:spPr>
          <a:xfrm>
            <a:off x="370112" y="3133614"/>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8"/>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741" name="Google Shape;741;p88"/>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You roll a standard six-sided die (fair die, all sides equally likely). What is the probability of rolling a number greater than or equal to 4?</a:t>
            </a:r>
            <a:endParaRPr b="1" i="0" sz="1800" u="none" cap="none" strike="noStrike">
              <a:solidFill>
                <a:srgbClr val="FFAB40"/>
              </a:solidFill>
              <a:latin typeface="Fira Sans"/>
              <a:ea typeface="Fira Sans"/>
              <a:cs typeface="Fira Sans"/>
              <a:sym typeface="Fira Sans"/>
            </a:endParaRPr>
          </a:p>
        </p:txBody>
      </p:sp>
      <p:sp>
        <p:nvSpPr>
          <p:cNvPr id="742" name="Google Shape;742;p88"/>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743" name="Google Shape;743;p88"/>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744" name="Google Shape;744;p88"/>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745" name="Google Shape;745;p88"/>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746" name="Google Shape;746;p88"/>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747" name="Google Shape;747;p88"/>
          <p:cNvSpPr txBox="1"/>
          <p:nvPr/>
        </p:nvSpPr>
        <p:spPr>
          <a:xfrm>
            <a:off x="1080349" y="2205525"/>
            <a:ext cx="7421275"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1/3</a:t>
            </a:r>
            <a:endParaRPr b="0" i="0" sz="11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lt1"/>
              </a:solidFill>
              <a:latin typeface="Fira Sans"/>
              <a:ea typeface="Fira Sans"/>
              <a:cs typeface="Fira Sans"/>
              <a:sym typeface="Fira Sans"/>
            </a:endParaRPr>
          </a:p>
        </p:txBody>
      </p:sp>
      <p:sp>
        <p:nvSpPr>
          <p:cNvPr id="748" name="Google Shape;748;p88"/>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1/2</a:t>
            </a:r>
            <a:endParaRPr b="0" i="0" sz="14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749" name="Google Shape;749;p88"/>
          <p:cNvSpPr txBox="1"/>
          <p:nvPr/>
        </p:nvSpPr>
        <p:spPr>
          <a:xfrm>
            <a:off x="1012875" y="3292149"/>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2/3</a:t>
            </a:r>
            <a:endParaRPr b="0" i="0" sz="1400" u="none" cap="none" strike="noStrike">
              <a:solidFill>
                <a:schemeClr val="lt1"/>
              </a:solidFill>
              <a:latin typeface="Fira Sans"/>
              <a:ea typeface="Fira Sans"/>
              <a:cs typeface="Fira Sans"/>
              <a:sym typeface="Fira Sans"/>
            </a:endParaRPr>
          </a:p>
        </p:txBody>
      </p:sp>
      <p:sp>
        <p:nvSpPr>
          <p:cNvPr id="750" name="Google Shape;750;p88"/>
          <p:cNvSpPr txBox="1"/>
          <p:nvPr/>
        </p:nvSpPr>
        <p:spPr>
          <a:xfrm>
            <a:off x="1043774" y="3819714"/>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5/6</a:t>
            </a:r>
            <a:endParaRPr b="0" i="0" sz="1400" u="none" cap="none" strike="noStrike">
              <a:solidFill>
                <a:schemeClr val="lt1"/>
              </a:solidFill>
              <a:latin typeface="Fira Sans"/>
              <a:ea typeface="Fira Sans"/>
              <a:cs typeface="Fira Sans"/>
              <a:sym typeface="Fira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89"/>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756" name="Google Shape;756;p89"/>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You roll a standard six-sided die (fair die, all sides equally likely). What is the probability of rolling a number greater than or equal to 4?</a:t>
            </a:r>
            <a:endParaRPr b="1" i="0" sz="1800" u="none" cap="none" strike="noStrike">
              <a:solidFill>
                <a:srgbClr val="FFAB40"/>
              </a:solidFill>
              <a:latin typeface="Fira Sans"/>
              <a:ea typeface="Fira Sans"/>
              <a:cs typeface="Fira Sans"/>
              <a:sym typeface="Fira Sans"/>
            </a:endParaRPr>
          </a:p>
        </p:txBody>
      </p:sp>
      <p:sp>
        <p:nvSpPr>
          <p:cNvPr id="757" name="Google Shape;757;p89"/>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758" name="Google Shape;758;p89"/>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759" name="Google Shape;759;p89"/>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760" name="Google Shape;760;p89"/>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761" name="Google Shape;761;p89"/>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762" name="Google Shape;762;p89"/>
          <p:cNvSpPr txBox="1"/>
          <p:nvPr/>
        </p:nvSpPr>
        <p:spPr>
          <a:xfrm>
            <a:off x="1080349" y="2205525"/>
            <a:ext cx="74214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1/3</a:t>
            </a:r>
            <a:endParaRPr b="0" i="0" sz="11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lt1"/>
              </a:solidFill>
              <a:latin typeface="Fira Sans"/>
              <a:ea typeface="Fira Sans"/>
              <a:cs typeface="Fira Sans"/>
              <a:sym typeface="Fira Sans"/>
            </a:endParaRPr>
          </a:p>
        </p:txBody>
      </p:sp>
      <p:sp>
        <p:nvSpPr>
          <p:cNvPr id="763" name="Google Shape;763;p89"/>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1/2</a:t>
            </a:r>
            <a:endParaRPr b="0" i="0" sz="1400" u="none" cap="none" strike="noStrike">
              <a:solidFill>
                <a:schemeClr val="lt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764" name="Google Shape;764;p89"/>
          <p:cNvSpPr txBox="1"/>
          <p:nvPr/>
        </p:nvSpPr>
        <p:spPr>
          <a:xfrm>
            <a:off x="1012875" y="3292149"/>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2/3</a:t>
            </a:r>
            <a:endParaRPr b="0" i="0" sz="1400" u="none" cap="none" strike="noStrike">
              <a:solidFill>
                <a:schemeClr val="lt1"/>
              </a:solidFill>
              <a:latin typeface="Fira Sans"/>
              <a:ea typeface="Fira Sans"/>
              <a:cs typeface="Fira Sans"/>
              <a:sym typeface="Fira Sans"/>
            </a:endParaRPr>
          </a:p>
        </p:txBody>
      </p:sp>
      <p:sp>
        <p:nvSpPr>
          <p:cNvPr id="765" name="Google Shape;765;p89"/>
          <p:cNvSpPr txBox="1"/>
          <p:nvPr/>
        </p:nvSpPr>
        <p:spPr>
          <a:xfrm>
            <a:off x="1043774" y="3819714"/>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5/6</a:t>
            </a:r>
            <a:endParaRPr b="0" i="0" sz="1400" u="none" cap="none" strike="noStrike">
              <a:solidFill>
                <a:schemeClr val="lt1"/>
              </a:solidFill>
              <a:latin typeface="Fira Sans"/>
              <a:ea typeface="Fira Sans"/>
              <a:cs typeface="Fira Sans"/>
              <a:sym typeface="Fira Sans"/>
            </a:endParaRPr>
          </a:p>
        </p:txBody>
      </p:sp>
      <p:pic>
        <p:nvPicPr>
          <p:cNvPr descr="Badge Tick1 outline" id="766" name="Google Shape;766;p89"/>
          <p:cNvPicPr preferRelativeResize="0"/>
          <p:nvPr/>
        </p:nvPicPr>
        <p:blipFill rotWithShape="1">
          <a:blip r:embed="rId3">
            <a:alphaModFix/>
          </a:blip>
          <a:srcRect b="0" l="0" r="0" t="0"/>
          <a:stretch/>
        </p:blipFill>
        <p:spPr>
          <a:xfrm>
            <a:off x="370425" y="2560500"/>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Lineup</a:t>
            </a:r>
            <a:endParaRPr>
              <a:solidFill>
                <a:srgbClr val="3896D2"/>
              </a:solidFill>
              <a:latin typeface="Fira Sans"/>
              <a:ea typeface="Fira Sans"/>
              <a:cs typeface="Fira Sans"/>
              <a:sym typeface="Fira Sans"/>
            </a:endParaRPr>
          </a:p>
        </p:txBody>
      </p:sp>
      <p:sp>
        <p:nvSpPr>
          <p:cNvPr id="772" name="Google Shape;772;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000"/>
              </a:spcBef>
              <a:spcAft>
                <a:spcPts val="0"/>
              </a:spcAft>
              <a:buClr>
                <a:schemeClr val="lt1"/>
              </a:buClr>
              <a:buSzPts val="1600"/>
              <a:buChar char="●"/>
            </a:pPr>
            <a:r>
              <a:rPr lang="en" sz="1600">
                <a:solidFill>
                  <a:schemeClr val="lt1"/>
                </a:solidFill>
              </a:rPr>
              <a:t>Reminder: Why is Probability relevant to ML?</a:t>
            </a:r>
            <a:endParaRPr sz="1600">
              <a:solidFill>
                <a:schemeClr val="lt1"/>
              </a:solidFill>
            </a:endParaRPr>
          </a:p>
          <a:p>
            <a:pPr indent="-330200" lvl="0" marL="457200" rtl="0" algn="l">
              <a:lnSpc>
                <a:spcPct val="150000"/>
              </a:lnSpc>
              <a:spcBef>
                <a:spcPts val="1000"/>
              </a:spcBef>
              <a:spcAft>
                <a:spcPts val="0"/>
              </a:spcAft>
              <a:buClr>
                <a:schemeClr val="lt1"/>
              </a:buClr>
              <a:buSzPts val="1600"/>
              <a:buChar char="●"/>
            </a:pPr>
            <a:r>
              <a:rPr lang="en" sz="1600">
                <a:solidFill>
                  <a:schemeClr val="lt1"/>
                </a:solidFill>
              </a:rPr>
              <a:t>Set Theory</a:t>
            </a:r>
            <a:endParaRPr sz="1600">
              <a:solidFill>
                <a:schemeClr val="lt1"/>
              </a:solidFill>
            </a:endParaRPr>
          </a:p>
          <a:p>
            <a:pPr indent="0" lvl="0" marL="0" rtl="0" algn="l">
              <a:lnSpc>
                <a:spcPct val="150000"/>
              </a:lnSpc>
              <a:spcBef>
                <a:spcPts val="1000"/>
              </a:spcBef>
              <a:spcAft>
                <a:spcPts val="1000"/>
              </a:spcAft>
              <a:buSzPts val="1800"/>
              <a:buNone/>
            </a:pPr>
            <a:r>
              <a:t/>
            </a:r>
            <a:endParaRPr sz="1600">
              <a:solidFill>
                <a:schemeClr val="lt1"/>
              </a:solidFill>
            </a:endParaRPr>
          </a:p>
        </p:txBody>
      </p:sp>
      <p:sp>
        <p:nvSpPr>
          <p:cNvPr id="773" name="Google Shape;773;p9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Pause! Applications</a:t>
            </a:r>
            <a:r>
              <a:rPr lang="en">
                <a:latin typeface="Fira Sans"/>
                <a:ea typeface="Fira Sans"/>
                <a:cs typeface="Fira Sans"/>
                <a:sym typeface="Fira Sans"/>
              </a:rPr>
              <a:t> in Machine Learning?</a:t>
            </a:r>
            <a:endParaRPr>
              <a:latin typeface="Fira Sans"/>
              <a:ea typeface="Fira Sans"/>
              <a:cs typeface="Fira Sans"/>
              <a:sym typeface="Fira Sans"/>
            </a:endParaRPr>
          </a:p>
        </p:txBody>
      </p:sp>
      <p:sp>
        <p:nvSpPr>
          <p:cNvPr id="779" name="Google Shape;779;p9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lt1"/>
              </a:buClr>
              <a:buSzPts val="1600"/>
              <a:buFont typeface="Fira Sans"/>
              <a:buAutoNum type="arabicPeriod"/>
            </a:pPr>
            <a:r>
              <a:rPr lang="en" sz="1600">
                <a:solidFill>
                  <a:schemeClr val="lt1"/>
                </a:solidFill>
                <a:latin typeface="Fira Sans"/>
                <a:ea typeface="Fira Sans"/>
                <a:cs typeface="Fira Sans"/>
                <a:sym typeface="Fira Sans"/>
              </a:rPr>
              <a:t>Exploratory data analysis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AutoNum type="arabicPeriod"/>
            </a:pPr>
            <a:r>
              <a:rPr lang="en" sz="1600">
                <a:solidFill>
                  <a:schemeClr val="lt1"/>
                </a:solidFill>
                <a:latin typeface="Fira Sans"/>
                <a:ea typeface="Fira Sans"/>
                <a:cs typeface="Fira Sans"/>
                <a:sym typeface="Fira Sans"/>
              </a:rPr>
              <a:t>Sampling data</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AutoNum type="arabicPeriod"/>
            </a:pPr>
            <a:r>
              <a:rPr lang="en" sz="1600">
                <a:solidFill>
                  <a:schemeClr val="lt1"/>
                </a:solidFill>
                <a:latin typeface="Fira Sans"/>
                <a:ea typeface="Fira Sans"/>
                <a:cs typeface="Fira Sans"/>
                <a:sym typeface="Fira Sans"/>
              </a:rPr>
              <a:t>Bias/Variance trade off - Model evaluation</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AutoNum type="arabicPeriod"/>
            </a:pPr>
            <a:r>
              <a:rPr lang="en" sz="1600">
                <a:solidFill>
                  <a:schemeClr val="lt1"/>
                </a:solidFill>
                <a:latin typeface="Fira Sans"/>
                <a:ea typeface="Fira Sans"/>
                <a:cs typeface="Fira Sans"/>
                <a:sym typeface="Fira Sans"/>
              </a:rPr>
              <a:t>Predicting or forecasting some unknown values based on observed data.</a:t>
            </a:r>
            <a:endParaRPr sz="1600">
              <a:solidFill>
                <a:schemeClr val="lt1"/>
              </a:solidFill>
            </a:endParaRPr>
          </a:p>
          <a:p>
            <a:pPr indent="0" lvl="0" marL="0" rtl="0" algn="l">
              <a:lnSpc>
                <a:spcPct val="150000"/>
              </a:lnSpc>
              <a:spcBef>
                <a:spcPts val="1200"/>
              </a:spcBef>
              <a:spcAft>
                <a:spcPts val="0"/>
              </a:spcAft>
              <a:buSzPts val="1946"/>
              <a:buNone/>
            </a:pPr>
            <a:r>
              <a:rPr lang="en" sz="1600">
                <a:solidFill>
                  <a:schemeClr val="lt1"/>
                </a:solidFill>
              </a:rPr>
              <a:t>These topics and much more will be covered in the coming weeks.</a:t>
            </a:r>
            <a:endParaRPr sz="1600">
              <a:solidFill>
                <a:schemeClr val="lt1"/>
              </a:solidFill>
            </a:endParaRPr>
          </a:p>
          <a:p>
            <a:pPr indent="0" lvl="0" marL="0" rtl="0" algn="l">
              <a:lnSpc>
                <a:spcPct val="150000"/>
              </a:lnSpc>
              <a:spcBef>
                <a:spcPts val="1200"/>
              </a:spcBef>
              <a:spcAft>
                <a:spcPts val="1200"/>
              </a:spcAft>
              <a:buSzPts val="1946"/>
              <a:buNone/>
            </a:pPr>
            <a:r>
              <a:rPr lang="en" sz="1600">
                <a:solidFill>
                  <a:schemeClr val="lt1"/>
                </a:solidFill>
              </a:rPr>
              <a:t>First, we gather the basic components to build these great tools.</a:t>
            </a:r>
            <a:endParaRPr sz="1600">
              <a:solidFill>
                <a:schemeClr val="lt1"/>
              </a:solidFill>
            </a:endParaRPr>
          </a:p>
        </p:txBody>
      </p:sp>
      <p:sp>
        <p:nvSpPr>
          <p:cNvPr id="780" name="Google Shape;780;p9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Pause! What about Statistics?</a:t>
            </a:r>
            <a:endParaRPr>
              <a:solidFill>
                <a:srgbClr val="3896D2"/>
              </a:solidFill>
              <a:latin typeface="Fira Sans"/>
              <a:ea typeface="Fira Sans"/>
              <a:cs typeface="Fira Sans"/>
              <a:sym typeface="Fira Sans"/>
            </a:endParaRPr>
          </a:p>
        </p:txBody>
      </p:sp>
      <p:sp>
        <p:nvSpPr>
          <p:cNvPr id="786" name="Google Shape;786;p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Statistics methods are used to understand the training data as well as interpret the results of testing different machine learning models. </a:t>
            </a:r>
            <a:endParaRPr sz="1600">
              <a:solidFill>
                <a:schemeClr val="lt1"/>
              </a:solidFill>
            </a:endParaRPr>
          </a:p>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Statistics can be used to make better-informed business and investing decisions. </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The list of applications of statistics is endless! </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Probability gives a mathematical foundation to understand and apply statistics.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We will develop incredibly useful statistical tools in the coming weeks</a:t>
            </a:r>
            <a:r>
              <a:rPr lang="en" sz="1600">
                <a:solidFill>
                  <a:schemeClr val="dk1"/>
                </a:solidFill>
              </a:rPr>
              <a:t>.</a:t>
            </a:r>
            <a:endParaRPr sz="1600">
              <a:solidFill>
                <a:schemeClr val="dk1"/>
              </a:solidFill>
              <a:latin typeface="Fira Sans"/>
              <a:ea typeface="Fira Sans"/>
              <a:cs typeface="Fira Sans"/>
              <a:sym typeface="Fira Sans"/>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
        <p:nvSpPr>
          <p:cNvPr id="787" name="Google Shape;787;p9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93"/>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793" name="Google Shape;793;p9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794" name="Google Shape;794;p9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700"/>
              </a:spcBef>
              <a:spcAft>
                <a:spcPts val="0"/>
              </a:spcAft>
              <a:buClr>
                <a:schemeClr val="lt1"/>
              </a:buClr>
              <a:buSzPts val="1600"/>
              <a:buChar char="●"/>
            </a:pPr>
            <a:r>
              <a:rPr lang="en" sz="1600">
                <a:solidFill>
                  <a:schemeClr val="lt1"/>
                </a:solidFill>
              </a:rPr>
              <a:t>Forget everything you know about numbers!</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Instead of math with numbers, we will now think about math with "things".</a:t>
            </a:r>
            <a:endParaRPr sz="1600">
              <a:solidFill>
                <a:schemeClr val="dk1"/>
              </a:solidFill>
              <a:latin typeface="Fira Sans"/>
              <a:ea typeface="Fira Sans"/>
              <a:cs typeface="Fira Sans"/>
              <a:sym typeface="Fira Sans"/>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94"/>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00" name="Google Shape;800;p9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01" name="Google Shape;801;p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What is a set? Well, simply put, it's a collection.</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First we specify a common property among "things" (we define this word later) and then we gather up all the "things" that have this common property.</a:t>
            </a:r>
            <a:endParaRPr sz="1600"/>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pic>
        <p:nvPicPr>
          <p:cNvPr id="802" name="Google Shape;802;p94"/>
          <p:cNvPicPr preferRelativeResize="0"/>
          <p:nvPr/>
        </p:nvPicPr>
        <p:blipFill rotWithShape="1">
          <a:blip r:embed="rId3">
            <a:alphaModFix/>
          </a:blip>
          <a:srcRect b="0" l="0" r="0" t="0"/>
          <a:stretch/>
        </p:blipFill>
        <p:spPr>
          <a:xfrm>
            <a:off x="534400" y="2314424"/>
            <a:ext cx="3308324" cy="2254450"/>
          </a:xfrm>
          <a:prstGeom prst="rect">
            <a:avLst/>
          </a:prstGeom>
          <a:noFill/>
          <a:ln>
            <a:noFill/>
          </a:ln>
        </p:spPr>
      </p:pic>
      <p:sp>
        <p:nvSpPr>
          <p:cNvPr id="803" name="Google Shape;803;p94"/>
          <p:cNvSpPr txBox="1"/>
          <p:nvPr/>
        </p:nvSpPr>
        <p:spPr>
          <a:xfrm>
            <a:off x="4048925" y="2508800"/>
            <a:ext cx="3953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For example, the items you wear: hat, shirt, jacket, pants, and so on. This is known as a set.</a:t>
            </a:r>
            <a:endParaRPr b="0" i="0" sz="1600" u="none" cap="none" strike="noStrike">
              <a:solidFill>
                <a:schemeClr val="lt1"/>
              </a:solidFill>
              <a:latin typeface="Fira Sans"/>
              <a:ea typeface="Fira Sans"/>
              <a:cs typeface="Fira Sans"/>
              <a:sym typeface="Fir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95"/>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09" name="Google Shape;809;p9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10" name="Google Shape;810;p9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A set is a well-defined collection of distinct objects, considered as an object in its own right. Sets are a fundamental concept in mathematics and are used to group objects that share a common property or characteristic.</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96"/>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16" name="Google Shape;816;p9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17" name="Google Shape;817;p9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A set is a well-defined collection of distinct objects, considered as an object in its own right. Sets are a fundamental concept in mathematics and are used to group objects that share a common property or characteristic.</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Characteristics of a Set:</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97"/>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23" name="Google Shape;823;p9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24" name="Google Shape;824;p9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A set is a well-defined collection of distinct objects, considered as an object in its own right. Sets are a fundamental concept in mathematics and are used to group objects that share a common property or characteristic.</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Characteristics of a Set:</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Well-Defined</a:t>
            </a:r>
            <a:r>
              <a:rPr lang="en" sz="1600">
                <a:solidFill>
                  <a:schemeClr val="lt1"/>
                </a:solidFill>
              </a:rPr>
              <a:t>: The objects in a set must be clearly identifiable and unambiguous. There should be a clear criterion for determining whether an object belongs to the set or not.</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98"/>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30" name="Google Shape;830;p9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31" name="Google Shape;831;p9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A set is a well-defined collection of distinct objects, considered as an object in its own right. Sets are a fundamental concept in mathematics and are used to group objects that share a common property or characteristic.</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Characteristics of a Set:</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Well-Defined</a:t>
            </a:r>
            <a:r>
              <a:rPr lang="en" sz="1600">
                <a:solidFill>
                  <a:schemeClr val="lt1"/>
                </a:solidFill>
              </a:rPr>
              <a:t>: The objects in a set must be clearly identifiable and unambiguous. There should be a clear criterion for determining whether an object belongs to the set or not.</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Distinct Elements</a:t>
            </a:r>
            <a:r>
              <a:rPr lang="en" sz="1600">
                <a:solidFill>
                  <a:schemeClr val="lt1"/>
                </a:solidFill>
              </a:rPr>
              <a:t>: Each element in a set is unique. No two elements in a set are identical.</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99"/>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37" name="Google Shape;837;p9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38" name="Google Shape;838;p9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A set is a well-defined collection of distinct objects, considered as an object in its own right. Sets are a fundamental concept in mathematics and are used to group objects that share a common property or characteristic.</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Characteristics of a Set:</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Well-Defined</a:t>
            </a:r>
            <a:r>
              <a:rPr lang="en" sz="1600">
                <a:solidFill>
                  <a:schemeClr val="lt1"/>
                </a:solidFill>
              </a:rPr>
              <a:t>: The objects in a set must be clearly identifiable and unambiguous. There should be a clear criterion for determining whether an object belongs to the set or not.</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Distinct Elements</a:t>
            </a:r>
            <a:r>
              <a:rPr lang="en" sz="1600">
                <a:solidFill>
                  <a:schemeClr val="lt1"/>
                </a:solidFill>
              </a:rPr>
              <a:t>: Each element in a set is unique. No two elements in a set are identical.</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b="1" lang="en" sz="1600">
                <a:solidFill>
                  <a:schemeClr val="lt1"/>
                </a:solidFill>
              </a:rPr>
              <a:t>Notation</a:t>
            </a:r>
            <a:r>
              <a:rPr lang="en" sz="1600">
                <a:solidFill>
                  <a:schemeClr val="lt1"/>
                </a:solidFill>
              </a:rPr>
              <a:t>: Sets are usually denoted by capital letters and their elements are listed within curly braces. For example, a set 𝐴, containing the numbers 1, 2, and 3 is written as 𝐴 = {1,2,3}</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00"/>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44" name="Google Shape;844;p10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45" name="Google Shape;845;p10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Going back to our movie buff Anna</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
        <p:nvSpPr>
          <p:cNvPr id="846" name="Google Shape;846;p100"/>
          <p:cNvSpPr txBox="1"/>
          <p:nvPr/>
        </p:nvSpPr>
        <p:spPr>
          <a:xfrm>
            <a:off x="1435550" y="2382663"/>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Shawshank Redemption</a:t>
            </a:r>
            <a:endParaRPr b="0" i="0" sz="1200" u="none" cap="none" strike="noStrike">
              <a:solidFill>
                <a:srgbClr val="00B0F0"/>
              </a:solidFill>
              <a:latin typeface="Fira Sans"/>
              <a:ea typeface="Fira Sans"/>
              <a:cs typeface="Fira Sans"/>
              <a:sym typeface="Fira Sans"/>
            </a:endParaRPr>
          </a:p>
        </p:txBody>
      </p:sp>
      <p:sp>
        <p:nvSpPr>
          <p:cNvPr id="847" name="Google Shape;847;p100"/>
          <p:cNvSpPr txBox="1"/>
          <p:nvPr/>
        </p:nvSpPr>
        <p:spPr>
          <a:xfrm>
            <a:off x="2827475" y="317775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BB831"/>
                </a:solidFill>
                <a:latin typeface="Fira Sans"/>
                <a:ea typeface="Fira Sans"/>
                <a:cs typeface="Fira Sans"/>
                <a:sym typeface="Fira Sans"/>
              </a:rPr>
              <a:t>13TH </a:t>
            </a:r>
            <a:endParaRPr b="0" i="0" sz="1200" u="none" cap="none" strike="noStrike">
              <a:solidFill>
                <a:srgbClr val="FBB831"/>
              </a:solidFill>
              <a:latin typeface="Fira Sans"/>
              <a:ea typeface="Fira Sans"/>
              <a:cs typeface="Fira Sans"/>
              <a:sym typeface="Fira Sans"/>
            </a:endParaRPr>
          </a:p>
        </p:txBody>
      </p:sp>
      <p:sp>
        <p:nvSpPr>
          <p:cNvPr id="848" name="Google Shape;848;p100"/>
          <p:cNvSpPr txBox="1"/>
          <p:nvPr/>
        </p:nvSpPr>
        <p:spPr>
          <a:xfrm>
            <a:off x="2827475" y="35938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Bridesmaids</a:t>
            </a:r>
            <a:endParaRPr b="0" i="0" sz="1200" u="none" cap="none" strike="noStrike">
              <a:solidFill>
                <a:srgbClr val="8FC03F"/>
              </a:solidFill>
              <a:latin typeface="Fira Sans"/>
              <a:ea typeface="Fira Sans"/>
              <a:cs typeface="Fira Sans"/>
              <a:sym typeface="Fira Sans"/>
            </a:endParaRPr>
          </a:p>
        </p:txBody>
      </p:sp>
      <p:sp>
        <p:nvSpPr>
          <p:cNvPr id="849" name="Google Shape;849;p100"/>
          <p:cNvSpPr txBox="1"/>
          <p:nvPr/>
        </p:nvSpPr>
        <p:spPr>
          <a:xfrm>
            <a:off x="1803300" y="415370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Forrest Gump</a:t>
            </a:r>
            <a:endParaRPr b="0" i="0" sz="1200" u="none" cap="none" strike="noStrike">
              <a:solidFill>
                <a:srgbClr val="00B0F0"/>
              </a:solidFill>
              <a:latin typeface="Fira Sans"/>
              <a:ea typeface="Fira Sans"/>
              <a:cs typeface="Fira Sans"/>
              <a:sym typeface="Fira Sans"/>
            </a:endParaRPr>
          </a:p>
        </p:txBody>
      </p:sp>
      <p:sp>
        <p:nvSpPr>
          <p:cNvPr id="850" name="Google Shape;850;p100"/>
          <p:cNvSpPr txBox="1"/>
          <p:nvPr/>
        </p:nvSpPr>
        <p:spPr>
          <a:xfrm>
            <a:off x="1435550" y="3010325"/>
            <a:ext cx="1074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John Wick</a:t>
            </a:r>
            <a:endParaRPr b="0" i="0" sz="1200" u="none" cap="none" strike="noStrike">
              <a:solidFill>
                <a:srgbClr val="EA9999"/>
              </a:solidFill>
              <a:latin typeface="Fira Sans"/>
              <a:ea typeface="Fira Sans"/>
              <a:cs typeface="Fira Sans"/>
              <a:sym typeface="Fira Sans"/>
            </a:endParaRPr>
          </a:p>
        </p:txBody>
      </p:sp>
      <p:sp>
        <p:nvSpPr>
          <p:cNvPr id="851" name="Google Shape;851;p100"/>
          <p:cNvSpPr txBox="1"/>
          <p:nvPr/>
        </p:nvSpPr>
        <p:spPr>
          <a:xfrm>
            <a:off x="1500100" y="3391450"/>
            <a:ext cx="1435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The Godfather</a:t>
            </a:r>
            <a:endParaRPr b="0" i="0" sz="1200" u="none" cap="none" strike="noStrike">
              <a:solidFill>
                <a:srgbClr val="00B0F0"/>
              </a:solidFill>
              <a:latin typeface="Fira Sans"/>
              <a:ea typeface="Fira Sans"/>
              <a:cs typeface="Fira Sans"/>
              <a:sym typeface="Fira Sans"/>
            </a:endParaRPr>
          </a:p>
        </p:txBody>
      </p:sp>
      <p:sp>
        <p:nvSpPr>
          <p:cNvPr id="852" name="Google Shape;852;p100"/>
          <p:cNvSpPr txBox="1"/>
          <p:nvPr/>
        </p:nvSpPr>
        <p:spPr>
          <a:xfrm>
            <a:off x="2715650" y="280845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Schindler’s List</a:t>
            </a:r>
            <a:endParaRPr b="0" i="0" sz="1200" u="none" cap="none" strike="noStrike">
              <a:solidFill>
                <a:srgbClr val="00B0F0"/>
              </a:solidFill>
              <a:latin typeface="Fira Sans"/>
              <a:ea typeface="Fira Sans"/>
              <a:cs typeface="Fira Sans"/>
              <a:sym typeface="Fira Sans"/>
            </a:endParaRPr>
          </a:p>
        </p:txBody>
      </p:sp>
      <p:sp>
        <p:nvSpPr>
          <p:cNvPr id="853" name="Google Shape;853;p100"/>
          <p:cNvSpPr txBox="1"/>
          <p:nvPr/>
        </p:nvSpPr>
        <p:spPr>
          <a:xfrm>
            <a:off x="1435550" y="2719063"/>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Mad Max</a:t>
            </a:r>
            <a:endParaRPr b="0" i="0" sz="1200" u="none" cap="none" strike="noStrike">
              <a:solidFill>
                <a:srgbClr val="EA9999"/>
              </a:solidFill>
              <a:latin typeface="Fira Sans"/>
              <a:ea typeface="Fira Sans"/>
              <a:cs typeface="Fira Sans"/>
              <a:sym typeface="Fira Sans"/>
            </a:endParaRPr>
          </a:p>
        </p:txBody>
      </p:sp>
      <p:sp>
        <p:nvSpPr>
          <p:cNvPr id="854" name="Google Shape;854;p100"/>
          <p:cNvSpPr txBox="1"/>
          <p:nvPr/>
        </p:nvSpPr>
        <p:spPr>
          <a:xfrm>
            <a:off x="1551600" y="37725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The Hangover</a:t>
            </a:r>
            <a:endParaRPr b="0" i="0" sz="1200" u="none" cap="none" strike="noStrike">
              <a:solidFill>
                <a:srgbClr val="8FC03F"/>
              </a:solidFill>
              <a:latin typeface="Fira Sans"/>
              <a:ea typeface="Fira Sans"/>
              <a:cs typeface="Fira Sans"/>
              <a:sym typeface="Fira Sans"/>
            </a:endParaRPr>
          </a:p>
        </p:txBody>
      </p:sp>
      <p:sp>
        <p:nvSpPr>
          <p:cNvPr id="855" name="Google Shape;855;p100"/>
          <p:cNvSpPr txBox="1"/>
          <p:nvPr/>
        </p:nvSpPr>
        <p:spPr>
          <a:xfrm>
            <a:off x="2935350" y="400990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Superbad</a:t>
            </a:r>
            <a:endParaRPr b="0" i="0" sz="1200" u="none" cap="none" strike="noStrike">
              <a:solidFill>
                <a:srgbClr val="8FC03F"/>
              </a:solidFill>
              <a:latin typeface="Fira Sans"/>
              <a:ea typeface="Fira Sans"/>
              <a:cs typeface="Fira Sans"/>
              <a:sym typeface="Fira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01"/>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61" name="Google Shape;861;p10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62" name="Google Shape;862;p10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lt1"/>
              </a:buClr>
              <a:buSzPts val="1600"/>
              <a:buChar char="●"/>
            </a:pPr>
            <a:r>
              <a:rPr lang="en" sz="1600">
                <a:solidFill>
                  <a:schemeClr val="lt1"/>
                </a:solidFill>
              </a:rPr>
              <a:t>Defining Sets:</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lang="en" sz="1600">
                <a:solidFill>
                  <a:schemeClr val="lt1"/>
                </a:solidFill>
              </a:rPr>
              <a:t>Set of all Movies (</a:t>
            </a:r>
            <a:r>
              <a:rPr b="1" lang="en" sz="1600">
                <a:solidFill>
                  <a:schemeClr val="lt1"/>
                </a:solidFill>
              </a:rPr>
              <a:t>U</a:t>
            </a:r>
            <a:r>
              <a:rPr lang="en" sz="1600">
                <a:solidFill>
                  <a:schemeClr val="lt1"/>
                </a:solidFill>
              </a:rPr>
              <a:t>):</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The universal set includes all the movies anna is considering</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U = </a:t>
            </a:r>
            <a:r>
              <a:rPr lang="en" sz="3200">
                <a:solidFill>
                  <a:schemeClr val="lt1"/>
                </a:solidFill>
              </a:rPr>
              <a:t>{</a:t>
            </a:r>
            <a:r>
              <a:rPr lang="en" sz="1600">
                <a:solidFill>
                  <a:schemeClr val="lt1"/>
                </a:solidFill>
              </a:rPr>
              <a:t>                                                                                                          </a:t>
            </a:r>
            <a:r>
              <a:rPr lang="en" sz="3200">
                <a:solidFill>
                  <a:schemeClr val="lt1"/>
                </a:solidFill>
              </a:rPr>
              <a:t>}</a:t>
            </a:r>
            <a:endParaRPr sz="32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lang="en" sz="1600">
                <a:solidFill>
                  <a:schemeClr val="lt1"/>
                </a:solidFill>
              </a:rPr>
              <a:t>Set of movies anna likes (</a:t>
            </a:r>
            <a:r>
              <a:rPr b="1" lang="en" sz="1600">
                <a:solidFill>
                  <a:schemeClr val="lt1"/>
                </a:solidFill>
              </a:rPr>
              <a:t>A</a:t>
            </a:r>
            <a:r>
              <a:rPr lang="en" sz="1600">
                <a:solidFill>
                  <a:schemeClr val="lt1"/>
                </a:solidFill>
              </a:rPr>
              <a:t>):</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Suppose Anna likes 1 Action, 2 Comedies, and 2 Dramas</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A = {                                                                                                     }</a:t>
            </a:r>
            <a:endParaRPr sz="1600">
              <a:solidFill>
                <a:schemeClr val="lt1"/>
              </a:solidFill>
            </a:endParaRPr>
          </a:p>
          <a:p>
            <a:pPr indent="-330200" lvl="1" marL="914400" rtl="0" algn="l">
              <a:lnSpc>
                <a:spcPct val="115000"/>
              </a:lnSpc>
              <a:spcBef>
                <a:spcPts val="0"/>
              </a:spcBef>
              <a:spcAft>
                <a:spcPts val="0"/>
              </a:spcAft>
              <a:buClr>
                <a:schemeClr val="lt1"/>
              </a:buClr>
              <a:buSzPts val="1600"/>
              <a:buAutoNum type="alphaLcPeriod"/>
            </a:pPr>
            <a:r>
              <a:rPr lang="en" sz="1600">
                <a:solidFill>
                  <a:schemeClr val="lt1"/>
                </a:solidFill>
              </a:rPr>
              <a:t>Set of movies Anna has watched (</a:t>
            </a:r>
            <a:r>
              <a:rPr b="1" lang="en" sz="1600">
                <a:solidFill>
                  <a:schemeClr val="lt1"/>
                </a:solidFill>
              </a:rPr>
              <a:t>B</a:t>
            </a:r>
            <a:r>
              <a:rPr lang="en" sz="1600">
                <a:solidFill>
                  <a:schemeClr val="lt1"/>
                </a:solidFill>
              </a:rPr>
              <a:t>): </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Suppose Anna has watched 1 Action, 1 Comedy, and 1 Documentary</a:t>
            </a:r>
            <a:endParaRPr sz="1600">
              <a:solidFill>
                <a:schemeClr val="lt1"/>
              </a:solidFill>
            </a:endParaRPr>
          </a:p>
          <a:p>
            <a:pPr indent="-330200" lvl="2" marL="1371600" rtl="0" algn="l">
              <a:lnSpc>
                <a:spcPct val="115000"/>
              </a:lnSpc>
              <a:spcBef>
                <a:spcPts val="0"/>
              </a:spcBef>
              <a:spcAft>
                <a:spcPts val="0"/>
              </a:spcAft>
              <a:buClr>
                <a:schemeClr val="lt1"/>
              </a:buClr>
              <a:buSzPts val="1600"/>
              <a:buAutoNum type="romanLcPeriod"/>
            </a:pPr>
            <a:r>
              <a:rPr lang="en" sz="1600">
                <a:solidFill>
                  <a:schemeClr val="lt1"/>
                </a:solidFill>
              </a:rPr>
              <a:t>B = {</a:t>
            </a:r>
            <a:r>
              <a:rPr lang="en" sz="1200">
                <a:solidFill>
                  <a:srgbClr val="EA9999"/>
                </a:solidFill>
              </a:rPr>
              <a:t>Mad Max </a:t>
            </a:r>
            <a:r>
              <a:rPr lang="en" sz="1200">
                <a:solidFill>
                  <a:srgbClr val="8FC03F"/>
                </a:solidFill>
              </a:rPr>
              <a:t>The Hangover </a:t>
            </a:r>
            <a:r>
              <a:rPr lang="en" sz="1200">
                <a:solidFill>
                  <a:srgbClr val="FBB831"/>
                </a:solidFill>
              </a:rPr>
              <a:t>13TH </a:t>
            </a:r>
            <a:r>
              <a:rPr lang="en" sz="1600">
                <a:solidFill>
                  <a:schemeClr val="lt1"/>
                </a:solidFill>
              </a:rPr>
              <a:t>}</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rgbClr val="333333"/>
              </a:solidFill>
              <a:highlight>
                <a:srgbClr val="FFFFFF"/>
              </a:highlight>
              <a:latin typeface="Roboto"/>
              <a:ea typeface="Roboto"/>
              <a:cs typeface="Roboto"/>
              <a:sym typeface="Roboto"/>
            </a:endParaRPr>
          </a:p>
        </p:txBody>
      </p:sp>
      <p:sp>
        <p:nvSpPr>
          <p:cNvPr id="863" name="Google Shape;863;p101"/>
          <p:cNvSpPr txBox="1"/>
          <p:nvPr/>
        </p:nvSpPr>
        <p:spPr>
          <a:xfrm>
            <a:off x="2200775" y="20247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Shawshank Redemption</a:t>
            </a:r>
            <a:endParaRPr b="0" i="0" sz="1200" u="none" cap="none" strike="noStrike">
              <a:solidFill>
                <a:srgbClr val="00B0F0"/>
              </a:solidFill>
              <a:latin typeface="Fira Sans"/>
              <a:ea typeface="Fira Sans"/>
              <a:cs typeface="Fira Sans"/>
              <a:sym typeface="Fira Sans"/>
            </a:endParaRPr>
          </a:p>
        </p:txBody>
      </p:sp>
      <p:sp>
        <p:nvSpPr>
          <p:cNvPr id="864" name="Google Shape;864;p101"/>
          <p:cNvSpPr txBox="1"/>
          <p:nvPr/>
        </p:nvSpPr>
        <p:spPr>
          <a:xfrm>
            <a:off x="6188650" y="230595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BB831"/>
                </a:solidFill>
                <a:latin typeface="Fira Sans"/>
                <a:ea typeface="Fira Sans"/>
                <a:cs typeface="Fira Sans"/>
                <a:sym typeface="Fira Sans"/>
              </a:rPr>
              <a:t>13TH </a:t>
            </a:r>
            <a:endParaRPr b="0" i="0" sz="1200" u="none" cap="none" strike="noStrike">
              <a:solidFill>
                <a:srgbClr val="FBB831"/>
              </a:solidFill>
              <a:latin typeface="Fira Sans"/>
              <a:ea typeface="Fira Sans"/>
              <a:cs typeface="Fira Sans"/>
              <a:sym typeface="Fira Sans"/>
            </a:endParaRPr>
          </a:p>
        </p:txBody>
      </p:sp>
      <p:sp>
        <p:nvSpPr>
          <p:cNvPr id="865" name="Google Shape;865;p101"/>
          <p:cNvSpPr txBox="1"/>
          <p:nvPr/>
        </p:nvSpPr>
        <p:spPr>
          <a:xfrm>
            <a:off x="4939125" y="2260400"/>
            <a:ext cx="1392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Bridesmaids</a:t>
            </a:r>
            <a:endParaRPr b="0" i="0" sz="1200" u="none" cap="none" strike="noStrike">
              <a:solidFill>
                <a:srgbClr val="8FC03F"/>
              </a:solidFill>
              <a:latin typeface="Fira Sans"/>
              <a:ea typeface="Fira Sans"/>
              <a:cs typeface="Fira Sans"/>
              <a:sym typeface="Fira Sans"/>
            </a:endParaRPr>
          </a:p>
        </p:txBody>
      </p:sp>
      <p:sp>
        <p:nvSpPr>
          <p:cNvPr id="866" name="Google Shape;866;p101"/>
          <p:cNvSpPr txBox="1"/>
          <p:nvPr/>
        </p:nvSpPr>
        <p:spPr>
          <a:xfrm>
            <a:off x="3517675" y="2260400"/>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Forrest Gump</a:t>
            </a:r>
            <a:endParaRPr b="0" i="0" sz="1200" u="none" cap="none" strike="noStrike">
              <a:solidFill>
                <a:srgbClr val="00B0F0"/>
              </a:solidFill>
              <a:latin typeface="Fira Sans"/>
              <a:ea typeface="Fira Sans"/>
              <a:cs typeface="Fira Sans"/>
              <a:sym typeface="Fira Sans"/>
            </a:endParaRPr>
          </a:p>
        </p:txBody>
      </p:sp>
      <p:sp>
        <p:nvSpPr>
          <p:cNvPr id="867" name="Google Shape;867;p101"/>
          <p:cNvSpPr txBox="1"/>
          <p:nvPr/>
        </p:nvSpPr>
        <p:spPr>
          <a:xfrm>
            <a:off x="7082750" y="2024775"/>
            <a:ext cx="1074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John Wick</a:t>
            </a:r>
            <a:endParaRPr b="0" i="0" sz="1200" u="none" cap="none" strike="noStrike">
              <a:solidFill>
                <a:srgbClr val="EA9999"/>
              </a:solidFill>
              <a:latin typeface="Fira Sans"/>
              <a:ea typeface="Fira Sans"/>
              <a:cs typeface="Fira Sans"/>
              <a:sym typeface="Fira Sans"/>
            </a:endParaRPr>
          </a:p>
        </p:txBody>
      </p:sp>
      <p:sp>
        <p:nvSpPr>
          <p:cNvPr id="868" name="Google Shape;868;p101"/>
          <p:cNvSpPr txBox="1"/>
          <p:nvPr/>
        </p:nvSpPr>
        <p:spPr>
          <a:xfrm>
            <a:off x="2284725" y="2260400"/>
            <a:ext cx="1435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The Godfather</a:t>
            </a:r>
            <a:endParaRPr b="0" i="0" sz="1200" u="none" cap="none" strike="noStrike">
              <a:solidFill>
                <a:srgbClr val="00B0F0"/>
              </a:solidFill>
              <a:latin typeface="Fira Sans"/>
              <a:ea typeface="Fira Sans"/>
              <a:cs typeface="Fira Sans"/>
              <a:sym typeface="Fira Sans"/>
            </a:endParaRPr>
          </a:p>
        </p:txBody>
      </p:sp>
      <p:sp>
        <p:nvSpPr>
          <p:cNvPr id="869" name="Google Shape;869;p101"/>
          <p:cNvSpPr txBox="1"/>
          <p:nvPr/>
        </p:nvSpPr>
        <p:spPr>
          <a:xfrm>
            <a:off x="3974875" y="2024775"/>
            <a:ext cx="1392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Schindler’s List</a:t>
            </a:r>
            <a:endParaRPr b="0" i="0" sz="1200" u="none" cap="none" strike="noStrike">
              <a:solidFill>
                <a:srgbClr val="00B0F0"/>
              </a:solidFill>
              <a:latin typeface="Fira Sans"/>
              <a:ea typeface="Fira Sans"/>
              <a:cs typeface="Fira Sans"/>
              <a:sym typeface="Fira Sans"/>
            </a:endParaRPr>
          </a:p>
        </p:txBody>
      </p:sp>
      <p:sp>
        <p:nvSpPr>
          <p:cNvPr id="870" name="Google Shape;870;p101"/>
          <p:cNvSpPr txBox="1"/>
          <p:nvPr/>
        </p:nvSpPr>
        <p:spPr>
          <a:xfrm>
            <a:off x="6859950" y="2260388"/>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Mad Max</a:t>
            </a:r>
            <a:endParaRPr b="0" i="0" sz="1200" u="none" cap="none" strike="noStrike">
              <a:solidFill>
                <a:srgbClr val="EA9999"/>
              </a:solidFill>
              <a:latin typeface="Fira Sans"/>
              <a:ea typeface="Fira Sans"/>
              <a:cs typeface="Fira Sans"/>
              <a:sym typeface="Fira Sans"/>
            </a:endParaRPr>
          </a:p>
        </p:txBody>
      </p:sp>
      <p:sp>
        <p:nvSpPr>
          <p:cNvPr id="871" name="Google Shape;871;p101"/>
          <p:cNvSpPr txBox="1"/>
          <p:nvPr/>
        </p:nvSpPr>
        <p:spPr>
          <a:xfrm>
            <a:off x="5184000" y="20247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The Hangover</a:t>
            </a:r>
            <a:endParaRPr b="0" i="0" sz="1200" u="none" cap="none" strike="noStrike">
              <a:solidFill>
                <a:srgbClr val="8FC03F"/>
              </a:solidFill>
              <a:latin typeface="Fira Sans"/>
              <a:ea typeface="Fira Sans"/>
              <a:cs typeface="Fira Sans"/>
              <a:sym typeface="Fira Sans"/>
            </a:endParaRPr>
          </a:p>
        </p:txBody>
      </p:sp>
      <p:sp>
        <p:nvSpPr>
          <p:cNvPr id="872" name="Google Shape;872;p101"/>
          <p:cNvSpPr txBox="1"/>
          <p:nvPr/>
        </p:nvSpPr>
        <p:spPr>
          <a:xfrm>
            <a:off x="6257800" y="202477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Superbad</a:t>
            </a:r>
            <a:endParaRPr b="0" i="0" sz="1200" u="none" cap="none" strike="noStrike">
              <a:solidFill>
                <a:srgbClr val="8FC03F"/>
              </a:solidFill>
              <a:latin typeface="Fira Sans"/>
              <a:ea typeface="Fira Sans"/>
              <a:cs typeface="Fira Sans"/>
              <a:sym typeface="Fira Sans"/>
            </a:endParaRPr>
          </a:p>
        </p:txBody>
      </p:sp>
      <p:sp>
        <p:nvSpPr>
          <p:cNvPr id="873" name="Google Shape;873;p101"/>
          <p:cNvSpPr txBox="1"/>
          <p:nvPr/>
        </p:nvSpPr>
        <p:spPr>
          <a:xfrm>
            <a:off x="2200775" y="3168325"/>
            <a:ext cx="1317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A9999"/>
                </a:solidFill>
                <a:latin typeface="Fira Sans"/>
                <a:ea typeface="Fira Sans"/>
                <a:cs typeface="Fira Sans"/>
                <a:sym typeface="Fira Sans"/>
              </a:rPr>
              <a:t>Mad Max</a:t>
            </a:r>
            <a:endParaRPr b="0" i="0" sz="1200" u="none" cap="none" strike="noStrike">
              <a:solidFill>
                <a:srgbClr val="EA9999"/>
              </a:solidFill>
              <a:latin typeface="Fira Sans"/>
              <a:ea typeface="Fira Sans"/>
              <a:cs typeface="Fira Sans"/>
              <a:sym typeface="Fira Sans"/>
            </a:endParaRPr>
          </a:p>
        </p:txBody>
      </p:sp>
      <p:sp>
        <p:nvSpPr>
          <p:cNvPr id="874" name="Google Shape;874;p101"/>
          <p:cNvSpPr txBox="1"/>
          <p:nvPr/>
        </p:nvSpPr>
        <p:spPr>
          <a:xfrm>
            <a:off x="2865900" y="3168325"/>
            <a:ext cx="1659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The Hangover</a:t>
            </a:r>
            <a:endParaRPr b="0" i="0" sz="1200" u="none" cap="none" strike="noStrike">
              <a:solidFill>
                <a:srgbClr val="8FC03F"/>
              </a:solidFill>
              <a:latin typeface="Fira Sans"/>
              <a:ea typeface="Fira Sans"/>
              <a:cs typeface="Fira Sans"/>
              <a:sym typeface="Fira Sans"/>
            </a:endParaRPr>
          </a:p>
        </p:txBody>
      </p:sp>
      <p:sp>
        <p:nvSpPr>
          <p:cNvPr id="875" name="Google Shape;875;p101"/>
          <p:cNvSpPr txBox="1"/>
          <p:nvPr/>
        </p:nvSpPr>
        <p:spPr>
          <a:xfrm>
            <a:off x="3974863" y="31683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8FC03F"/>
                </a:solidFill>
                <a:latin typeface="Fira Sans"/>
                <a:ea typeface="Fira Sans"/>
                <a:cs typeface="Fira Sans"/>
                <a:sym typeface="Fira Sans"/>
              </a:rPr>
              <a:t>Superbad</a:t>
            </a:r>
            <a:endParaRPr b="0" i="0" sz="1200" u="none" cap="none" strike="noStrike">
              <a:solidFill>
                <a:srgbClr val="8FC03F"/>
              </a:solidFill>
              <a:latin typeface="Fira Sans"/>
              <a:ea typeface="Fira Sans"/>
              <a:cs typeface="Fira Sans"/>
              <a:sym typeface="Fira Sans"/>
            </a:endParaRPr>
          </a:p>
        </p:txBody>
      </p:sp>
      <p:sp>
        <p:nvSpPr>
          <p:cNvPr id="876" name="Google Shape;876;p101"/>
          <p:cNvSpPr txBox="1"/>
          <p:nvPr/>
        </p:nvSpPr>
        <p:spPr>
          <a:xfrm>
            <a:off x="6548400" y="31683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Forrest Gump</a:t>
            </a:r>
            <a:endParaRPr b="0" i="0" sz="1200" u="none" cap="none" strike="noStrike">
              <a:solidFill>
                <a:srgbClr val="00B0F0"/>
              </a:solidFill>
              <a:latin typeface="Fira Sans"/>
              <a:ea typeface="Fira Sans"/>
              <a:cs typeface="Fira Sans"/>
              <a:sym typeface="Fira Sans"/>
            </a:endParaRPr>
          </a:p>
        </p:txBody>
      </p:sp>
      <p:sp>
        <p:nvSpPr>
          <p:cNvPr id="877" name="Google Shape;877;p101"/>
          <p:cNvSpPr txBox="1"/>
          <p:nvPr/>
        </p:nvSpPr>
        <p:spPr>
          <a:xfrm>
            <a:off x="4764425" y="3168325"/>
            <a:ext cx="1850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B0F0"/>
                </a:solidFill>
                <a:latin typeface="Fira Sans"/>
                <a:ea typeface="Fira Sans"/>
                <a:cs typeface="Fira Sans"/>
                <a:sym typeface="Fira Sans"/>
              </a:rPr>
              <a:t>Shawshank Redemption</a:t>
            </a:r>
            <a:endParaRPr b="0" i="0" sz="1200" u="none" cap="none" strike="noStrike">
              <a:solidFill>
                <a:srgbClr val="00B0F0"/>
              </a:solidFill>
              <a:latin typeface="Fira Sans"/>
              <a:ea typeface="Fira Sans"/>
              <a:cs typeface="Fira Sans"/>
              <a:sym typeface="Fira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pic>
        <p:nvPicPr>
          <p:cNvPr id="882" name="Google Shape;882;p102"/>
          <p:cNvPicPr preferRelativeResize="0"/>
          <p:nvPr/>
        </p:nvPicPr>
        <p:blipFill rotWithShape="1">
          <a:blip r:embed="rId3">
            <a:alphaModFix/>
          </a:blip>
          <a:srcRect b="0" l="0" r="0" t="0"/>
          <a:stretch/>
        </p:blipFill>
        <p:spPr>
          <a:xfrm>
            <a:off x="1658912" y="1829536"/>
            <a:ext cx="5357375" cy="3054939"/>
          </a:xfrm>
          <a:prstGeom prst="rect">
            <a:avLst/>
          </a:prstGeom>
          <a:noFill/>
          <a:ln>
            <a:noFill/>
          </a:ln>
        </p:spPr>
      </p:pic>
      <p:sp>
        <p:nvSpPr>
          <p:cNvPr id="883" name="Google Shape;883;p102"/>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884" name="Google Shape;884;p10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85" name="Google Shape;885;p102"/>
          <p:cNvSpPr txBox="1"/>
          <p:nvPr/>
        </p:nvSpPr>
        <p:spPr>
          <a:xfrm>
            <a:off x="457200" y="1157050"/>
            <a:ext cx="30000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Set of all Movies (</a:t>
            </a:r>
            <a:r>
              <a:rPr b="1" i="0" lang="en" sz="1600" u="none" cap="none" strike="noStrike">
                <a:solidFill>
                  <a:schemeClr val="lt1"/>
                </a:solidFill>
                <a:latin typeface="Fira Sans"/>
                <a:ea typeface="Fira Sans"/>
                <a:cs typeface="Fira Sans"/>
                <a:sym typeface="Fira Sans"/>
              </a:rPr>
              <a:t>U</a:t>
            </a:r>
            <a:r>
              <a:rPr b="0" i="0" lang="en" sz="1600" u="none" cap="none" strike="noStrike">
                <a:solidFill>
                  <a:schemeClr val="lt1"/>
                </a:solidFill>
                <a:latin typeface="Fira Sans"/>
                <a:ea typeface="Fira Sans"/>
                <a:cs typeface="Fira Sans"/>
                <a:sym typeface="Fira Sans"/>
              </a:rPr>
              <a:t>) : Universal Set</a:t>
            </a:r>
            <a:endParaRPr b="0" i="0" sz="1400" u="none" cap="none" strike="noStrike">
              <a:solidFill>
                <a:srgbClr val="000000"/>
              </a:solidFill>
              <a:latin typeface="Arial"/>
              <a:ea typeface="Arial"/>
              <a:cs typeface="Arial"/>
              <a:sym typeface="Arial"/>
            </a:endParaRPr>
          </a:p>
        </p:txBody>
      </p:sp>
      <p:sp>
        <p:nvSpPr>
          <p:cNvPr id="886" name="Google Shape;886;p102"/>
          <p:cNvSpPr txBox="1"/>
          <p:nvPr/>
        </p:nvSpPr>
        <p:spPr>
          <a:xfrm>
            <a:off x="2140798" y="2263900"/>
            <a:ext cx="2731918"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Shawshank Redemption</a:t>
            </a:r>
            <a:endParaRPr b="1" i="0" sz="1700" u="none" cap="none" strike="noStrike">
              <a:solidFill>
                <a:srgbClr val="00B0F0"/>
              </a:solidFill>
              <a:latin typeface="Fira Sans"/>
              <a:ea typeface="Fira Sans"/>
              <a:cs typeface="Fira Sans"/>
              <a:sym typeface="Fira Sans"/>
            </a:endParaRPr>
          </a:p>
        </p:txBody>
      </p:sp>
      <p:sp>
        <p:nvSpPr>
          <p:cNvPr id="887" name="Google Shape;887;p102"/>
          <p:cNvSpPr txBox="1"/>
          <p:nvPr/>
        </p:nvSpPr>
        <p:spPr>
          <a:xfrm>
            <a:off x="3984743" y="3715237"/>
            <a:ext cx="2346482"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FBB831"/>
                </a:solidFill>
                <a:latin typeface="Fira Sans"/>
                <a:ea typeface="Fira Sans"/>
                <a:cs typeface="Fira Sans"/>
                <a:sym typeface="Fira Sans"/>
              </a:rPr>
              <a:t>13TH </a:t>
            </a:r>
            <a:endParaRPr b="1" i="0" sz="1700" u="none" cap="none" strike="noStrike">
              <a:solidFill>
                <a:srgbClr val="FBB831"/>
              </a:solidFill>
              <a:latin typeface="Fira Sans"/>
              <a:ea typeface="Fira Sans"/>
              <a:cs typeface="Fira Sans"/>
              <a:sym typeface="Fira Sans"/>
            </a:endParaRPr>
          </a:p>
        </p:txBody>
      </p:sp>
      <p:sp>
        <p:nvSpPr>
          <p:cNvPr id="888" name="Google Shape;888;p102"/>
          <p:cNvSpPr txBox="1"/>
          <p:nvPr/>
        </p:nvSpPr>
        <p:spPr>
          <a:xfrm>
            <a:off x="3624469" y="2716751"/>
            <a:ext cx="1766615"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Bridesmaids</a:t>
            </a:r>
            <a:endParaRPr b="1" i="0" sz="1700" u="none" cap="none" strike="noStrike">
              <a:solidFill>
                <a:srgbClr val="8FC03F"/>
              </a:solidFill>
              <a:latin typeface="Fira Sans"/>
              <a:ea typeface="Fira Sans"/>
              <a:cs typeface="Fira Sans"/>
              <a:sym typeface="Fira Sans"/>
            </a:endParaRPr>
          </a:p>
        </p:txBody>
      </p:sp>
      <p:sp>
        <p:nvSpPr>
          <p:cNvPr id="889" name="Google Shape;889;p102"/>
          <p:cNvSpPr txBox="1"/>
          <p:nvPr/>
        </p:nvSpPr>
        <p:spPr>
          <a:xfrm>
            <a:off x="2140812" y="3187127"/>
            <a:ext cx="2346482"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Forrest Gump</a:t>
            </a:r>
            <a:endParaRPr b="1" i="0" sz="1700" u="none" cap="none" strike="noStrike">
              <a:solidFill>
                <a:srgbClr val="00B0F0"/>
              </a:solidFill>
              <a:latin typeface="Fira Sans"/>
              <a:ea typeface="Fira Sans"/>
              <a:cs typeface="Fira Sans"/>
              <a:sym typeface="Fira Sans"/>
            </a:endParaRPr>
          </a:p>
        </p:txBody>
      </p:sp>
      <p:sp>
        <p:nvSpPr>
          <p:cNvPr id="890" name="Google Shape;890;p102"/>
          <p:cNvSpPr txBox="1"/>
          <p:nvPr/>
        </p:nvSpPr>
        <p:spPr>
          <a:xfrm>
            <a:off x="2140812" y="2643389"/>
            <a:ext cx="1820264"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The Godfather</a:t>
            </a:r>
            <a:endParaRPr b="1" i="0" sz="1700" u="none" cap="none" strike="noStrike">
              <a:solidFill>
                <a:srgbClr val="00B0F0"/>
              </a:solidFill>
              <a:latin typeface="Fira Sans"/>
              <a:ea typeface="Fira Sans"/>
              <a:cs typeface="Fira Sans"/>
              <a:sym typeface="Fira Sans"/>
            </a:endParaRPr>
          </a:p>
        </p:txBody>
      </p:sp>
      <p:sp>
        <p:nvSpPr>
          <p:cNvPr id="891" name="Google Shape;891;p102"/>
          <p:cNvSpPr txBox="1"/>
          <p:nvPr/>
        </p:nvSpPr>
        <p:spPr>
          <a:xfrm>
            <a:off x="2167637" y="3870787"/>
            <a:ext cx="1766615"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Schindler’s List</a:t>
            </a:r>
            <a:endParaRPr b="1" i="0" sz="1700" u="none" cap="none" strike="noStrike">
              <a:solidFill>
                <a:srgbClr val="00B0F0"/>
              </a:solidFill>
              <a:latin typeface="Fira Sans"/>
              <a:ea typeface="Fira Sans"/>
              <a:cs typeface="Fira Sans"/>
              <a:sym typeface="Fira Sans"/>
            </a:endParaRPr>
          </a:p>
        </p:txBody>
      </p:sp>
      <p:sp>
        <p:nvSpPr>
          <p:cNvPr id="892" name="Google Shape;892;p102"/>
          <p:cNvSpPr txBox="1"/>
          <p:nvPr/>
        </p:nvSpPr>
        <p:spPr>
          <a:xfrm>
            <a:off x="4961595" y="3211750"/>
            <a:ext cx="1311549"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EA9999"/>
                </a:solidFill>
                <a:latin typeface="Fira Sans"/>
                <a:ea typeface="Fira Sans"/>
                <a:cs typeface="Fira Sans"/>
                <a:sym typeface="Fira Sans"/>
              </a:rPr>
              <a:t>Mad Max</a:t>
            </a:r>
            <a:endParaRPr b="1" i="0" sz="1700" u="none" cap="none" strike="noStrike">
              <a:solidFill>
                <a:srgbClr val="EA9999"/>
              </a:solidFill>
              <a:latin typeface="Fira Sans"/>
              <a:ea typeface="Fira Sans"/>
              <a:cs typeface="Fira Sans"/>
              <a:sym typeface="Fira Sans"/>
            </a:endParaRPr>
          </a:p>
        </p:txBody>
      </p:sp>
      <p:sp>
        <p:nvSpPr>
          <p:cNvPr id="893" name="Google Shape;893;p102"/>
          <p:cNvSpPr txBox="1"/>
          <p:nvPr/>
        </p:nvSpPr>
        <p:spPr>
          <a:xfrm>
            <a:off x="4961602" y="2766600"/>
            <a:ext cx="1766615"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The Hangover</a:t>
            </a:r>
            <a:endParaRPr b="1" i="0" sz="1700" u="none" cap="none" strike="noStrike">
              <a:solidFill>
                <a:srgbClr val="8FC03F"/>
              </a:solidFill>
              <a:latin typeface="Fira Sans"/>
              <a:ea typeface="Fira Sans"/>
              <a:cs typeface="Fira Sans"/>
              <a:sym typeface="Fira Sans"/>
            </a:endParaRPr>
          </a:p>
        </p:txBody>
      </p:sp>
      <p:sp>
        <p:nvSpPr>
          <p:cNvPr id="894" name="Google Shape;894;p102"/>
          <p:cNvSpPr txBox="1"/>
          <p:nvPr/>
        </p:nvSpPr>
        <p:spPr>
          <a:xfrm>
            <a:off x="3624484" y="3215977"/>
            <a:ext cx="2346482" cy="44645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Superbad</a:t>
            </a:r>
            <a:endParaRPr b="1" i="0" sz="1700" u="none" cap="none" strike="noStrike">
              <a:solidFill>
                <a:srgbClr val="8FC03F"/>
              </a:solidFill>
              <a:latin typeface="Fira Sans"/>
              <a:ea typeface="Fira Sans"/>
              <a:cs typeface="Fira Sans"/>
              <a:sym typeface="Fira Sans"/>
            </a:endParaRPr>
          </a:p>
        </p:txBody>
      </p:sp>
      <p:sp>
        <p:nvSpPr>
          <p:cNvPr id="895" name="Google Shape;895;p102"/>
          <p:cNvSpPr txBox="1"/>
          <p:nvPr/>
        </p:nvSpPr>
        <p:spPr>
          <a:xfrm>
            <a:off x="4843650" y="3706750"/>
            <a:ext cx="1429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EA9999"/>
                </a:solidFill>
                <a:latin typeface="Fira Sans"/>
                <a:ea typeface="Fira Sans"/>
                <a:cs typeface="Fira Sans"/>
                <a:sym typeface="Fira Sans"/>
              </a:rPr>
              <a:t>John Wick</a:t>
            </a:r>
            <a:endParaRPr b="1" i="0" sz="1600" u="none" cap="none" strike="noStrike">
              <a:solidFill>
                <a:srgbClr val="EA9999"/>
              </a:solidFill>
              <a:latin typeface="Fira Sans"/>
              <a:ea typeface="Fira Sans"/>
              <a:cs typeface="Fira Sans"/>
              <a:sym typeface="Fira Sans"/>
            </a:endParaRPr>
          </a:p>
        </p:txBody>
      </p:sp>
      <p:sp>
        <p:nvSpPr>
          <p:cNvPr id="896" name="Google Shape;896;p102"/>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p103"/>
          <p:cNvPicPr preferRelativeResize="0"/>
          <p:nvPr/>
        </p:nvPicPr>
        <p:blipFill rotWithShape="1">
          <a:blip r:embed="rId3">
            <a:alphaModFix/>
          </a:blip>
          <a:srcRect b="0" l="0" r="0" t="0"/>
          <a:stretch/>
        </p:blipFill>
        <p:spPr>
          <a:xfrm>
            <a:off x="1682700" y="1843103"/>
            <a:ext cx="5309800" cy="3027791"/>
          </a:xfrm>
          <a:prstGeom prst="rect">
            <a:avLst/>
          </a:prstGeom>
          <a:noFill/>
          <a:ln>
            <a:noFill/>
          </a:ln>
        </p:spPr>
      </p:pic>
      <p:sp>
        <p:nvSpPr>
          <p:cNvPr id="902" name="Google Shape;902;p103"/>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903" name="Google Shape;903;p10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04" name="Google Shape;904;p103"/>
          <p:cNvSpPr txBox="1"/>
          <p:nvPr/>
        </p:nvSpPr>
        <p:spPr>
          <a:xfrm>
            <a:off x="457200" y="115705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Set of movies anna likes (</a:t>
            </a:r>
            <a:r>
              <a:rPr b="1" i="0" lang="en" sz="1600" u="none" cap="none" strike="noStrike">
                <a:solidFill>
                  <a:schemeClr val="lt1"/>
                </a:solidFill>
                <a:latin typeface="Fira Sans"/>
                <a:ea typeface="Fira Sans"/>
                <a:cs typeface="Fira Sans"/>
                <a:sym typeface="Fira Sans"/>
              </a:rPr>
              <a:t>A</a:t>
            </a:r>
            <a:r>
              <a:rPr b="0" i="0" lang="en" sz="1600" u="none" cap="none" strike="noStrike">
                <a:solidFill>
                  <a:schemeClr val="lt1"/>
                </a:solidFill>
                <a:latin typeface="Fira Sans"/>
                <a:ea typeface="Fira Sans"/>
                <a:cs typeface="Fira Sans"/>
                <a:sym typeface="Fira Sans"/>
              </a:rPr>
              <a:t>) </a:t>
            </a:r>
            <a:endParaRPr b="0" i="0" sz="1400" u="none" cap="none" strike="noStrike">
              <a:solidFill>
                <a:srgbClr val="000000"/>
              </a:solidFill>
              <a:latin typeface="Arial"/>
              <a:ea typeface="Arial"/>
              <a:cs typeface="Arial"/>
              <a:sym typeface="Arial"/>
            </a:endParaRPr>
          </a:p>
        </p:txBody>
      </p:sp>
      <p:sp>
        <p:nvSpPr>
          <p:cNvPr id="905" name="Google Shape;905;p103"/>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06" name="Google Shape;906;p103"/>
          <p:cNvSpPr txBox="1"/>
          <p:nvPr/>
        </p:nvSpPr>
        <p:spPr>
          <a:xfrm>
            <a:off x="3681795" y="4053775"/>
            <a:ext cx="1311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EA9999"/>
                </a:solidFill>
                <a:latin typeface="Fira Sans"/>
                <a:ea typeface="Fira Sans"/>
                <a:cs typeface="Fira Sans"/>
                <a:sym typeface="Fira Sans"/>
              </a:rPr>
              <a:t>Mad Max</a:t>
            </a:r>
            <a:endParaRPr b="1" i="0" sz="1700" u="none" cap="none" strike="noStrike">
              <a:solidFill>
                <a:srgbClr val="EA9999"/>
              </a:solidFill>
              <a:latin typeface="Fira Sans"/>
              <a:ea typeface="Fira Sans"/>
              <a:cs typeface="Fira Sans"/>
              <a:sym typeface="Fira Sans"/>
            </a:endParaRPr>
          </a:p>
        </p:txBody>
      </p:sp>
      <p:sp>
        <p:nvSpPr>
          <p:cNvPr id="907" name="Google Shape;907;p103"/>
          <p:cNvSpPr txBox="1"/>
          <p:nvPr/>
        </p:nvSpPr>
        <p:spPr>
          <a:xfrm>
            <a:off x="3219702" y="3525000"/>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The Hangover</a:t>
            </a:r>
            <a:endParaRPr b="1" i="0" sz="1700" u="none" cap="none" strike="noStrike">
              <a:solidFill>
                <a:srgbClr val="8FC03F"/>
              </a:solidFill>
              <a:latin typeface="Fira Sans"/>
              <a:ea typeface="Fira Sans"/>
              <a:cs typeface="Fira Sans"/>
              <a:sym typeface="Fira Sans"/>
            </a:endParaRPr>
          </a:p>
        </p:txBody>
      </p:sp>
      <p:sp>
        <p:nvSpPr>
          <p:cNvPr id="908" name="Google Shape;908;p103"/>
          <p:cNvSpPr txBox="1"/>
          <p:nvPr/>
        </p:nvSpPr>
        <p:spPr>
          <a:xfrm>
            <a:off x="3164334" y="3157802"/>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Superbad</a:t>
            </a:r>
            <a:endParaRPr b="1" i="0" sz="1700" u="none" cap="none" strike="noStrike">
              <a:solidFill>
                <a:srgbClr val="8FC03F"/>
              </a:solidFill>
              <a:latin typeface="Fira Sans"/>
              <a:ea typeface="Fira Sans"/>
              <a:cs typeface="Fira Sans"/>
              <a:sym typeface="Fira Sans"/>
            </a:endParaRPr>
          </a:p>
        </p:txBody>
      </p:sp>
      <p:sp>
        <p:nvSpPr>
          <p:cNvPr id="909" name="Google Shape;909;p103"/>
          <p:cNvSpPr txBox="1"/>
          <p:nvPr/>
        </p:nvSpPr>
        <p:spPr>
          <a:xfrm>
            <a:off x="3219712" y="2836927"/>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Forrest Gump</a:t>
            </a:r>
            <a:endParaRPr b="1" i="0" sz="1700" u="none" cap="none" strike="noStrike">
              <a:solidFill>
                <a:srgbClr val="00B0F0"/>
              </a:solidFill>
              <a:latin typeface="Fira Sans"/>
              <a:ea typeface="Fira Sans"/>
              <a:cs typeface="Fira Sans"/>
              <a:sym typeface="Fira Sans"/>
            </a:endParaRPr>
          </a:p>
        </p:txBody>
      </p:sp>
      <p:sp>
        <p:nvSpPr>
          <p:cNvPr id="910" name="Google Shape;910;p103"/>
          <p:cNvSpPr txBox="1"/>
          <p:nvPr/>
        </p:nvSpPr>
        <p:spPr>
          <a:xfrm>
            <a:off x="3737400" y="2205913"/>
            <a:ext cx="2415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Shawshank Redemption</a:t>
            </a:r>
            <a:endParaRPr b="1" i="0" sz="1700" u="none" cap="none" strike="noStrike">
              <a:solidFill>
                <a:srgbClr val="00B0F0"/>
              </a:solidFill>
              <a:latin typeface="Fira Sans"/>
              <a:ea typeface="Fira Sans"/>
              <a:cs typeface="Fira Sans"/>
              <a:sym typeface="Fira Sans"/>
            </a:endParaRPr>
          </a:p>
        </p:txBody>
      </p:sp>
      <p:sp>
        <p:nvSpPr>
          <p:cNvPr id="911" name="Google Shape;911;p103"/>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12" name="Google Shape;912;p103"/>
          <p:cNvSpPr txBox="1"/>
          <p:nvPr/>
        </p:nvSpPr>
        <p:spPr>
          <a:xfrm>
            <a:off x="4993350" y="2913775"/>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A</a:t>
            </a:r>
            <a:endParaRPr b="1" i="0" sz="3000" u="none" cap="none" strike="noStrike">
              <a:solidFill>
                <a:schemeClr val="dk1"/>
              </a:solidFill>
              <a:latin typeface="Fira Sans"/>
              <a:ea typeface="Fira Sans"/>
              <a:cs typeface="Fira Sans"/>
              <a:sym typeface="Fira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id="917" name="Google Shape;917;p104"/>
          <p:cNvPicPr preferRelativeResize="0"/>
          <p:nvPr/>
        </p:nvPicPr>
        <p:blipFill rotWithShape="1">
          <a:blip r:embed="rId3">
            <a:alphaModFix/>
          </a:blip>
          <a:srcRect b="0" l="0" r="0" t="0"/>
          <a:stretch/>
        </p:blipFill>
        <p:spPr>
          <a:xfrm>
            <a:off x="1682700" y="1843103"/>
            <a:ext cx="5309800" cy="3027791"/>
          </a:xfrm>
          <a:prstGeom prst="rect">
            <a:avLst/>
          </a:prstGeom>
          <a:noFill/>
          <a:ln>
            <a:noFill/>
          </a:ln>
        </p:spPr>
      </p:pic>
      <p:sp>
        <p:nvSpPr>
          <p:cNvPr id="918" name="Google Shape;918;p104"/>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Basics of Set Theory</a:t>
            </a:r>
            <a:endParaRPr/>
          </a:p>
        </p:txBody>
      </p:sp>
      <p:sp>
        <p:nvSpPr>
          <p:cNvPr id="919" name="Google Shape;919;p10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20" name="Google Shape;920;p104"/>
          <p:cNvSpPr txBox="1"/>
          <p:nvPr/>
        </p:nvSpPr>
        <p:spPr>
          <a:xfrm>
            <a:off x="457200" y="1157050"/>
            <a:ext cx="3531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Set of movies Anna has watched (</a:t>
            </a:r>
            <a:r>
              <a:rPr b="1" i="0" lang="en" sz="1600" u="none" cap="none" strike="noStrike">
                <a:solidFill>
                  <a:schemeClr val="lt1"/>
                </a:solidFill>
                <a:latin typeface="Fira Sans"/>
                <a:ea typeface="Fira Sans"/>
                <a:cs typeface="Fira Sans"/>
                <a:sym typeface="Fira Sans"/>
              </a:rPr>
              <a:t>B</a:t>
            </a:r>
            <a:r>
              <a:rPr b="0" i="0" lang="en" sz="1600" u="none" cap="none" strike="noStrike">
                <a:solidFill>
                  <a:schemeClr val="lt1"/>
                </a:solidFill>
                <a:latin typeface="Fira Sans"/>
                <a:ea typeface="Fira Sans"/>
                <a:cs typeface="Fira Sans"/>
                <a:sym typeface="Fira Sans"/>
              </a:rPr>
              <a:t>) </a:t>
            </a:r>
            <a:endParaRPr b="0" i="0" sz="1400" u="none" cap="none" strike="noStrike">
              <a:solidFill>
                <a:srgbClr val="000000"/>
              </a:solidFill>
              <a:latin typeface="Arial"/>
              <a:ea typeface="Arial"/>
              <a:cs typeface="Arial"/>
              <a:sym typeface="Arial"/>
            </a:endParaRPr>
          </a:p>
        </p:txBody>
      </p:sp>
      <p:sp>
        <p:nvSpPr>
          <p:cNvPr id="921" name="Google Shape;921;p104"/>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22" name="Google Shape;922;p104"/>
          <p:cNvSpPr txBox="1"/>
          <p:nvPr/>
        </p:nvSpPr>
        <p:spPr>
          <a:xfrm>
            <a:off x="3681795" y="4053775"/>
            <a:ext cx="1311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EA9999"/>
                </a:solidFill>
                <a:latin typeface="Fira Sans"/>
                <a:ea typeface="Fira Sans"/>
                <a:cs typeface="Fira Sans"/>
                <a:sym typeface="Fira Sans"/>
              </a:rPr>
              <a:t>Mad Max</a:t>
            </a:r>
            <a:endParaRPr b="1" i="0" sz="1700" u="none" cap="none" strike="noStrike">
              <a:solidFill>
                <a:srgbClr val="EA9999"/>
              </a:solidFill>
              <a:latin typeface="Fira Sans"/>
              <a:ea typeface="Fira Sans"/>
              <a:cs typeface="Fira Sans"/>
              <a:sym typeface="Fira Sans"/>
            </a:endParaRPr>
          </a:p>
        </p:txBody>
      </p:sp>
      <p:sp>
        <p:nvSpPr>
          <p:cNvPr id="923" name="Google Shape;923;p104"/>
          <p:cNvSpPr txBox="1"/>
          <p:nvPr/>
        </p:nvSpPr>
        <p:spPr>
          <a:xfrm>
            <a:off x="3219702" y="3525000"/>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The Hangover</a:t>
            </a:r>
            <a:endParaRPr b="1" i="0" sz="1700" u="none" cap="none" strike="noStrike">
              <a:solidFill>
                <a:srgbClr val="8FC03F"/>
              </a:solidFill>
              <a:latin typeface="Fira Sans"/>
              <a:ea typeface="Fira Sans"/>
              <a:cs typeface="Fira Sans"/>
              <a:sym typeface="Fira Sans"/>
            </a:endParaRPr>
          </a:p>
        </p:txBody>
      </p:sp>
      <p:sp>
        <p:nvSpPr>
          <p:cNvPr id="924" name="Google Shape;924;p104"/>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25" name="Google Shape;925;p104"/>
          <p:cNvSpPr txBox="1"/>
          <p:nvPr/>
        </p:nvSpPr>
        <p:spPr>
          <a:xfrm>
            <a:off x="4993350" y="2913775"/>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B</a:t>
            </a:r>
            <a:endParaRPr b="1" i="0" sz="3000" u="none" cap="none" strike="noStrike">
              <a:solidFill>
                <a:schemeClr val="dk1"/>
              </a:solidFill>
              <a:latin typeface="Fira Sans"/>
              <a:ea typeface="Fira Sans"/>
              <a:cs typeface="Fira Sans"/>
              <a:sym typeface="Fira Sans"/>
            </a:endParaRPr>
          </a:p>
        </p:txBody>
      </p:sp>
      <p:sp>
        <p:nvSpPr>
          <p:cNvPr id="926" name="Google Shape;926;p104"/>
          <p:cNvSpPr txBox="1"/>
          <p:nvPr/>
        </p:nvSpPr>
        <p:spPr>
          <a:xfrm>
            <a:off x="3398693" y="2801287"/>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FBB831"/>
                </a:solidFill>
                <a:latin typeface="Fira Sans"/>
                <a:ea typeface="Fira Sans"/>
                <a:cs typeface="Fira Sans"/>
                <a:sym typeface="Fira Sans"/>
              </a:rPr>
              <a:t>13TH </a:t>
            </a:r>
            <a:endParaRPr b="1" i="0" sz="1700" u="none" cap="none" strike="noStrike">
              <a:solidFill>
                <a:srgbClr val="FBB831"/>
              </a:solidFill>
              <a:latin typeface="Fira Sans"/>
              <a:ea typeface="Fira Sans"/>
              <a:cs typeface="Fira Sans"/>
              <a:sym typeface="Fira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pic>
        <p:nvPicPr>
          <p:cNvPr id="931" name="Google Shape;931;p105"/>
          <p:cNvPicPr preferRelativeResize="0"/>
          <p:nvPr/>
        </p:nvPicPr>
        <p:blipFill rotWithShape="1">
          <a:blip r:embed="rId3">
            <a:alphaModFix/>
          </a:blip>
          <a:srcRect b="0" l="0" r="0" t="0"/>
          <a:stretch/>
        </p:blipFill>
        <p:spPr>
          <a:xfrm>
            <a:off x="1682700" y="1843100"/>
            <a:ext cx="5309800" cy="3027800"/>
          </a:xfrm>
          <a:prstGeom prst="rect">
            <a:avLst/>
          </a:prstGeom>
          <a:noFill/>
          <a:ln>
            <a:noFill/>
          </a:ln>
        </p:spPr>
      </p:pic>
      <p:sp>
        <p:nvSpPr>
          <p:cNvPr id="932" name="Google Shape;932;p105"/>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Set Operations</a:t>
            </a:r>
            <a:endParaRPr/>
          </a:p>
        </p:txBody>
      </p:sp>
      <p:sp>
        <p:nvSpPr>
          <p:cNvPr id="933" name="Google Shape;933;p10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34" name="Google Shape;934;p105"/>
          <p:cNvSpPr txBox="1"/>
          <p:nvPr/>
        </p:nvSpPr>
        <p:spPr>
          <a:xfrm>
            <a:off x="457200" y="1157050"/>
            <a:ext cx="5883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Union (</a:t>
            </a:r>
            <a:r>
              <a:rPr b="1" i="0" lang="en" sz="1600" u="none" cap="none" strike="noStrike">
                <a:solidFill>
                  <a:schemeClr val="lt1"/>
                </a:solidFill>
                <a:latin typeface="Fira Sans"/>
                <a:ea typeface="Fira Sans"/>
                <a:cs typeface="Fira Sans"/>
                <a:sym typeface="Fira Sans"/>
              </a:rPr>
              <a:t>A∪B</a:t>
            </a:r>
            <a:r>
              <a:rPr b="0" i="0" lang="en" sz="1600" u="none" cap="none" strike="noStrike">
                <a:solidFill>
                  <a:schemeClr val="lt1"/>
                </a:solidFill>
                <a:latin typeface="Fira Sans"/>
                <a:ea typeface="Fira Sans"/>
                <a:cs typeface="Fira Sans"/>
                <a:sym typeface="Fira Sans"/>
              </a:rPr>
              <a:t>): Movies that Anna likes or has watched or both </a:t>
            </a:r>
            <a:endParaRPr b="0" i="0" sz="1400" u="none" cap="none" strike="noStrike">
              <a:solidFill>
                <a:srgbClr val="000000"/>
              </a:solidFill>
              <a:latin typeface="Arial"/>
              <a:ea typeface="Arial"/>
              <a:cs typeface="Arial"/>
              <a:sym typeface="Arial"/>
            </a:endParaRPr>
          </a:p>
        </p:txBody>
      </p:sp>
      <p:sp>
        <p:nvSpPr>
          <p:cNvPr id="935" name="Google Shape;935;p105"/>
          <p:cNvSpPr txBox="1"/>
          <p:nvPr/>
        </p:nvSpPr>
        <p:spPr>
          <a:xfrm>
            <a:off x="56798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B</a:t>
            </a:r>
            <a:endParaRPr b="1" i="0" sz="3000" u="none" cap="none" strike="noStrike">
              <a:solidFill>
                <a:schemeClr val="dk1"/>
              </a:solidFill>
              <a:latin typeface="Fira Sans"/>
              <a:ea typeface="Fira Sans"/>
              <a:cs typeface="Fira Sans"/>
              <a:sym typeface="Fira Sans"/>
            </a:endParaRPr>
          </a:p>
        </p:txBody>
      </p:sp>
      <p:sp>
        <p:nvSpPr>
          <p:cNvPr id="936" name="Google Shape;936;p105"/>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37" name="Google Shape;937;p105"/>
          <p:cNvSpPr txBox="1"/>
          <p:nvPr/>
        </p:nvSpPr>
        <p:spPr>
          <a:xfrm>
            <a:off x="26819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A</a:t>
            </a:r>
            <a:endParaRPr b="1" i="0" sz="3000" u="none" cap="none" strike="noStrike">
              <a:solidFill>
                <a:schemeClr val="dk1"/>
              </a:solidFill>
              <a:latin typeface="Fira Sans"/>
              <a:ea typeface="Fira Sans"/>
              <a:cs typeface="Fira Sans"/>
              <a:sym typeface="Fira Sans"/>
            </a:endParaRPr>
          </a:p>
        </p:txBody>
      </p:sp>
      <p:sp>
        <p:nvSpPr>
          <p:cNvPr id="938" name="Google Shape;938;p105"/>
          <p:cNvSpPr txBox="1"/>
          <p:nvPr/>
        </p:nvSpPr>
        <p:spPr>
          <a:xfrm>
            <a:off x="3808220" y="2972250"/>
            <a:ext cx="1311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EA9999"/>
                </a:solidFill>
                <a:latin typeface="Fira Sans"/>
                <a:ea typeface="Fira Sans"/>
                <a:cs typeface="Fira Sans"/>
                <a:sym typeface="Fira Sans"/>
              </a:rPr>
              <a:t>Mad Max</a:t>
            </a:r>
            <a:endParaRPr b="1" i="0" sz="1700" u="none" cap="none" strike="noStrike">
              <a:solidFill>
                <a:srgbClr val="EA9999"/>
              </a:solidFill>
              <a:latin typeface="Fira Sans"/>
              <a:ea typeface="Fira Sans"/>
              <a:cs typeface="Fira Sans"/>
              <a:sym typeface="Fira Sans"/>
            </a:endParaRPr>
          </a:p>
        </p:txBody>
      </p:sp>
      <p:sp>
        <p:nvSpPr>
          <p:cNvPr id="939" name="Google Shape;939;p105"/>
          <p:cNvSpPr txBox="1"/>
          <p:nvPr/>
        </p:nvSpPr>
        <p:spPr>
          <a:xfrm>
            <a:off x="3637777" y="3418650"/>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The Hangover</a:t>
            </a:r>
            <a:endParaRPr b="1" i="0" sz="1700" u="none" cap="none" strike="noStrike">
              <a:solidFill>
                <a:srgbClr val="8FC03F"/>
              </a:solidFill>
              <a:latin typeface="Fira Sans"/>
              <a:ea typeface="Fira Sans"/>
              <a:cs typeface="Fira Sans"/>
              <a:sym typeface="Fira Sans"/>
            </a:endParaRPr>
          </a:p>
        </p:txBody>
      </p:sp>
      <p:sp>
        <p:nvSpPr>
          <p:cNvPr id="940" name="Google Shape;940;p105"/>
          <p:cNvSpPr txBox="1"/>
          <p:nvPr/>
        </p:nvSpPr>
        <p:spPr>
          <a:xfrm>
            <a:off x="2629584" y="3942052"/>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Superbad</a:t>
            </a:r>
            <a:endParaRPr b="1" i="0" sz="1700" u="none" cap="none" strike="noStrike">
              <a:solidFill>
                <a:srgbClr val="8FC03F"/>
              </a:solidFill>
              <a:latin typeface="Fira Sans"/>
              <a:ea typeface="Fira Sans"/>
              <a:cs typeface="Fira Sans"/>
              <a:sym typeface="Fira Sans"/>
            </a:endParaRPr>
          </a:p>
        </p:txBody>
      </p:sp>
      <p:sp>
        <p:nvSpPr>
          <p:cNvPr id="941" name="Google Shape;941;p105"/>
          <p:cNvSpPr txBox="1"/>
          <p:nvPr/>
        </p:nvSpPr>
        <p:spPr>
          <a:xfrm>
            <a:off x="2364087" y="2895252"/>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Forrest Gump</a:t>
            </a:r>
            <a:endParaRPr b="1" i="0" sz="1700" u="none" cap="none" strike="noStrike">
              <a:solidFill>
                <a:srgbClr val="00B0F0"/>
              </a:solidFill>
              <a:latin typeface="Fira Sans"/>
              <a:ea typeface="Fira Sans"/>
              <a:cs typeface="Fira Sans"/>
              <a:sym typeface="Fira Sans"/>
            </a:endParaRPr>
          </a:p>
        </p:txBody>
      </p:sp>
      <p:sp>
        <p:nvSpPr>
          <p:cNvPr id="942" name="Google Shape;942;p105"/>
          <p:cNvSpPr txBox="1"/>
          <p:nvPr/>
        </p:nvSpPr>
        <p:spPr>
          <a:xfrm>
            <a:off x="2453625" y="3341638"/>
            <a:ext cx="2415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Shawshank Redemption</a:t>
            </a:r>
            <a:endParaRPr b="1" i="0" sz="1700" u="none" cap="none" strike="noStrike">
              <a:solidFill>
                <a:srgbClr val="00B0F0"/>
              </a:solidFill>
              <a:latin typeface="Fira Sans"/>
              <a:ea typeface="Fira Sans"/>
              <a:cs typeface="Fira Sans"/>
              <a:sym typeface="Fira Sans"/>
            </a:endParaRPr>
          </a:p>
        </p:txBody>
      </p:sp>
      <p:sp>
        <p:nvSpPr>
          <p:cNvPr id="943" name="Google Shape;943;p105"/>
          <p:cNvSpPr txBox="1"/>
          <p:nvPr/>
        </p:nvSpPr>
        <p:spPr>
          <a:xfrm>
            <a:off x="5063972" y="3294600"/>
            <a:ext cx="14034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FBB831"/>
                </a:solidFill>
                <a:latin typeface="Fira Sans"/>
                <a:ea typeface="Fira Sans"/>
                <a:cs typeface="Fira Sans"/>
                <a:sym typeface="Fira Sans"/>
              </a:rPr>
              <a:t>13TH </a:t>
            </a:r>
            <a:endParaRPr b="1" i="0" sz="1700" u="none" cap="none" strike="noStrike">
              <a:solidFill>
                <a:srgbClr val="FBB831"/>
              </a:solidFill>
              <a:latin typeface="Fira Sans"/>
              <a:ea typeface="Fira Sans"/>
              <a:cs typeface="Fira Sans"/>
              <a:sym typeface="Fira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id="948" name="Google Shape;948;p106"/>
          <p:cNvPicPr preferRelativeResize="0"/>
          <p:nvPr/>
        </p:nvPicPr>
        <p:blipFill rotWithShape="1">
          <a:blip r:embed="rId3">
            <a:alphaModFix/>
          </a:blip>
          <a:srcRect b="0" l="0" r="0" t="0"/>
          <a:stretch/>
        </p:blipFill>
        <p:spPr>
          <a:xfrm>
            <a:off x="1682700" y="1843100"/>
            <a:ext cx="5309800" cy="2990851"/>
          </a:xfrm>
          <a:prstGeom prst="rect">
            <a:avLst/>
          </a:prstGeom>
          <a:noFill/>
          <a:ln>
            <a:noFill/>
          </a:ln>
        </p:spPr>
      </p:pic>
      <p:sp>
        <p:nvSpPr>
          <p:cNvPr id="949" name="Google Shape;949;p106"/>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Set Operations</a:t>
            </a:r>
            <a:endParaRPr/>
          </a:p>
        </p:txBody>
      </p:sp>
      <p:sp>
        <p:nvSpPr>
          <p:cNvPr id="950" name="Google Shape;950;p10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51" name="Google Shape;951;p106"/>
          <p:cNvSpPr txBox="1"/>
          <p:nvPr/>
        </p:nvSpPr>
        <p:spPr>
          <a:xfrm>
            <a:off x="457200" y="1157050"/>
            <a:ext cx="5883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Intersection (</a:t>
            </a:r>
            <a:r>
              <a:rPr b="1" i="0" lang="en" sz="1600" u="none" cap="none" strike="noStrike">
                <a:solidFill>
                  <a:schemeClr val="lt1"/>
                </a:solidFill>
                <a:latin typeface="Fira Sans"/>
                <a:ea typeface="Fira Sans"/>
                <a:cs typeface="Fira Sans"/>
                <a:sym typeface="Fira Sans"/>
              </a:rPr>
              <a:t>A∩B</a:t>
            </a:r>
            <a:r>
              <a:rPr b="0" i="0" lang="en" sz="1600" u="none" cap="none" strike="noStrike">
                <a:solidFill>
                  <a:schemeClr val="lt1"/>
                </a:solidFill>
                <a:latin typeface="Fira Sans"/>
                <a:ea typeface="Fira Sans"/>
                <a:cs typeface="Fira Sans"/>
                <a:sym typeface="Fira Sans"/>
              </a:rPr>
              <a:t>): Movies that Anna likes and has watched</a:t>
            </a:r>
            <a:endParaRPr b="0" i="0" sz="1400" u="none" cap="none" strike="noStrike">
              <a:solidFill>
                <a:srgbClr val="000000"/>
              </a:solidFill>
              <a:latin typeface="Arial"/>
              <a:ea typeface="Arial"/>
              <a:cs typeface="Arial"/>
              <a:sym typeface="Arial"/>
            </a:endParaRPr>
          </a:p>
        </p:txBody>
      </p:sp>
      <p:sp>
        <p:nvSpPr>
          <p:cNvPr id="952" name="Google Shape;952;p106"/>
          <p:cNvSpPr txBox="1"/>
          <p:nvPr/>
        </p:nvSpPr>
        <p:spPr>
          <a:xfrm>
            <a:off x="56798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B</a:t>
            </a:r>
            <a:endParaRPr b="1" i="0" sz="3000" u="none" cap="none" strike="noStrike">
              <a:solidFill>
                <a:schemeClr val="dk1"/>
              </a:solidFill>
              <a:latin typeface="Fira Sans"/>
              <a:ea typeface="Fira Sans"/>
              <a:cs typeface="Fira Sans"/>
              <a:sym typeface="Fira Sans"/>
            </a:endParaRPr>
          </a:p>
        </p:txBody>
      </p:sp>
      <p:sp>
        <p:nvSpPr>
          <p:cNvPr id="953" name="Google Shape;953;p106"/>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54" name="Google Shape;954;p106"/>
          <p:cNvSpPr txBox="1"/>
          <p:nvPr/>
        </p:nvSpPr>
        <p:spPr>
          <a:xfrm>
            <a:off x="26819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A</a:t>
            </a:r>
            <a:endParaRPr b="1" i="0" sz="3000" u="none" cap="none" strike="noStrike">
              <a:solidFill>
                <a:schemeClr val="dk1"/>
              </a:solidFill>
              <a:latin typeface="Fira Sans"/>
              <a:ea typeface="Fira Sans"/>
              <a:cs typeface="Fira Sans"/>
              <a:sym typeface="Fira Sans"/>
            </a:endParaRPr>
          </a:p>
        </p:txBody>
      </p:sp>
      <p:sp>
        <p:nvSpPr>
          <p:cNvPr id="955" name="Google Shape;955;p106"/>
          <p:cNvSpPr txBox="1"/>
          <p:nvPr/>
        </p:nvSpPr>
        <p:spPr>
          <a:xfrm>
            <a:off x="3808220" y="2972250"/>
            <a:ext cx="1311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EA9999"/>
                </a:solidFill>
                <a:latin typeface="Fira Sans"/>
                <a:ea typeface="Fira Sans"/>
                <a:cs typeface="Fira Sans"/>
                <a:sym typeface="Fira Sans"/>
              </a:rPr>
              <a:t>Mad Max</a:t>
            </a:r>
            <a:endParaRPr b="1" i="0" sz="1700" u="none" cap="none" strike="noStrike">
              <a:solidFill>
                <a:srgbClr val="EA9999"/>
              </a:solidFill>
              <a:latin typeface="Fira Sans"/>
              <a:ea typeface="Fira Sans"/>
              <a:cs typeface="Fira Sans"/>
              <a:sym typeface="Fira Sans"/>
            </a:endParaRPr>
          </a:p>
        </p:txBody>
      </p:sp>
      <p:sp>
        <p:nvSpPr>
          <p:cNvPr id="956" name="Google Shape;956;p106"/>
          <p:cNvSpPr txBox="1"/>
          <p:nvPr/>
        </p:nvSpPr>
        <p:spPr>
          <a:xfrm>
            <a:off x="3637777" y="3418650"/>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The Hangover</a:t>
            </a:r>
            <a:endParaRPr b="1" i="0" sz="1700" u="none" cap="none" strike="noStrike">
              <a:solidFill>
                <a:srgbClr val="8FC03F"/>
              </a:solidFill>
              <a:latin typeface="Fira Sans"/>
              <a:ea typeface="Fira Sans"/>
              <a:cs typeface="Fira Sans"/>
              <a:sym typeface="Fira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pic>
        <p:nvPicPr>
          <p:cNvPr id="961" name="Google Shape;961;p107"/>
          <p:cNvPicPr preferRelativeResize="0"/>
          <p:nvPr/>
        </p:nvPicPr>
        <p:blipFill rotWithShape="1">
          <a:blip r:embed="rId3">
            <a:alphaModFix/>
          </a:blip>
          <a:srcRect b="0" l="0" r="0" t="0"/>
          <a:stretch/>
        </p:blipFill>
        <p:spPr>
          <a:xfrm>
            <a:off x="1682700" y="1843100"/>
            <a:ext cx="5309800" cy="2990851"/>
          </a:xfrm>
          <a:prstGeom prst="rect">
            <a:avLst/>
          </a:prstGeom>
          <a:noFill/>
          <a:ln>
            <a:noFill/>
          </a:ln>
        </p:spPr>
      </p:pic>
      <p:sp>
        <p:nvSpPr>
          <p:cNvPr id="962" name="Google Shape;962;p107"/>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Set Operations</a:t>
            </a:r>
            <a:endParaRPr/>
          </a:p>
        </p:txBody>
      </p:sp>
      <p:sp>
        <p:nvSpPr>
          <p:cNvPr id="963" name="Google Shape;963;p10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64" name="Google Shape;964;p107"/>
          <p:cNvSpPr txBox="1"/>
          <p:nvPr/>
        </p:nvSpPr>
        <p:spPr>
          <a:xfrm>
            <a:off x="457200" y="1157050"/>
            <a:ext cx="5883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Difference (</a:t>
            </a:r>
            <a:r>
              <a:rPr b="1" i="0" lang="en" sz="1600" u="none" cap="none" strike="noStrike">
                <a:solidFill>
                  <a:schemeClr val="lt1"/>
                </a:solidFill>
                <a:latin typeface="Fira Sans"/>
                <a:ea typeface="Fira Sans"/>
                <a:cs typeface="Fira Sans"/>
                <a:sym typeface="Fira Sans"/>
              </a:rPr>
              <a:t>A-B</a:t>
            </a:r>
            <a:r>
              <a:rPr b="0" i="0" lang="en" sz="1600" u="none" cap="none" strike="noStrike">
                <a:solidFill>
                  <a:schemeClr val="lt1"/>
                </a:solidFill>
                <a:latin typeface="Fira Sans"/>
                <a:ea typeface="Fira Sans"/>
                <a:cs typeface="Fira Sans"/>
                <a:sym typeface="Fira Sans"/>
              </a:rPr>
              <a:t>): Movies that Anna likes but has not watched</a:t>
            </a:r>
            <a:endParaRPr b="0" i="0" sz="1400" u="none" cap="none" strike="noStrike">
              <a:solidFill>
                <a:srgbClr val="000000"/>
              </a:solidFill>
              <a:latin typeface="Arial"/>
              <a:ea typeface="Arial"/>
              <a:cs typeface="Arial"/>
              <a:sym typeface="Arial"/>
            </a:endParaRPr>
          </a:p>
        </p:txBody>
      </p:sp>
      <p:sp>
        <p:nvSpPr>
          <p:cNvPr id="965" name="Google Shape;965;p107"/>
          <p:cNvSpPr txBox="1"/>
          <p:nvPr/>
        </p:nvSpPr>
        <p:spPr>
          <a:xfrm>
            <a:off x="56798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B</a:t>
            </a:r>
            <a:endParaRPr b="1" i="0" sz="3000" u="none" cap="none" strike="noStrike">
              <a:solidFill>
                <a:schemeClr val="dk1"/>
              </a:solidFill>
              <a:latin typeface="Fira Sans"/>
              <a:ea typeface="Fira Sans"/>
              <a:cs typeface="Fira Sans"/>
              <a:sym typeface="Fira Sans"/>
            </a:endParaRPr>
          </a:p>
        </p:txBody>
      </p:sp>
      <p:sp>
        <p:nvSpPr>
          <p:cNvPr id="966" name="Google Shape;966;p107"/>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67" name="Google Shape;967;p107"/>
          <p:cNvSpPr txBox="1"/>
          <p:nvPr/>
        </p:nvSpPr>
        <p:spPr>
          <a:xfrm>
            <a:off x="26819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A</a:t>
            </a:r>
            <a:endParaRPr b="1" i="0" sz="3000" u="none" cap="none" strike="noStrike">
              <a:solidFill>
                <a:schemeClr val="dk1"/>
              </a:solidFill>
              <a:latin typeface="Fira Sans"/>
              <a:ea typeface="Fira Sans"/>
              <a:cs typeface="Fira Sans"/>
              <a:sym typeface="Fira Sans"/>
            </a:endParaRPr>
          </a:p>
        </p:txBody>
      </p:sp>
      <p:sp>
        <p:nvSpPr>
          <p:cNvPr id="968" name="Google Shape;968;p107"/>
          <p:cNvSpPr txBox="1"/>
          <p:nvPr/>
        </p:nvSpPr>
        <p:spPr>
          <a:xfrm>
            <a:off x="2629584" y="3942052"/>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Superbad</a:t>
            </a:r>
            <a:endParaRPr b="1" i="0" sz="1700" u="none" cap="none" strike="noStrike">
              <a:solidFill>
                <a:srgbClr val="8FC03F"/>
              </a:solidFill>
              <a:latin typeface="Fira Sans"/>
              <a:ea typeface="Fira Sans"/>
              <a:cs typeface="Fira Sans"/>
              <a:sym typeface="Fira Sans"/>
            </a:endParaRPr>
          </a:p>
        </p:txBody>
      </p:sp>
      <p:sp>
        <p:nvSpPr>
          <p:cNvPr id="969" name="Google Shape;969;p107"/>
          <p:cNvSpPr txBox="1"/>
          <p:nvPr/>
        </p:nvSpPr>
        <p:spPr>
          <a:xfrm>
            <a:off x="2364087" y="2895252"/>
            <a:ext cx="234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Forrest Gump</a:t>
            </a:r>
            <a:endParaRPr b="1" i="0" sz="1700" u="none" cap="none" strike="noStrike">
              <a:solidFill>
                <a:srgbClr val="00B0F0"/>
              </a:solidFill>
              <a:latin typeface="Fira Sans"/>
              <a:ea typeface="Fira Sans"/>
              <a:cs typeface="Fira Sans"/>
              <a:sym typeface="Fira Sans"/>
            </a:endParaRPr>
          </a:p>
        </p:txBody>
      </p:sp>
      <p:sp>
        <p:nvSpPr>
          <p:cNvPr id="970" name="Google Shape;970;p107"/>
          <p:cNvSpPr txBox="1"/>
          <p:nvPr/>
        </p:nvSpPr>
        <p:spPr>
          <a:xfrm>
            <a:off x="2453625" y="3341638"/>
            <a:ext cx="2415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Shawshank Redemption</a:t>
            </a:r>
            <a:endParaRPr b="1" i="0" sz="1700" u="none" cap="none" strike="noStrike">
              <a:solidFill>
                <a:srgbClr val="00B0F0"/>
              </a:solidFill>
              <a:latin typeface="Fira Sans"/>
              <a:ea typeface="Fira Sans"/>
              <a:cs typeface="Fira Sans"/>
              <a:sym typeface="Fira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pic>
        <p:nvPicPr>
          <p:cNvPr id="975" name="Google Shape;975;p108"/>
          <p:cNvPicPr preferRelativeResize="0"/>
          <p:nvPr/>
        </p:nvPicPr>
        <p:blipFill rotWithShape="1">
          <a:blip r:embed="rId3">
            <a:alphaModFix/>
          </a:blip>
          <a:srcRect b="0" l="0" r="0" t="0"/>
          <a:stretch/>
        </p:blipFill>
        <p:spPr>
          <a:xfrm>
            <a:off x="1682700" y="1843100"/>
            <a:ext cx="5309800" cy="2990851"/>
          </a:xfrm>
          <a:prstGeom prst="rect">
            <a:avLst/>
          </a:prstGeom>
          <a:noFill/>
          <a:ln>
            <a:noFill/>
          </a:ln>
        </p:spPr>
      </p:pic>
      <p:sp>
        <p:nvSpPr>
          <p:cNvPr id="976" name="Google Shape;976;p108"/>
          <p:cNvSpPr txBox="1"/>
          <p:nvPr>
            <p:ph type="title"/>
          </p:nvPr>
        </p:nvSpPr>
        <p:spPr>
          <a:xfrm>
            <a:off x="311700" y="4547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Set Operations</a:t>
            </a:r>
            <a:endParaRPr/>
          </a:p>
        </p:txBody>
      </p:sp>
      <p:sp>
        <p:nvSpPr>
          <p:cNvPr id="977" name="Google Shape;977;p10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78" name="Google Shape;978;p108"/>
          <p:cNvSpPr txBox="1"/>
          <p:nvPr/>
        </p:nvSpPr>
        <p:spPr>
          <a:xfrm>
            <a:off x="457200" y="1157050"/>
            <a:ext cx="5883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Complement of </a:t>
            </a:r>
            <a:r>
              <a:rPr b="1" i="0" lang="en" sz="1600" u="none" cap="none" strike="noStrike">
                <a:solidFill>
                  <a:schemeClr val="lt1"/>
                </a:solidFill>
                <a:latin typeface="Fira Sans"/>
                <a:ea typeface="Fira Sans"/>
                <a:cs typeface="Fira Sans"/>
                <a:sym typeface="Fira Sans"/>
              </a:rPr>
              <a:t>A</a:t>
            </a:r>
            <a:r>
              <a:rPr b="0" i="0" lang="en" sz="1600" u="none" cap="none" strike="noStrike">
                <a:solidFill>
                  <a:schemeClr val="lt1"/>
                </a:solidFill>
                <a:latin typeface="Fira Sans"/>
                <a:ea typeface="Fira Sans"/>
                <a:cs typeface="Fira Sans"/>
                <a:sym typeface="Fira Sans"/>
              </a:rPr>
              <a:t> (</a:t>
            </a:r>
            <a:r>
              <a:rPr b="1" i="0" lang="en" sz="1600" u="none" cap="none" strike="noStrike">
                <a:solidFill>
                  <a:schemeClr val="lt1"/>
                </a:solidFill>
                <a:latin typeface="Fira Sans"/>
                <a:ea typeface="Fira Sans"/>
                <a:cs typeface="Fira Sans"/>
                <a:sym typeface="Fira Sans"/>
              </a:rPr>
              <a:t>A`</a:t>
            </a:r>
            <a:r>
              <a:rPr b="0" i="0" lang="en" sz="1600" u="none" cap="none" strike="noStrike">
                <a:solidFill>
                  <a:schemeClr val="lt1"/>
                </a:solidFill>
                <a:latin typeface="Fira Sans"/>
                <a:ea typeface="Fira Sans"/>
                <a:cs typeface="Fira Sans"/>
                <a:sym typeface="Fira Sans"/>
              </a:rPr>
              <a:t>): Movies that Anna doesn't like</a:t>
            </a:r>
            <a:endParaRPr b="0" i="0" sz="1400" u="none" cap="none" strike="noStrike">
              <a:solidFill>
                <a:srgbClr val="000000"/>
              </a:solidFill>
              <a:latin typeface="Arial"/>
              <a:ea typeface="Arial"/>
              <a:cs typeface="Arial"/>
              <a:sym typeface="Arial"/>
            </a:endParaRPr>
          </a:p>
        </p:txBody>
      </p:sp>
      <p:sp>
        <p:nvSpPr>
          <p:cNvPr id="979" name="Google Shape;979;p108"/>
          <p:cNvSpPr txBox="1"/>
          <p:nvPr/>
        </p:nvSpPr>
        <p:spPr>
          <a:xfrm>
            <a:off x="56798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B</a:t>
            </a:r>
            <a:endParaRPr b="1" i="0" sz="3000" u="none" cap="none" strike="noStrike">
              <a:solidFill>
                <a:schemeClr val="dk1"/>
              </a:solidFill>
              <a:latin typeface="Fira Sans"/>
              <a:ea typeface="Fira Sans"/>
              <a:cs typeface="Fira Sans"/>
              <a:sym typeface="Fira Sans"/>
            </a:endParaRPr>
          </a:p>
        </p:txBody>
      </p:sp>
      <p:sp>
        <p:nvSpPr>
          <p:cNvPr id="980" name="Google Shape;980;p108"/>
          <p:cNvSpPr txBox="1"/>
          <p:nvPr/>
        </p:nvSpPr>
        <p:spPr>
          <a:xfrm>
            <a:off x="6185525" y="198690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Fira Sans"/>
                <a:ea typeface="Fira Sans"/>
                <a:cs typeface="Fira Sans"/>
                <a:sym typeface="Fira Sans"/>
              </a:rPr>
              <a:t>U</a:t>
            </a:r>
            <a:endParaRPr b="1" i="0" sz="3000" u="none" cap="none" strike="noStrike">
              <a:solidFill>
                <a:srgbClr val="FF0000"/>
              </a:solidFill>
              <a:latin typeface="Fira Sans"/>
              <a:ea typeface="Fira Sans"/>
              <a:cs typeface="Fira Sans"/>
              <a:sym typeface="Fira Sans"/>
            </a:endParaRPr>
          </a:p>
        </p:txBody>
      </p:sp>
      <p:sp>
        <p:nvSpPr>
          <p:cNvPr id="981" name="Google Shape;981;p108"/>
          <p:cNvSpPr txBox="1"/>
          <p:nvPr/>
        </p:nvSpPr>
        <p:spPr>
          <a:xfrm>
            <a:off x="2681925" y="2447050"/>
            <a:ext cx="466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Fira Sans"/>
                <a:ea typeface="Fira Sans"/>
                <a:cs typeface="Fira Sans"/>
                <a:sym typeface="Fira Sans"/>
              </a:rPr>
              <a:t>A</a:t>
            </a:r>
            <a:endParaRPr b="1" i="0" sz="3000" u="none" cap="none" strike="noStrike">
              <a:solidFill>
                <a:schemeClr val="dk1"/>
              </a:solidFill>
              <a:latin typeface="Fira Sans"/>
              <a:ea typeface="Fira Sans"/>
              <a:cs typeface="Fira Sans"/>
              <a:sym typeface="Fira Sans"/>
            </a:endParaRPr>
          </a:p>
        </p:txBody>
      </p:sp>
      <p:sp>
        <p:nvSpPr>
          <p:cNvPr id="982" name="Google Shape;982;p108"/>
          <p:cNvSpPr txBox="1"/>
          <p:nvPr/>
        </p:nvSpPr>
        <p:spPr>
          <a:xfrm>
            <a:off x="5063972" y="3294600"/>
            <a:ext cx="14034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FBB831"/>
                </a:solidFill>
                <a:latin typeface="Fira Sans"/>
                <a:ea typeface="Fira Sans"/>
                <a:cs typeface="Fira Sans"/>
                <a:sym typeface="Fira Sans"/>
              </a:rPr>
              <a:t>13TH </a:t>
            </a:r>
            <a:endParaRPr b="1" i="0" sz="1700" u="none" cap="none" strike="noStrike">
              <a:solidFill>
                <a:srgbClr val="FBB831"/>
              </a:solidFill>
              <a:latin typeface="Fira Sans"/>
              <a:ea typeface="Fira Sans"/>
              <a:cs typeface="Fira Sans"/>
              <a:sym typeface="Fira Sans"/>
            </a:endParaRPr>
          </a:p>
        </p:txBody>
      </p:sp>
      <p:sp>
        <p:nvSpPr>
          <p:cNvPr id="983" name="Google Shape;983;p108"/>
          <p:cNvSpPr txBox="1"/>
          <p:nvPr/>
        </p:nvSpPr>
        <p:spPr>
          <a:xfrm>
            <a:off x="5535569" y="4402201"/>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8FC03F"/>
                </a:solidFill>
                <a:latin typeface="Fira Sans"/>
                <a:ea typeface="Fira Sans"/>
                <a:cs typeface="Fira Sans"/>
                <a:sym typeface="Fira Sans"/>
              </a:rPr>
              <a:t>Bridesmaids</a:t>
            </a:r>
            <a:endParaRPr b="1" i="0" sz="1700" u="none" cap="none" strike="noStrike">
              <a:solidFill>
                <a:srgbClr val="8FC03F"/>
              </a:solidFill>
              <a:latin typeface="Fira Sans"/>
              <a:ea typeface="Fira Sans"/>
              <a:cs typeface="Fira Sans"/>
              <a:sym typeface="Fira Sans"/>
            </a:endParaRPr>
          </a:p>
        </p:txBody>
      </p:sp>
      <p:sp>
        <p:nvSpPr>
          <p:cNvPr id="984" name="Google Shape;984;p108"/>
          <p:cNvSpPr txBox="1"/>
          <p:nvPr/>
        </p:nvSpPr>
        <p:spPr>
          <a:xfrm>
            <a:off x="1682712" y="1835439"/>
            <a:ext cx="18204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The Godfather</a:t>
            </a:r>
            <a:endParaRPr b="1" i="0" sz="1700" u="none" cap="none" strike="noStrike">
              <a:solidFill>
                <a:srgbClr val="00B0F0"/>
              </a:solidFill>
              <a:latin typeface="Fira Sans"/>
              <a:ea typeface="Fira Sans"/>
              <a:cs typeface="Fira Sans"/>
              <a:sym typeface="Fira Sans"/>
            </a:endParaRPr>
          </a:p>
        </p:txBody>
      </p:sp>
      <p:sp>
        <p:nvSpPr>
          <p:cNvPr id="985" name="Google Shape;985;p108"/>
          <p:cNvSpPr txBox="1"/>
          <p:nvPr/>
        </p:nvSpPr>
        <p:spPr>
          <a:xfrm>
            <a:off x="1709562" y="4387562"/>
            <a:ext cx="17667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00B0F0"/>
                </a:solidFill>
                <a:latin typeface="Fira Sans"/>
                <a:ea typeface="Fira Sans"/>
                <a:cs typeface="Fira Sans"/>
                <a:sym typeface="Fira Sans"/>
              </a:rPr>
              <a:t>Schindler’s List</a:t>
            </a:r>
            <a:endParaRPr b="1" i="0" sz="1700" u="none" cap="none" strike="noStrike">
              <a:solidFill>
                <a:srgbClr val="00B0F0"/>
              </a:solidFill>
              <a:latin typeface="Fira Sans"/>
              <a:ea typeface="Fira Sans"/>
              <a:cs typeface="Fira Sans"/>
              <a:sym typeface="Fira Sans"/>
            </a:endParaRPr>
          </a:p>
        </p:txBody>
      </p:sp>
      <p:sp>
        <p:nvSpPr>
          <p:cNvPr id="986" name="Google Shape;986;p108"/>
          <p:cNvSpPr txBox="1"/>
          <p:nvPr/>
        </p:nvSpPr>
        <p:spPr>
          <a:xfrm>
            <a:off x="4396400" y="1843088"/>
            <a:ext cx="1429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EA9999"/>
                </a:solidFill>
                <a:latin typeface="Fira Sans"/>
                <a:ea typeface="Fira Sans"/>
                <a:cs typeface="Fira Sans"/>
                <a:sym typeface="Fira Sans"/>
              </a:rPr>
              <a:t>John Wick</a:t>
            </a:r>
            <a:endParaRPr b="1" i="0" sz="1600" u="none" cap="none" strike="noStrike">
              <a:solidFill>
                <a:srgbClr val="EA9999"/>
              </a:solidFill>
              <a:latin typeface="Fira Sans"/>
              <a:ea typeface="Fira Sans"/>
              <a:cs typeface="Fira Sans"/>
              <a:sym typeface="Fira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a:t>
            </a:r>
            <a:endParaRPr/>
          </a:p>
        </p:txBody>
      </p:sp>
      <p:sp>
        <p:nvSpPr>
          <p:cNvPr id="992" name="Google Shape;992;p109"/>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grpSp>
        <p:nvGrpSpPr>
          <p:cNvPr id="993" name="Google Shape;993;p109"/>
          <p:cNvGrpSpPr/>
          <p:nvPr/>
        </p:nvGrpSpPr>
        <p:grpSpPr>
          <a:xfrm>
            <a:off x="384014" y="1103699"/>
            <a:ext cx="8448205" cy="671133"/>
            <a:chOff x="1037539" y="1103712"/>
            <a:chExt cx="7069036" cy="671133"/>
          </a:xfrm>
        </p:grpSpPr>
        <p:sp>
          <p:nvSpPr>
            <p:cNvPr id="994" name="Google Shape;994;p109"/>
            <p:cNvSpPr/>
            <p:nvPr/>
          </p:nvSpPr>
          <p:spPr>
            <a:xfrm>
              <a:off x="1037539" y="1103879"/>
              <a:ext cx="1310700" cy="6708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95" name="Google Shape;995;p109"/>
            <p:cNvGrpSpPr/>
            <p:nvPr/>
          </p:nvGrpSpPr>
          <p:grpSpPr>
            <a:xfrm>
              <a:off x="2081001" y="1103712"/>
              <a:ext cx="6025460" cy="671133"/>
              <a:chOff x="2189480" y="2153920"/>
              <a:chExt cx="7213528" cy="1137900"/>
            </a:xfrm>
          </p:grpSpPr>
          <p:sp>
            <p:nvSpPr>
              <p:cNvPr id="996" name="Google Shape;996;p109"/>
              <p:cNvSpPr/>
              <p:nvPr/>
            </p:nvSpPr>
            <p:spPr>
              <a:xfrm>
                <a:off x="2189480" y="2153920"/>
                <a:ext cx="7173000" cy="11379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997" name="Google Shape;997;p109"/>
              <p:cNvSpPr/>
              <p:nvPr/>
            </p:nvSpPr>
            <p:spPr>
              <a:xfrm>
                <a:off x="7779408" y="2153920"/>
                <a:ext cx="1623600" cy="1137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998" name="Google Shape;998;p109"/>
            <p:cNvSpPr txBox="1"/>
            <p:nvPr/>
          </p:nvSpPr>
          <p:spPr>
            <a:xfrm>
              <a:off x="2514575" y="1261229"/>
              <a:ext cx="5592000" cy="356100"/>
            </a:xfrm>
            <a:prstGeom prst="rect">
              <a:avLst/>
            </a:prstGeom>
            <a:noFill/>
            <a:ln>
              <a:noFill/>
            </a:ln>
          </p:spPr>
          <p:txBody>
            <a:bodyPr anchorCtr="0" anchor="ctr" bIns="91425" lIns="91425" spcFirstLastPara="1" rIns="91425" wrap="square" tIns="91425">
              <a:noAutofit/>
            </a:bodyPr>
            <a:lstStyle/>
            <a:p>
              <a:pPr indent="0" lvl="0" marL="114300" marR="0" rtl="0" algn="l">
                <a:lnSpc>
                  <a:spcPct val="15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Sample Space &amp; Events and how their estimation helps in probabilty</a:t>
              </a:r>
              <a:endParaRPr b="0" i="0" sz="1400" u="none" cap="none" strike="noStrike">
                <a:solidFill>
                  <a:srgbClr val="000000"/>
                </a:solidFill>
                <a:latin typeface="Arial"/>
                <a:ea typeface="Arial"/>
                <a:cs typeface="Arial"/>
                <a:sym typeface="Arial"/>
              </a:endParaRPr>
            </a:p>
          </p:txBody>
        </p:sp>
        <p:sp>
          <p:nvSpPr>
            <p:cNvPr id="999" name="Google Shape;999;p109"/>
            <p:cNvSpPr txBox="1"/>
            <p:nvPr/>
          </p:nvSpPr>
          <p:spPr>
            <a:xfrm>
              <a:off x="1365589" y="1212925"/>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01</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000" name="Google Shape;1000;p109"/>
          <p:cNvGrpSpPr/>
          <p:nvPr/>
        </p:nvGrpSpPr>
        <p:grpSpPr>
          <a:xfrm>
            <a:off x="384014" y="1842504"/>
            <a:ext cx="8448205" cy="671133"/>
            <a:chOff x="1037539" y="1842516"/>
            <a:chExt cx="7069036" cy="671133"/>
          </a:xfrm>
        </p:grpSpPr>
        <p:sp>
          <p:nvSpPr>
            <p:cNvPr id="1001" name="Google Shape;1001;p109"/>
            <p:cNvSpPr/>
            <p:nvPr/>
          </p:nvSpPr>
          <p:spPr>
            <a:xfrm>
              <a:off x="1037539" y="1842683"/>
              <a:ext cx="1310700" cy="670800"/>
            </a:xfrm>
            <a:prstGeom prst="homePlate">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02" name="Google Shape;1002;p109"/>
            <p:cNvGrpSpPr/>
            <p:nvPr/>
          </p:nvGrpSpPr>
          <p:grpSpPr>
            <a:xfrm>
              <a:off x="2081001" y="1842516"/>
              <a:ext cx="6025460" cy="671133"/>
              <a:chOff x="2189480" y="2153920"/>
              <a:chExt cx="7213528" cy="1137900"/>
            </a:xfrm>
          </p:grpSpPr>
          <p:sp>
            <p:nvSpPr>
              <p:cNvPr id="1003" name="Google Shape;1003;p109"/>
              <p:cNvSpPr/>
              <p:nvPr/>
            </p:nvSpPr>
            <p:spPr>
              <a:xfrm>
                <a:off x="2189480" y="2153920"/>
                <a:ext cx="7173000" cy="1137900"/>
              </a:xfrm>
              <a:prstGeom prst="chevron">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1004" name="Google Shape;1004;p109"/>
              <p:cNvSpPr/>
              <p:nvPr/>
            </p:nvSpPr>
            <p:spPr>
              <a:xfrm>
                <a:off x="7779408" y="2153920"/>
                <a:ext cx="1623600" cy="1137900"/>
              </a:xfrm>
              <a:prstGeom prst="rect">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005" name="Google Shape;1005;p109"/>
            <p:cNvSpPr txBox="1"/>
            <p:nvPr/>
          </p:nvSpPr>
          <p:spPr>
            <a:xfrm>
              <a:off x="2514575" y="2000033"/>
              <a:ext cx="5592000" cy="356100"/>
            </a:xfrm>
            <a:prstGeom prst="rect">
              <a:avLst/>
            </a:prstGeom>
            <a:noFill/>
            <a:ln>
              <a:noFill/>
            </a:ln>
          </p:spPr>
          <p:txBody>
            <a:bodyPr anchorCtr="0" anchor="ctr" bIns="91425" lIns="91425" spcFirstLastPara="1" rIns="91425" wrap="square" tIns="91425">
              <a:noAutofit/>
            </a:bodyPr>
            <a:lstStyle/>
            <a:p>
              <a:pPr indent="0" lvl="0" marL="114300" marR="0" rtl="0" algn="l">
                <a:lnSpc>
                  <a:spcPct val="15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Axioms of Probability with examples to understand in a real life perspective how do the axioms influence the inferences</a:t>
              </a:r>
              <a:endParaRPr b="0" i="0" sz="1400" u="none" cap="none" strike="noStrike">
                <a:solidFill>
                  <a:srgbClr val="000000"/>
                </a:solidFill>
                <a:latin typeface="Arial"/>
                <a:ea typeface="Arial"/>
                <a:cs typeface="Arial"/>
                <a:sym typeface="Arial"/>
              </a:endParaRPr>
            </a:p>
          </p:txBody>
        </p:sp>
        <p:sp>
          <p:nvSpPr>
            <p:cNvPr id="1006" name="Google Shape;1006;p109"/>
            <p:cNvSpPr txBox="1"/>
            <p:nvPr/>
          </p:nvSpPr>
          <p:spPr>
            <a:xfrm>
              <a:off x="1365600" y="1951733"/>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02</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1007" name="Google Shape;1007;p109"/>
          <p:cNvGrpSpPr/>
          <p:nvPr/>
        </p:nvGrpSpPr>
        <p:grpSpPr>
          <a:xfrm>
            <a:off x="384014" y="2581306"/>
            <a:ext cx="8448068" cy="671133"/>
            <a:chOff x="1037539" y="2581319"/>
            <a:chExt cx="7068922" cy="671133"/>
          </a:xfrm>
        </p:grpSpPr>
        <p:sp>
          <p:nvSpPr>
            <p:cNvPr id="1008" name="Google Shape;1008;p109"/>
            <p:cNvSpPr/>
            <p:nvPr/>
          </p:nvSpPr>
          <p:spPr>
            <a:xfrm>
              <a:off x="1037539" y="2581486"/>
              <a:ext cx="1310700" cy="670800"/>
            </a:xfrm>
            <a:prstGeom prst="homePlate">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09" name="Google Shape;1009;p109"/>
            <p:cNvGrpSpPr/>
            <p:nvPr/>
          </p:nvGrpSpPr>
          <p:grpSpPr>
            <a:xfrm>
              <a:off x="2081001" y="2581319"/>
              <a:ext cx="6025460" cy="671133"/>
              <a:chOff x="2189480" y="2153920"/>
              <a:chExt cx="7213528" cy="1137900"/>
            </a:xfrm>
          </p:grpSpPr>
          <p:sp>
            <p:nvSpPr>
              <p:cNvPr id="1010" name="Google Shape;1010;p109"/>
              <p:cNvSpPr/>
              <p:nvPr/>
            </p:nvSpPr>
            <p:spPr>
              <a:xfrm>
                <a:off x="2189480" y="2153920"/>
                <a:ext cx="7173000" cy="1137900"/>
              </a:xfrm>
              <a:prstGeom prst="chevron">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1011" name="Google Shape;1011;p109"/>
              <p:cNvSpPr/>
              <p:nvPr/>
            </p:nvSpPr>
            <p:spPr>
              <a:xfrm>
                <a:off x="7779408" y="2153920"/>
                <a:ext cx="1623600" cy="1137900"/>
              </a:xfrm>
              <a:prstGeom prst="rect">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012" name="Google Shape;1012;p109"/>
            <p:cNvSpPr txBox="1"/>
            <p:nvPr/>
          </p:nvSpPr>
          <p:spPr>
            <a:xfrm flipH="1">
              <a:off x="2514450" y="2738836"/>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Fira Sans"/>
                  <a:ea typeface="Fira Sans"/>
                  <a:cs typeface="Fira Sans"/>
                  <a:sym typeface="Fira Sans"/>
                </a:rPr>
                <a:t>Review of Set Notation and Venn Diagrams</a:t>
              </a:r>
              <a:endParaRPr b="0" i="0" sz="1400" u="none" cap="none" strike="noStrike">
                <a:solidFill>
                  <a:srgbClr val="FFFFFF"/>
                </a:solidFill>
                <a:latin typeface="Roboto"/>
                <a:ea typeface="Roboto"/>
                <a:cs typeface="Roboto"/>
                <a:sym typeface="Roboto"/>
              </a:endParaRPr>
            </a:p>
          </p:txBody>
        </p:sp>
        <p:sp>
          <p:nvSpPr>
            <p:cNvPr id="1013" name="Google Shape;1013;p109"/>
            <p:cNvSpPr txBox="1"/>
            <p:nvPr/>
          </p:nvSpPr>
          <p:spPr>
            <a:xfrm>
              <a:off x="1365600" y="2690536"/>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03</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sz="1300">
                <a:latin typeface="Fira Sans"/>
                <a:ea typeface="Fira Sans"/>
                <a:cs typeface="Fira Sans"/>
                <a:sym typeface="Fira Sans"/>
              </a:rPr>
              <a:t>‹#›</a:t>
            </a:fld>
            <a:endParaRPr sz="1300">
              <a:latin typeface="Fira Sans"/>
              <a:ea typeface="Fira Sans"/>
              <a:cs typeface="Fira Sans"/>
              <a:sym typeface="Fira Sans"/>
            </a:endParaRPr>
          </a:p>
        </p:txBody>
      </p:sp>
      <p:pic>
        <p:nvPicPr>
          <p:cNvPr id="1019" name="Google Shape;1019;p110"/>
          <p:cNvPicPr preferRelativeResize="0"/>
          <p:nvPr/>
        </p:nvPicPr>
        <p:blipFill rotWithShape="1">
          <a:blip r:embed="rId3">
            <a:alphaModFix/>
          </a:blip>
          <a:srcRect b="0" l="0" r="0" t="0"/>
          <a:stretch/>
        </p:blipFill>
        <p:spPr>
          <a:xfrm>
            <a:off x="1982950" y="231025"/>
            <a:ext cx="4838724" cy="4838724"/>
          </a:xfrm>
          <a:prstGeom prst="cloud">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1"/>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1025" name="Google Shape;1025;p111"/>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Which of the following statements is NOT one of the axioms of probability?</a:t>
            </a:r>
            <a:endParaRPr b="1" i="0" sz="1800" u="none" cap="none" strike="noStrike">
              <a:solidFill>
                <a:srgbClr val="FFAB40"/>
              </a:solidFill>
              <a:latin typeface="Fira Sans"/>
              <a:ea typeface="Fira Sans"/>
              <a:cs typeface="Fira Sans"/>
              <a:sym typeface="Fira Sans"/>
            </a:endParaRPr>
          </a:p>
        </p:txBody>
      </p:sp>
      <p:sp>
        <p:nvSpPr>
          <p:cNvPr id="1026" name="Google Shape;1026;p111"/>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1027" name="Google Shape;1027;p111"/>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1028" name="Google Shape;1028;p111"/>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1029" name="Google Shape;1029;p111"/>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1030" name="Google Shape;1030;p111"/>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1031" name="Google Shape;1031;p111"/>
          <p:cNvSpPr txBox="1"/>
          <p:nvPr/>
        </p:nvSpPr>
        <p:spPr>
          <a:xfrm>
            <a:off x="1080349" y="2205525"/>
            <a:ext cx="7421275"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any event must be between 0 and 1 (inclusive).</a:t>
            </a:r>
            <a:endParaRPr b="0" i="0" sz="1100" u="none" cap="none" strike="noStrike">
              <a:solidFill>
                <a:schemeClr val="lt1"/>
              </a:solidFill>
              <a:latin typeface="Fira Sans"/>
              <a:ea typeface="Fira Sans"/>
              <a:cs typeface="Fira Sans"/>
              <a:sym typeface="Fira Sans"/>
            </a:endParaRPr>
          </a:p>
        </p:txBody>
      </p:sp>
      <p:sp>
        <p:nvSpPr>
          <p:cNvPr id="1032" name="Google Shape;1032;p111"/>
          <p:cNvSpPr txBox="1"/>
          <p:nvPr/>
        </p:nvSpPr>
        <p:spPr>
          <a:xfrm>
            <a:off x="1012875" y="2798454"/>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the entire sample space (all possible outcomes) is always equal to 0.</a:t>
            </a:r>
            <a:endParaRPr b="0" i="0" sz="1800" u="none" cap="none" strike="noStrike">
              <a:solidFill>
                <a:schemeClr val="lt1"/>
              </a:solidFill>
              <a:latin typeface="Fira Sans"/>
              <a:ea typeface="Fira Sans"/>
              <a:cs typeface="Fira Sans"/>
              <a:sym typeface="Fira Sans"/>
            </a:endParaRPr>
          </a:p>
        </p:txBody>
      </p:sp>
      <p:sp>
        <p:nvSpPr>
          <p:cNvPr id="1033" name="Google Shape;1033;p111"/>
          <p:cNvSpPr txBox="1"/>
          <p:nvPr/>
        </p:nvSpPr>
        <p:spPr>
          <a:xfrm>
            <a:off x="1068281" y="3272550"/>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event A happening OR event B happening (mutually exclusive events) is the sum of the probabilities of A and B.</a:t>
            </a:r>
            <a:endParaRPr b="0" i="0" sz="1400" u="none" cap="none" strike="noStrike">
              <a:solidFill>
                <a:schemeClr val="lt1"/>
              </a:solidFill>
              <a:latin typeface="Fira Sans"/>
              <a:ea typeface="Fira Sans"/>
              <a:cs typeface="Fira Sans"/>
              <a:sym typeface="Fira Sans"/>
            </a:endParaRPr>
          </a:p>
        </p:txBody>
      </p:sp>
      <p:sp>
        <p:nvSpPr>
          <p:cNvPr id="1034" name="Google Shape;1034;p111"/>
          <p:cNvSpPr txBox="1"/>
          <p:nvPr/>
        </p:nvSpPr>
        <p:spPr>
          <a:xfrm>
            <a:off x="966200" y="3928153"/>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If events A and B are mutually exclusive, then the probability of A happening AND event B happening is 0</a:t>
            </a:r>
            <a:endParaRPr b="0" i="0" sz="1400" u="none" cap="none" strike="noStrike">
              <a:solidFill>
                <a:schemeClr val="lt1"/>
              </a:solidFill>
              <a:latin typeface="Fira Sans"/>
              <a:ea typeface="Fira Sans"/>
              <a:cs typeface="Fira Sans"/>
              <a:sym typeface="Fira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12"/>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1040" name="Google Shape;1040;p112"/>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Which of the following statements is NOT one of the axioms of probability?</a:t>
            </a:r>
            <a:endParaRPr b="1" i="0" sz="1800" u="none" cap="none" strike="noStrike">
              <a:solidFill>
                <a:srgbClr val="FFAB40"/>
              </a:solidFill>
              <a:latin typeface="Fira Sans"/>
              <a:ea typeface="Fira Sans"/>
              <a:cs typeface="Fira Sans"/>
              <a:sym typeface="Fira Sans"/>
            </a:endParaRPr>
          </a:p>
        </p:txBody>
      </p:sp>
      <p:sp>
        <p:nvSpPr>
          <p:cNvPr id="1041" name="Google Shape;1041;p112"/>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1042" name="Google Shape;1042;p112"/>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1043" name="Google Shape;1043;p112"/>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1044" name="Google Shape;1044;p112"/>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1045" name="Google Shape;1045;p112"/>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1046" name="Google Shape;1046;p112"/>
          <p:cNvSpPr txBox="1"/>
          <p:nvPr/>
        </p:nvSpPr>
        <p:spPr>
          <a:xfrm>
            <a:off x="1080349" y="2205525"/>
            <a:ext cx="74214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any event must be between 0 and 1 (inclusive).</a:t>
            </a:r>
            <a:endParaRPr b="0" i="0" sz="1100" u="none" cap="none" strike="noStrike">
              <a:solidFill>
                <a:schemeClr val="lt1"/>
              </a:solidFill>
              <a:latin typeface="Fira Sans"/>
              <a:ea typeface="Fira Sans"/>
              <a:cs typeface="Fira Sans"/>
              <a:sym typeface="Fira Sans"/>
            </a:endParaRPr>
          </a:p>
        </p:txBody>
      </p:sp>
      <p:sp>
        <p:nvSpPr>
          <p:cNvPr id="1047" name="Google Shape;1047;p112"/>
          <p:cNvSpPr txBox="1"/>
          <p:nvPr/>
        </p:nvSpPr>
        <p:spPr>
          <a:xfrm>
            <a:off x="1012875" y="2798454"/>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the entire sample space (all possible outcomes) is always equal to 0.</a:t>
            </a:r>
            <a:endParaRPr b="0" i="0" sz="1800" u="none" cap="none" strike="noStrike">
              <a:solidFill>
                <a:schemeClr val="lt1"/>
              </a:solidFill>
              <a:latin typeface="Fira Sans"/>
              <a:ea typeface="Fira Sans"/>
              <a:cs typeface="Fira Sans"/>
              <a:sym typeface="Fira Sans"/>
            </a:endParaRPr>
          </a:p>
        </p:txBody>
      </p:sp>
      <p:sp>
        <p:nvSpPr>
          <p:cNvPr id="1048" name="Google Shape;1048;p112"/>
          <p:cNvSpPr txBox="1"/>
          <p:nvPr/>
        </p:nvSpPr>
        <p:spPr>
          <a:xfrm>
            <a:off x="1068281" y="3272550"/>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The probability of event A happening OR event B happening (mutually exclusive events) is the sum of the probabilities of A and B.</a:t>
            </a:r>
            <a:endParaRPr b="0" i="0" sz="1400" u="none" cap="none" strike="noStrike">
              <a:solidFill>
                <a:schemeClr val="lt1"/>
              </a:solidFill>
              <a:latin typeface="Fira Sans"/>
              <a:ea typeface="Fira Sans"/>
              <a:cs typeface="Fira Sans"/>
              <a:sym typeface="Fira Sans"/>
            </a:endParaRPr>
          </a:p>
        </p:txBody>
      </p:sp>
      <p:sp>
        <p:nvSpPr>
          <p:cNvPr id="1049" name="Google Shape;1049;p112"/>
          <p:cNvSpPr txBox="1"/>
          <p:nvPr/>
        </p:nvSpPr>
        <p:spPr>
          <a:xfrm>
            <a:off x="966200" y="3928153"/>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 If events A and B are mutually exclusive, then the probability of A happening AND event B happening is 0</a:t>
            </a:r>
            <a:endParaRPr b="0" i="0" sz="1400" u="none" cap="none" strike="noStrike">
              <a:solidFill>
                <a:schemeClr val="lt1"/>
              </a:solidFill>
              <a:latin typeface="Fira Sans"/>
              <a:ea typeface="Fira Sans"/>
              <a:cs typeface="Fira Sans"/>
              <a:sym typeface="Fira Sans"/>
            </a:endParaRPr>
          </a:p>
        </p:txBody>
      </p:sp>
      <p:pic>
        <p:nvPicPr>
          <p:cNvPr descr="Badge Tick1 outline" id="1050" name="Google Shape;1050;p112"/>
          <p:cNvPicPr preferRelativeResize="0"/>
          <p:nvPr/>
        </p:nvPicPr>
        <p:blipFill rotWithShape="1">
          <a:blip r:embed="rId3">
            <a:alphaModFix/>
          </a:blip>
          <a:srcRect b="0" l="0" r="0" t="0"/>
          <a:stretch/>
        </p:blipFill>
        <p:spPr>
          <a:xfrm>
            <a:off x="370112" y="2524014"/>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13"/>
          <p:cNvSpPr txBox="1"/>
          <p:nvPr>
            <p:ph idx="12" type="sldNum"/>
          </p:nvPr>
        </p:nvSpPr>
        <p:spPr>
          <a:xfrm>
            <a:off x="62459" y="4707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sz="1300">
                <a:latin typeface="Fira Sans"/>
                <a:ea typeface="Fira Sans"/>
                <a:cs typeface="Fira Sans"/>
                <a:sym typeface="Fira Sans"/>
              </a:rPr>
              <a:t>‹#›</a:t>
            </a:fld>
            <a:endParaRPr sz="1300">
              <a:latin typeface="Fira Sans"/>
              <a:ea typeface="Fira Sans"/>
              <a:cs typeface="Fira Sans"/>
              <a:sym typeface="Fira Sans"/>
            </a:endParaRPr>
          </a:p>
        </p:txBody>
      </p:sp>
      <p:pic>
        <p:nvPicPr>
          <p:cNvPr id="1056" name="Google Shape;1056;p113"/>
          <p:cNvPicPr preferRelativeResize="0"/>
          <p:nvPr/>
        </p:nvPicPr>
        <p:blipFill rotWithShape="1">
          <a:blip r:embed="rId3">
            <a:alphaModFix/>
          </a:blip>
          <a:srcRect b="0" l="0" r="0" t="0"/>
          <a:stretch/>
        </p:blipFill>
        <p:spPr>
          <a:xfrm>
            <a:off x="1518450" y="476250"/>
            <a:ext cx="5962800" cy="4191000"/>
          </a:xfrm>
          <a:prstGeom prst="cloud">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14"/>
          <p:cNvSpPr txBox="1"/>
          <p:nvPr>
            <p:ph type="title"/>
          </p:nvPr>
        </p:nvSpPr>
        <p:spPr>
          <a:xfrm>
            <a:off x="242650" y="848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Today’s </a:t>
            </a:r>
            <a:r>
              <a:rPr lang="en" sz="2700">
                <a:solidFill>
                  <a:srgbClr val="3896D2"/>
                </a:solidFill>
              </a:rPr>
              <a:t>Agenda</a:t>
            </a:r>
            <a:endParaRPr sz="2700">
              <a:solidFill>
                <a:srgbClr val="3896D2"/>
              </a:solidFill>
            </a:endParaRPr>
          </a:p>
        </p:txBody>
      </p:sp>
      <p:grpSp>
        <p:nvGrpSpPr>
          <p:cNvPr id="1062" name="Google Shape;1062;p114"/>
          <p:cNvGrpSpPr/>
          <p:nvPr/>
        </p:nvGrpSpPr>
        <p:grpSpPr>
          <a:xfrm>
            <a:off x="6787913" y="1076325"/>
            <a:ext cx="1653075" cy="3657600"/>
            <a:chOff x="6788575" y="1076325"/>
            <a:chExt cx="1653075" cy="3657600"/>
          </a:xfrm>
        </p:grpSpPr>
        <p:sp>
          <p:nvSpPr>
            <p:cNvPr id="1063" name="Google Shape;1063;p114"/>
            <p:cNvSpPr/>
            <p:nvPr/>
          </p:nvSpPr>
          <p:spPr>
            <a:xfrm>
              <a:off x="6788575" y="1076325"/>
              <a:ext cx="1645200" cy="33018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Types of Probability</a:t>
              </a:r>
              <a:endParaRPr b="1" i="0" sz="2000" u="none" cap="none" strike="noStrike">
                <a:solidFill>
                  <a:srgbClr val="FFFFFF"/>
                </a:solidFill>
                <a:latin typeface="Roboto"/>
                <a:ea typeface="Roboto"/>
                <a:cs typeface="Roboto"/>
                <a:sym typeface="Roboto"/>
              </a:endParaRPr>
            </a:p>
          </p:txBody>
        </p:sp>
        <p:sp>
          <p:nvSpPr>
            <p:cNvPr id="1064" name="Google Shape;1064;p114"/>
            <p:cNvSpPr/>
            <p:nvPr/>
          </p:nvSpPr>
          <p:spPr>
            <a:xfrm>
              <a:off x="7119925"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sp>
          <p:nvSpPr>
            <p:cNvPr id="1065" name="Google Shape;1065;p114"/>
            <p:cNvSpPr/>
            <p:nvPr/>
          </p:nvSpPr>
          <p:spPr>
            <a:xfrm>
              <a:off x="6796450" y="4485525"/>
              <a:ext cx="1645200" cy="248400"/>
            </a:xfrm>
            <a:prstGeom prst="rect">
              <a:avLst/>
            </a:prstGeom>
            <a:solidFill>
              <a:srgbClr val="3A80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6" name="Google Shape;1066;p114"/>
            <p:cNvGrpSpPr/>
            <p:nvPr/>
          </p:nvGrpSpPr>
          <p:grpSpPr>
            <a:xfrm>
              <a:off x="7336859" y="2789275"/>
              <a:ext cx="548633" cy="548633"/>
              <a:chOff x="-48633175" y="2711375"/>
              <a:chExt cx="299325" cy="299325"/>
            </a:xfrm>
          </p:grpSpPr>
          <p:sp>
            <p:nvSpPr>
              <p:cNvPr id="1067" name="Google Shape;1067;p114"/>
              <p:cNvSpPr/>
              <p:nvPr/>
            </p:nvSpPr>
            <p:spPr>
              <a:xfrm>
                <a:off x="-48633175" y="2711375"/>
                <a:ext cx="299325" cy="299325"/>
              </a:xfrm>
              <a:custGeom>
                <a:rect b="b" l="l" r="r" t="t"/>
                <a:pathLst>
                  <a:path extrusionOk="0" h="11973" w="11973">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14"/>
              <p:cNvSpPr/>
              <p:nvPr/>
            </p:nvSpPr>
            <p:spPr>
              <a:xfrm>
                <a:off x="-48579600" y="2764950"/>
                <a:ext cx="192975" cy="191400"/>
              </a:xfrm>
              <a:custGeom>
                <a:rect b="b" l="l" r="r" t="t"/>
                <a:pathLst>
                  <a:path extrusionOk="0" h="7656" w="7719">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69" name="Google Shape;1069;p114"/>
          <p:cNvGrpSpPr/>
          <p:nvPr/>
        </p:nvGrpSpPr>
        <p:grpSpPr>
          <a:xfrm>
            <a:off x="703013" y="1076325"/>
            <a:ext cx="1649125" cy="3657600"/>
            <a:chOff x="703675" y="1076325"/>
            <a:chExt cx="1649125" cy="3657600"/>
          </a:xfrm>
        </p:grpSpPr>
        <p:sp>
          <p:nvSpPr>
            <p:cNvPr id="1070" name="Google Shape;1070;p114"/>
            <p:cNvSpPr/>
            <p:nvPr/>
          </p:nvSpPr>
          <p:spPr>
            <a:xfrm>
              <a:off x="707600" y="1076325"/>
              <a:ext cx="1645200" cy="3301800"/>
            </a:xfrm>
            <a:prstGeom prst="round2SameRect">
              <a:avLst>
                <a:gd fmla="val 50000" name="adj1"/>
                <a:gd fmla="val 0" name="adj2"/>
              </a:avLst>
            </a:prstGeom>
            <a:solidFill>
              <a:srgbClr val="FBB831"/>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800" u="none" cap="none" strike="noStrike">
                  <a:solidFill>
                    <a:srgbClr val="FFFFFF"/>
                  </a:solidFill>
                  <a:latin typeface="Roboto"/>
                  <a:ea typeface="Roboto"/>
                  <a:cs typeface="Roboto"/>
                  <a:sym typeface="Roboto"/>
                </a:rPr>
                <a:t>What is Probability</a:t>
              </a:r>
              <a:endParaRPr b="1" i="0" sz="1800" u="none" cap="none" strike="noStrike">
                <a:solidFill>
                  <a:srgbClr val="FFFFFF"/>
                </a:solidFill>
                <a:latin typeface="Arial"/>
                <a:ea typeface="Arial"/>
                <a:cs typeface="Arial"/>
                <a:sym typeface="Arial"/>
              </a:endParaRPr>
            </a:p>
          </p:txBody>
        </p:sp>
        <p:sp>
          <p:nvSpPr>
            <p:cNvPr id="1071" name="Google Shape;1071;p114"/>
            <p:cNvSpPr/>
            <p:nvPr/>
          </p:nvSpPr>
          <p:spPr>
            <a:xfrm>
              <a:off x="1038950"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D1CC62"/>
                  </a:solidFill>
                  <a:latin typeface="Fira Sans Extra Condensed Medium"/>
                  <a:ea typeface="Fira Sans Extra Condensed Medium"/>
                  <a:cs typeface="Fira Sans Extra Condensed Medium"/>
                  <a:sym typeface="Fira Sans Extra Condensed Medium"/>
                </a:rPr>
                <a:t>1</a:t>
              </a:r>
              <a:endParaRPr b="0" i="0" sz="1400" u="none" cap="none" strike="noStrike">
                <a:solidFill>
                  <a:srgbClr val="D1CC62"/>
                </a:solidFill>
                <a:latin typeface="Arial"/>
                <a:ea typeface="Arial"/>
                <a:cs typeface="Arial"/>
                <a:sym typeface="Arial"/>
              </a:endParaRPr>
            </a:p>
          </p:txBody>
        </p:sp>
        <p:sp>
          <p:nvSpPr>
            <p:cNvPr id="1072" name="Google Shape;1072;p114"/>
            <p:cNvSpPr/>
            <p:nvPr/>
          </p:nvSpPr>
          <p:spPr>
            <a:xfrm>
              <a:off x="703675" y="4485525"/>
              <a:ext cx="1645200" cy="248400"/>
            </a:xfrm>
            <a:prstGeom prst="rect">
              <a:avLst/>
            </a:prstGeom>
            <a:solidFill>
              <a:srgbClr val="FBB8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3" name="Google Shape;1073;p114"/>
            <p:cNvGrpSpPr/>
            <p:nvPr/>
          </p:nvGrpSpPr>
          <p:grpSpPr>
            <a:xfrm>
              <a:off x="1251957" y="2789276"/>
              <a:ext cx="548631" cy="548631"/>
              <a:chOff x="-46772025" y="2701925"/>
              <a:chExt cx="300900" cy="300900"/>
            </a:xfrm>
          </p:grpSpPr>
          <p:sp>
            <p:nvSpPr>
              <p:cNvPr id="1074" name="Google Shape;1074;p114"/>
              <p:cNvSpPr/>
              <p:nvPr/>
            </p:nvSpPr>
            <p:spPr>
              <a:xfrm>
                <a:off x="-46647575" y="2826375"/>
                <a:ext cx="53575" cy="53575"/>
              </a:xfrm>
              <a:custGeom>
                <a:rect b="b" l="l" r="r" t="t"/>
                <a:pathLst>
                  <a:path extrusionOk="0" h="2143" w="2143">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14"/>
              <p:cNvSpPr/>
              <p:nvPr/>
            </p:nvSpPr>
            <p:spPr>
              <a:xfrm>
                <a:off x="-46772025" y="2701925"/>
                <a:ext cx="300900" cy="300900"/>
              </a:xfrm>
              <a:custGeom>
                <a:rect b="b" l="l" r="r" t="t"/>
                <a:pathLst>
                  <a:path extrusionOk="0" h="12036" w="12036">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76" name="Google Shape;1076;p114"/>
          <p:cNvGrpSpPr/>
          <p:nvPr/>
        </p:nvGrpSpPr>
        <p:grpSpPr>
          <a:xfrm>
            <a:off x="4760921" y="1076325"/>
            <a:ext cx="1649142" cy="3657600"/>
            <a:chOff x="4761583" y="1076325"/>
            <a:chExt cx="1649142" cy="3657600"/>
          </a:xfrm>
        </p:grpSpPr>
        <p:sp>
          <p:nvSpPr>
            <p:cNvPr id="1077" name="Google Shape;1077;p114"/>
            <p:cNvSpPr/>
            <p:nvPr/>
          </p:nvSpPr>
          <p:spPr>
            <a:xfrm>
              <a:off x="4761583" y="1076325"/>
              <a:ext cx="1645200" cy="3301800"/>
            </a:xfrm>
            <a:prstGeom prst="round2SameRect">
              <a:avLst>
                <a:gd fmla="val 50000" name="adj1"/>
                <a:gd fmla="val 0" name="adj2"/>
              </a:avLst>
            </a:prstGeom>
            <a:solidFill>
              <a:srgbClr val="1FC2BA"/>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1"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Roboto"/>
                  <a:ea typeface="Roboto"/>
                  <a:cs typeface="Roboto"/>
                  <a:sym typeface="Roboto"/>
                </a:rPr>
                <a:t>Independence in Probability</a:t>
              </a:r>
              <a:endParaRPr b="1" i="0" sz="2000" u="none" cap="none" strike="noStrike">
                <a:solidFill>
                  <a:srgbClr val="FFFFFF"/>
                </a:solidFill>
                <a:latin typeface="Arial"/>
                <a:ea typeface="Arial"/>
                <a:cs typeface="Arial"/>
                <a:sym typeface="Arial"/>
              </a:endParaRPr>
            </a:p>
          </p:txBody>
        </p:sp>
        <p:sp>
          <p:nvSpPr>
            <p:cNvPr id="1078" name="Google Shape;1078;p114"/>
            <p:cNvSpPr/>
            <p:nvPr/>
          </p:nvSpPr>
          <p:spPr>
            <a:xfrm>
              <a:off x="5063608"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1FC2BA"/>
                  </a:solidFill>
                  <a:latin typeface="Fira Sans Extra Condensed Medium"/>
                  <a:ea typeface="Fira Sans Extra Condensed Medium"/>
                  <a:cs typeface="Fira Sans Extra Condensed Medium"/>
                  <a:sym typeface="Fira Sans Extra Condensed Medium"/>
                </a:rPr>
                <a:t>3</a:t>
              </a:r>
              <a:endParaRPr b="0" i="0" sz="1400" u="none" cap="none" strike="noStrike">
                <a:solidFill>
                  <a:srgbClr val="1FC2BA"/>
                </a:solidFill>
                <a:latin typeface="Arial"/>
                <a:ea typeface="Arial"/>
                <a:cs typeface="Arial"/>
                <a:sym typeface="Arial"/>
              </a:endParaRPr>
            </a:p>
          </p:txBody>
        </p:sp>
        <p:sp>
          <p:nvSpPr>
            <p:cNvPr id="1079" name="Google Shape;1079;p114"/>
            <p:cNvSpPr/>
            <p:nvPr/>
          </p:nvSpPr>
          <p:spPr>
            <a:xfrm>
              <a:off x="4765525" y="4485525"/>
              <a:ext cx="1645200" cy="248400"/>
            </a:xfrm>
            <a:prstGeom prst="rect">
              <a:avLst/>
            </a:prstGeom>
            <a:solidFill>
              <a:srgbClr val="1FC2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14"/>
            <p:cNvSpPr/>
            <p:nvPr/>
          </p:nvSpPr>
          <p:spPr>
            <a:xfrm>
              <a:off x="5309863" y="2789272"/>
              <a:ext cx="548641" cy="548631"/>
            </a:xfrm>
            <a:custGeom>
              <a:rect b="b" l="l" r="r" t="t"/>
              <a:pathLst>
                <a:path extrusionOk="0" h="12036" w="12068">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1" name="Google Shape;1081;p114"/>
          <p:cNvGrpSpPr/>
          <p:nvPr/>
        </p:nvGrpSpPr>
        <p:grpSpPr>
          <a:xfrm>
            <a:off x="2733929" y="1076325"/>
            <a:ext cx="1645208" cy="3657600"/>
            <a:chOff x="2734592" y="1076325"/>
            <a:chExt cx="1645208" cy="3657600"/>
          </a:xfrm>
        </p:grpSpPr>
        <p:sp>
          <p:nvSpPr>
            <p:cNvPr id="1082" name="Google Shape;1082;p114"/>
            <p:cNvSpPr/>
            <p:nvPr/>
          </p:nvSpPr>
          <p:spPr>
            <a:xfrm>
              <a:off x="2734592" y="1076325"/>
              <a:ext cx="1645200" cy="3301800"/>
            </a:xfrm>
            <a:prstGeom prst="round2SameRect">
              <a:avLst>
                <a:gd fmla="val 50000" name="adj1"/>
                <a:gd fmla="val 0" name="adj2"/>
              </a:avLst>
            </a:prstGeom>
            <a:solidFill>
              <a:srgbClr val="C27BA0"/>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Approach to Probabilit</a:t>
              </a:r>
              <a:r>
                <a:rPr b="1" i="0" lang="en" sz="2000" u="none" cap="none" strike="noStrike">
                  <a:solidFill>
                    <a:srgbClr val="FFFFFF"/>
                  </a:solidFill>
                  <a:latin typeface="Roboto"/>
                  <a:ea typeface="Roboto"/>
                  <a:cs typeface="Roboto"/>
                  <a:sym typeface="Roboto"/>
                </a:rPr>
                <a:t>y</a:t>
              </a:r>
              <a:endParaRPr b="1" i="0" sz="2000" u="none" cap="none" strike="noStrike">
                <a:solidFill>
                  <a:srgbClr val="FFFFFF"/>
                </a:solidFill>
                <a:latin typeface="Arial"/>
                <a:ea typeface="Arial"/>
                <a:cs typeface="Arial"/>
                <a:sym typeface="Arial"/>
              </a:endParaRPr>
            </a:p>
          </p:txBody>
        </p:sp>
        <p:sp>
          <p:nvSpPr>
            <p:cNvPr id="1083" name="Google Shape;1083;p114"/>
            <p:cNvSpPr/>
            <p:nvPr/>
          </p:nvSpPr>
          <p:spPr>
            <a:xfrm>
              <a:off x="3065942"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8FC03F"/>
                  </a:solidFill>
                  <a:latin typeface="Fira Sans Extra Condensed Medium"/>
                  <a:ea typeface="Fira Sans Extra Condensed Medium"/>
                  <a:cs typeface="Fira Sans Extra Condensed Medium"/>
                  <a:sym typeface="Fira Sans Extra Condensed Medium"/>
                </a:rPr>
                <a:t>2</a:t>
              </a:r>
              <a:endParaRPr b="0" i="0" sz="1400" u="none" cap="none" strike="noStrike">
                <a:solidFill>
                  <a:srgbClr val="8FC03F"/>
                </a:solidFill>
                <a:latin typeface="Arial"/>
                <a:ea typeface="Arial"/>
                <a:cs typeface="Arial"/>
                <a:sym typeface="Arial"/>
              </a:endParaRPr>
            </a:p>
          </p:txBody>
        </p:sp>
        <p:sp>
          <p:nvSpPr>
            <p:cNvPr id="1084" name="Google Shape;1084;p114"/>
            <p:cNvSpPr/>
            <p:nvPr/>
          </p:nvSpPr>
          <p:spPr>
            <a:xfrm>
              <a:off x="2734600" y="4485525"/>
              <a:ext cx="1645200" cy="248400"/>
            </a:xfrm>
            <a:prstGeom prst="rect">
              <a:avLst/>
            </a:prstGeom>
            <a:solidFill>
              <a:srgbClr val="C27B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85" name="Google Shape;1085;p114"/>
            <p:cNvGrpSpPr/>
            <p:nvPr/>
          </p:nvGrpSpPr>
          <p:grpSpPr>
            <a:xfrm>
              <a:off x="3282873" y="2789270"/>
              <a:ext cx="548631" cy="548652"/>
              <a:chOff x="-49786250" y="2316650"/>
              <a:chExt cx="300900" cy="299450"/>
            </a:xfrm>
          </p:grpSpPr>
          <p:sp>
            <p:nvSpPr>
              <p:cNvPr id="1086" name="Google Shape;1086;p114"/>
              <p:cNvSpPr/>
              <p:nvPr/>
            </p:nvSpPr>
            <p:spPr>
              <a:xfrm>
                <a:off x="-49746875" y="2316650"/>
                <a:ext cx="217400" cy="299450"/>
              </a:xfrm>
              <a:custGeom>
                <a:rect b="b" l="l" r="r" t="t"/>
                <a:pathLst>
                  <a:path extrusionOk="0" h="11978" w="8696">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14"/>
              <p:cNvSpPr/>
              <p:nvPr/>
            </p:nvSpPr>
            <p:spPr>
              <a:xfrm>
                <a:off x="-49786250" y="2422325"/>
                <a:ext cx="36250" cy="17350"/>
              </a:xfrm>
              <a:custGeom>
                <a:rect b="b" l="l" r="r" t="t"/>
                <a:pathLst>
                  <a:path extrusionOk="0" h="694" w="145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14"/>
              <p:cNvSpPr/>
              <p:nvPr/>
            </p:nvSpPr>
            <p:spPr>
              <a:xfrm>
                <a:off x="-49783900" y="2362475"/>
                <a:ext cx="31550" cy="30150"/>
              </a:xfrm>
              <a:custGeom>
                <a:rect b="b" l="l" r="r" t="t"/>
                <a:pathLst>
                  <a:path extrusionOk="0" h="1206" w="1262">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14"/>
              <p:cNvSpPr/>
              <p:nvPr/>
            </p:nvSpPr>
            <p:spPr>
              <a:xfrm>
                <a:off x="-49783900" y="2468800"/>
                <a:ext cx="31550" cy="30150"/>
              </a:xfrm>
              <a:custGeom>
                <a:rect b="b" l="l" r="r" t="t"/>
                <a:pathLst>
                  <a:path extrusionOk="0" h="1206" w="1262">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14"/>
              <p:cNvSpPr/>
              <p:nvPr/>
            </p:nvSpPr>
            <p:spPr>
              <a:xfrm>
                <a:off x="-495208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14"/>
              <p:cNvSpPr/>
              <p:nvPr/>
            </p:nvSpPr>
            <p:spPr>
              <a:xfrm>
                <a:off x="-49519250" y="2362475"/>
                <a:ext cx="31525" cy="31325"/>
              </a:xfrm>
              <a:custGeom>
                <a:rect b="b" l="l" r="r" t="t"/>
                <a:pathLst>
                  <a:path extrusionOk="0" h="1253" w="1261">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14"/>
              <p:cNvSpPr/>
              <p:nvPr/>
            </p:nvSpPr>
            <p:spPr>
              <a:xfrm>
                <a:off x="-49519250" y="2468800"/>
                <a:ext cx="31525" cy="30150"/>
              </a:xfrm>
              <a:custGeom>
                <a:rect b="b" l="l" r="r" t="t"/>
                <a:pathLst>
                  <a:path extrusionOk="0" h="1206" w="1261">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1093" name="Google Shape;1093;p114"/>
          <p:cNvCxnSpPr/>
          <p:nvPr/>
        </p:nvCxnSpPr>
        <p:spPr>
          <a:xfrm>
            <a:off x="2551525" y="1307225"/>
            <a:ext cx="22500" cy="3649800"/>
          </a:xfrm>
          <a:prstGeom prst="straightConnector1">
            <a:avLst/>
          </a:prstGeom>
          <a:noFill/>
          <a:ln cap="flat" cmpd="sng" w="19050">
            <a:solidFill>
              <a:srgbClr val="FF0000"/>
            </a:solidFill>
            <a:prstDash val="solid"/>
            <a:round/>
            <a:headEnd len="med" w="med" type="diamond"/>
            <a:tailEnd len="med" w="med" type="diamond"/>
          </a:ln>
        </p:spPr>
      </p:cxnSp>
      <p:cxnSp>
        <p:nvCxnSpPr>
          <p:cNvPr id="1094" name="Google Shape;1094;p114"/>
          <p:cNvCxnSpPr/>
          <p:nvPr/>
        </p:nvCxnSpPr>
        <p:spPr>
          <a:xfrm>
            <a:off x="4595450" y="1295975"/>
            <a:ext cx="51300" cy="3739800"/>
          </a:xfrm>
          <a:prstGeom prst="straightConnector1">
            <a:avLst/>
          </a:prstGeom>
          <a:noFill/>
          <a:ln cap="flat" cmpd="sng" w="19050">
            <a:solidFill>
              <a:srgbClr val="FF0000"/>
            </a:solidFill>
            <a:prstDash val="solid"/>
            <a:round/>
            <a:headEnd len="med" w="med" type="diamond"/>
            <a:tailEnd len="med" w="med" type="diamond"/>
          </a:ln>
        </p:spPr>
      </p:cxnSp>
      <p:cxnSp>
        <p:nvCxnSpPr>
          <p:cNvPr id="1095" name="Google Shape;1095;p114"/>
          <p:cNvCxnSpPr/>
          <p:nvPr/>
        </p:nvCxnSpPr>
        <p:spPr>
          <a:xfrm>
            <a:off x="6572000" y="1239825"/>
            <a:ext cx="49500" cy="3692400"/>
          </a:xfrm>
          <a:prstGeom prst="straightConnector1">
            <a:avLst/>
          </a:prstGeom>
          <a:noFill/>
          <a:ln cap="flat" cmpd="sng" w="19050">
            <a:solidFill>
              <a:srgbClr val="FF0000"/>
            </a:solidFill>
            <a:prstDash val="solid"/>
            <a:round/>
            <a:headEnd len="med" w="med" type="diamond"/>
            <a:tailEnd len="med" w="med" type="diamond"/>
          </a:ln>
        </p:spPr>
      </p:cxnSp>
      <p:sp>
        <p:nvSpPr>
          <p:cNvPr id="1096" name="Google Shape;1096;p114"/>
          <p:cNvSpPr txBox="1"/>
          <p:nvPr>
            <p:ph idx="1" type="body"/>
          </p:nvPr>
        </p:nvSpPr>
        <p:spPr>
          <a:xfrm>
            <a:off x="2088625" y="7590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1097" name="Google Shape;1097;p114"/>
          <p:cNvSpPr txBox="1"/>
          <p:nvPr>
            <p:ph idx="1" type="body"/>
          </p:nvPr>
        </p:nvSpPr>
        <p:spPr>
          <a:xfrm>
            <a:off x="4095888" y="753375"/>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1098" name="Google Shape;1098;p114"/>
          <p:cNvSpPr txBox="1"/>
          <p:nvPr>
            <p:ph idx="1" type="body"/>
          </p:nvPr>
        </p:nvSpPr>
        <p:spPr>
          <a:xfrm>
            <a:off x="6056363" y="7253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1099" name="Google Shape;1099;p114"/>
          <p:cNvSpPr txBox="1"/>
          <p:nvPr>
            <p:ph idx="1" type="body"/>
          </p:nvPr>
        </p:nvSpPr>
        <p:spPr>
          <a:xfrm>
            <a:off x="3065279" y="481664"/>
            <a:ext cx="948300" cy="62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3000"/>
              <a:t>⭐</a:t>
            </a:r>
            <a:endParaRPr sz="30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15"/>
          <p:cNvSpPr txBox="1"/>
          <p:nvPr>
            <p:ph type="title"/>
          </p:nvPr>
        </p:nvSpPr>
        <p:spPr>
          <a:xfrm>
            <a:off x="103350" y="1710750"/>
            <a:ext cx="8937300" cy="8610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95000"/>
              </a:lnSpc>
              <a:spcBef>
                <a:spcPts val="0"/>
              </a:spcBef>
              <a:spcAft>
                <a:spcPts val="1200"/>
              </a:spcAft>
              <a:buSzPct val="119538"/>
              <a:buNone/>
            </a:pPr>
            <a:r>
              <a:rPr b="1" lang="en" sz="5577">
                <a:solidFill>
                  <a:srgbClr val="3896D2"/>
                </a:solidFill>
                <a:latin typeface="Fira Sans"/>
                <a:ea typeface="Fira Sans"/>
                <a:cs typeface="Fira Sans"/>
                <a:sym typeface="Fira Sans"/>
              </a:rPr>
              <a:t>Approaches to Probability</a:t>
            </a:r>
            <a:endParaRPr b="1" sz="5577">
              <a:solidFill>
                <a:srgbClr val="3896D2"/>
              </a:solidFill>
              <a:latin typeface="Fira Sans"/>
              <a:ea typeface="Fira Sans"/>
              <a:cs typeface="Fira Sans"/>
              <a:sym typeface="Fira Sans"/>
            </a:endParaRPr>
          </a:p>
        </p:txBody>
      </p:sp>
      <p:sp>
        <p:nvSpPr>
          <p:cNvPr id="1105" name="Google Shape;1105;p11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descr="Tic Tac Toe with solid fill" id="1106" name="Google Shape;1106;p115"/>
          <p:cNvPicPr preferRelativeResize="0"/>
          <p:nvPr/>
        </p:nvPicPr>
        <p:blipFill rotWithShape="1">
          <a:blip r:embed="rId3">
            <a:alphaModFix/>
          </a:blip>
          <a:srcRect b="0" l="0" r="0" t="0"/>
          <a:stretch/>
        </p:blipFill>
        <p:spPr>
          <a:xfrm>
            <a:off x="3900183" y="2843555"/>
            <a:ext cx="1343625" cy="13436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Approaches to Probability</a:t>
            </a:r>
            <a:endParaRPr/>
          </a:p>
          <a:p>
            <a:pPr indent="0" lvl="0" marL="0" rtl="0" algn="l">
              <a:lnSpc>
                <a:spcPct val="100000"/>
              </a:lnSpc>
              <a:spcBef>
                <a:spcPts val="0"/>
              </a:spcBef>
              <a:spcAft>
                <a:spcPts val="0"/>
              </a:spcAft>
              <a:buSzPts val="3200"/>
              <a:buNone/>
            </a:pPr>
            <a:r>
              <a:t/>
            </a:r>
            <a:endParaRPr/>
          </a:p>
        </p:txBody>
      </p:sp>
      <p:sp>
        <p:nvSpPr>
          <p:cNvPr id="1112" name="Google Shape;1112;p11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13" name="Google Shape;1113;p1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sz="1600">
                <a:solidFill>
                  <a:schemeClr val="lt1"/>
                </a:solidFill>
              </a:rPr>
              <a:t>To understand probability a bit better we need to go deeper into the different approaches of probability</a:t>
            </a:r>
            <a:endParaRPr sz="1600"/>
          </a:p>
          <a:p>
            <a:pPr indent="-444500" lvl="0" marL="457200" rtl="0" algn="l">
              <a:lnSpc>
                <a:spcPct val="150000"/>
              </a:lnSpc>
              <a:spcBef>
                <a:spcPts val="0"/>
              </a:spcBef>
              <a:spcAft>
                <a:spcPts val="0"/>
              </a:spcAft>
              <a:buClr>
                <a:srgbClr val="00FFFF"/>
              </a:buClr>
              <a:buSzPts val="1600"/>
              <a:buAutoNum type="alphaLcParenR"/>
            </a:pPr>
            <a:r>
              <a:rPr b="1" i="1" lang="en" sz="1600">
                <a:solidFill>
                  <a:srgbClr val="00FFFF"/>
                </a:solidFill>
              </a:rPr>
              <a:t>Axiomatic Probability</a:t>
            </a:r>
            <a:endParaRPr sz="1600">
              <a:solidFill>
                <a:srgbClr val="00FFFF"/>
              </a:solidFill>
            </a:endParaRPr>
          </a:p>
          <a:p>
            <a:pPr indent="-444500" lvl="0" marL="457200" rtl="0" algn="l">
              <a:lnSpc>
                <a:spcPct val="150000"/>
              </a:lnSpc>
              <a:spcBef>
                <a:spcPts val="0"/>
              </a:spcBef>
              <a:spcAft>
                <a:spcPts val="0"/>
              </a:spcAft>
              <a:buClr>
                <a:srgbClr val="00FFFF"/>
              </a:buClr>
              <a:buSzPts val="1600"/>
              <a:buAutoNum type="alphaLcParenR"/>
            </a:pPr>
            <a:r>
              <a:rPr b="1" i="1" lang="en" sz="1600">
                <a:solidFill>
                  <a:srgbClr val="00FFFF"/>
                </a:solidFill>
              </a:rPr>
              <a:t>Frequentist Probability</a:t>
            </a:r>
            <a:endParaRPr sz="1600">
              <a:solidFill>
                <a:srgbClr val="00FFFF"/>
              </a:solidFill>
            </a:endParaRPr>
          </a:p>
          <a:p>
            <a:pPr indent="-444500" lvl="0" marL="457200" rtl="0" algn="l">
              <a:lnSpc>
                <a:spcPct val="150000"/>
              </a:lnSpc>
              <a:spcBef>
                <a:spcPts val="0"/>
              </a:spcBef>
              <a:spcAft>
                <a:spcPts val="0"/>
              </a:spcAft>
              <a:buClr>
                <a:srgbClr val="00FFFF"/>
              </a:buClr>
              <a:buSzPts val="1600"/>
              <a:buAutoNum type="alphaLcParenR"/>
            </a:pPr>
            <a:r>
              <a:rPr b="1" i="1" lang="en" sz="1600">
                <a:solidFill>
                  <a:srgbClr val="00FFFF"/>
                </a:solidFill>
              </a:rPr>
              <a:t>Classical Probability</a:t>
            </a:r>
            <a:endParaRPr sz="1600">
              <a:solidFill>
                <a:srgbClr val="00FFFF"/>
              </a:solidFill>
            </a:endParaRPr>
          </a:p>
          <a:p>
            <a:pPr indent="0" lvl="0" marL="0" rtl="0" algn="l">
              <a:lnSpc>
                <a:spcPct val="150000"/>
              </a:lnSpc>
              <a:spcBef>
                <a:spcPts val="0"/>
              </a:spcBef>
              <a:spcAft>
                <a:spcPts val="0"/>
              </a:spcAft>
              <a:buSzPts val="1800"/>
              <a:buNone/>
            </a:pPr>
            <a:r>
              <a:t/>
            </a:r>
            <a:endParaRPr b="1" i="1" sz="1600">
              <a:solidFill>
                <a:schemeClr val="lt1"/>
              </a:solidFill>
            </a:endParaRPr>
          </a:p>
          <a:p>
            <a:pPr indent="0" lvl="0" marL="0" rtl="0" algn="l">
              <a:lnSpc>
                <a:spcPct val="150000"/>
              </a:lnSpc>
              <a:spcBef>
                <a:spcPts val="0"/>
              </a:spcBef>
              <a:spcAft>
                <a:spcPts val="0"/>
              </a:spcAft>
              <a:buSzPts val="1800"/>
              <a:buNone/>
            </a:pPr>
            <a:r>
              <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chemeClr val="dk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Axiomatic Probability</a:t>
            </a:r>
            <a:endParaRPr/>
          </a:p>
          <a:p>
            <a:pPr indent="0" lvl="0" marL="0" rtl="0" algn="l">
              <a:lnSpc>
                <a:spcPct val="100000"/>
              </a:lnSpc>
              <a:spcBef>
                <a:spcPts val="0"/>
              </a:spcBef>
              <a:spcAft>
                <a:spcPts val="0"/>
              </a:spcAft>
              <a:buSzPts val="3200"/>
              <a:buNone/>
            </a:pPr>
            <a:r>
              <a:t/>
            </a:r>
            <a:endParaRPr/>
          </a:p>
        </p:txBody>
      </p:sp>
      <p:sp>
        <p:nvSpPr>
          <p:cNvPr id="1119" name="Google Shape;1119;p11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20" name="Google Shape;1120;p117"/>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lt1"/>
              </a:buClr>
              <a:buSzPts val="1600"/>
              <a:buChar char="●"/>
            </a:pPr>
            <a:r>
              <a:rPr lang="en" sz="1600">
                <a:solidFill>
                  <a:schemeClr val="lt1"/>
                </a:solidFill>
              </a:rPr>
              <a:t>Definition: Axiomatic probability is based on set theory and a set of axioms or fundamental rules that govern the calculation of probabilities. These axioms ensure consistency and reliability in probability calculations</a:t>
            </a:r>
            <a:endParaRPr sz="1600"/>
          </a:p>
          <a:p>
            <a:pPr indent="-330200" lvl="0" marL="457200" rtl="0" algn="l">
              <a:lnSpc>
                <a:spcPct val="150000"/>
              </a:lnSpc>
              <a:spcBef>
                <a:spcPts val="0"/>
              </a:spcBef>
              <a:spcAft>
                <a:spcPts val="0"/>
              </a:spcAft>
              <a:buClr>
                <a:schemeClr val="lt1"/>
              </a:buClr>
              <a:buSzPts val="1600"/>
              <a:buChar char="●"/>
            </a:pPr>
            <a:r>
              <a:rPr lang="en" sz="1600">
                <a:solidFill>
                  <a:schemeClr val="lt1"/>
                </a:solidFill>
              </a:rPr>
              <a:t>Axioms: Includes principles like </a:t>
            </a:r>
            <a:endParaRPr sz="1600">
              <a:solidFill>
                <a:schemeClr val="lt1"/>
              </a:solidFill>
            </a:endParaRPr>
          </a:p>
          <a:p>
            <a:pPr indent="-330200" lvl="1" marL="914400" rtl="0" algn="l">
              <a:lnSpc>
                <a:spcPct val="150000"/>
              </a:lnSpc>
              <a:spcBef>
                <a:spcPts val="0"/>
              </a:spcBef>
              <a:spcAft>
                <a:spcPts val="0"/>
              </a:spcAft>
              <a:buClr>
                <a:schemeClr val="lt1"/>
              </a:buClr>
              <a:buSzPts val="1600"/>
              <a:buChar char="○"/>
            </a:pPr>
            <a:r>
              <a:rPr lang="en" sz="1600">
                <a:solidFill>
                  <a:schemeClr val="lt1"/>
                </a:solidFill>
              </a:rPr>
              <a:t>non-negativity (probability is never negative),</a:t>
            </a:r>
            <a:endParaRPr sz="1600">
              <a:solidFill>
                <a:schemeClr val="lt1"/>
              </a:solidFill>
            </a:endParaRPr>
          </a:p>
          <a:p>
            <a:pPr indent="-330200" lvl="1" marL="914400" rtl="0" algn="l">
              <a:lnSpc>
                <a:spcPct val="150000"/>
              </a:lnSpc>
              <a:spcBef>
                <a:spcPts val="0"/>
              </a:spcBef>
              <a:spcAft>
                <a:spcPts val="0"/>
              </a:spcAft>
              <a:buClr>
                <a:schemeClr val="lt1"/>
              </a:buClr>
              <a:buSzPts val="1600"/>
              <a:buChar char="○"/>
            </a:pPr>
            <a:r>
              <a:rPr lang="en" sz="1600">
                <a:solidFill>
                  <a:schemeClr val="lt1"/>
                </a:solidFill>
              </a:rPr>
              <a:t>normalization (the probability of the entire sample space is 1), and </a:t>
            </a:r>
            <a:endParaRPr sz="1600">
              <a:solidFill>
                <a:schemeClr val="lt1"/>
              </a:solidFill>
            </a:endParaRPr>
          </a:p>
          <a:p>
            <a:pPr indent="-330200" lvl="1" marL="914400" rtl="0" algn="l">
              <a:lnSpc>
                <a:spcPct val="150000"/>
              </a:lnSpc>
              <a:spcBef>
                <a:spcPts val="0"/>
              </a:spcBef>
              <a:spcAft>
                <a:spcPts val="0"/>
              </a:spcAft>
              <a:buClr>
                <a:schemeClr val="lt1"/>
              </a:buClr>
              <a:buSzPts val="1600"/>
              <a:buChar char="○"/>
            </a:pPr>
            <a:r>
              <a:rPr lang="en" sz="1600">
                <a:solidFill>
                  <a:schemeClr val="lt1"/>
                </a:solidFill>
              </a:rPr>
              <a:t>additivity (the probability of the union of mutually exclusive events is the sum of their probabilities).</a:t>
            </a:r>
            <a:endParaRPr sz="16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Axiomatic Probability</a:t>
            </a:r>
            <a:endParaRPr/>
          </a:p>
          <a:p>
            <a:pPr indent="0" lvl="0" marL="0" rtl="0" algn="l">
              <a:lnSpc>
                <a:spcPct val="100000"/>
              </a:lnSpc>
              <a:spcBef>
                <a:spcPts val="0"/>
              </a:spcBef>
              <a:spcAft>
                <a:spcPts val="0"/>
              </a:spcAft>
              <a:buSzPts val="3200"/>
              <a:buNone/>
            </a:pPr>
            <a:r>
              <a:t/>
            </a:r>
            <a:endParaRPr/>
          </a:p>
        </p:txBody>
      </p:sp>
      <p:sp>
        <p:nvSpPr>
          <p:cNvPr id="1126" name="Google Shape;1126;p11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27" name="Google Shape;1127;p118"/>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2400"/>
              </a:spcBef>
              <a:spcAft>
                <a:spcPts val="0"/>
              </a:spcAft>
              <a:buClr>
                <a:schemeClr val="lt1"/>
              </a:buClr>
              <a:buSzPts val="1600"/>
              <a:buChar char="●"/>
            </a:pPr>
            <a:r>
              <a:rPr lang="en" sz="1600">
                <a:solidFill>
                  <a:schemeClr val="lt1"/>
                </a:solidFill>
              </a:rPr>
              <a:t>Example:</a:t>
            </a:r>
            <a:endParaRPr sz="1600">
              <a:solidFill>
                <a:schemeClr val="lt1"/>
              </a:solidFill>
            </a:endParaRPr>
          </a:p>
          <a:p>
            <a:pPr indent="-330200" lvl="1" marL="914400" marR="0" rtl="0" algn="l">
              <a:lnSpc>
                <a:spcPct val="150000"/>
              </a:lnSpc>
              <a:spcBef>
                <a:spcPts val="0"/>
              </a:spcBef>
              <a:spcAft>
                <a:spcPts val="0"/>
              </a:spcAft>
              <a:buClr>
                <a:schemeClr val="lt1"/>
              </a:buClr>
              <a:buSzPts val="1600"/>
              <a:buChar char="○"/>
            </a:pPr>
            <a:r>
              <a:rPr lang="en" sz="1600">
                <a:solidFill>
                  <a:schemeClr val="lt1"/>
                </a:solidFill>
              </a:rPr>
              <a:t>Scenario: Calculate the probability that Anna will watch either a drama or an action movie on a given night, knowing that she prefers dramas 40% of the time and action movies 30% of the time</a:t>
            </a:r>
            <a:endParaRPr sz="1600">
              <a:solidFill>
                <a:schemeClr val="lt1"/>
              </a:solidFill>
            </a:endParaRPr>
          </a:p>
          <a:p>
            <a:pPr indent="-330200" lvl="1" marL="914400" marR="0" rtl="0" algn="l">
              <a:lnSpc>
                <a:spcPct val="150000"/>
              </a:lnSpc>
              <a:spcBef>
                <a:spcPts val="0"/>
              </a:spcBef>
              <a:spcAft>
                <a:spcPts val="0"/>
              </a:spcAft>
              <a:buClr>
                <a:schemeClr val="lt1"/>
              </a:buClr>
              <a:buSzPts val="1600"/>
              <a:buChar char="○"/>
            </a:pPr>
            <a:r>
              <a:rPr lang="en" sz="1600">
                <a:solidFill>
                  <a:schemeClr val="lt1"/>
                </a:solidFill>
              </a:rPr>
              <a:t>Calculation: </a:t>
            </a:r>
            <a:endParaRPr sz="1600">
              <a:solidFill>
                <a:schemeClr val="lt1"/>
              </a:solidFill>
            </a:endParaRPr>
          </a:p>
          <a:p>
            <a:pPr indent="-330200" lvl="2" marL="1371600" marR="0" rtl="0" algn="l">
              <a:lnSpc>
                <a:spcPct val="150000"/>
              </a:lnSpc>
              <a:spcBef>
                <a:spcPts val="0"/>
              </a:spcBef>
              <a:spcAft>
                <a:spcPts val="0"/>
              </a:spcAft>
              <a:buClr>
                <a:schemeClr val="lt1"/>
              </a:buClr>
              <a:buSzPts val="1600"/>
              <a:buChar char="■"/>
            </a:pPr>
            <a:r>
              <a:rPr lang="en" sz="1600">
                <a:solidFill>
                  <a:schemeClr val="lt1"/>
                </a:solidFill>
              </a:rPr>
              <a:t>Let P(drama) = 0.4 and P(action) = 0.3</a:t>
            </a:r>
            <a:endParaRPr sz="1600">
              <a:solidFill>
                <a:schemeClr val="lt1"/>
              </a:solidFill>
            </a:endParaRPr>
          </a:p>
          <a:p>
            <a:pPr indent="-330200" lvl="2" marL="1371600" marR="0" rtl="0" algn="l">
              <a:lnSpc>
                <a:spcPct val="150000"/>
              </a:lnSpc>
              <a:spcBef>
                <a:spcPts val="0"/>
              </a:spcBef>
              <a:spcAft>
                <a:spcPts val="0"/>
              </a:spcAft>
              <a:buClr>
                <a:schemeClr val="lt1"/>
              </a:buClr>
              <a:buSzPts val="1600"/>
              <a:buChar char="■"/>
            </a:pPr>
            <a:r>
              <a:rPr lang="en" sz="1600">
                <a:solidFill>
                  <a:schemeClr val="lt1"/>
                </a:solidFill>
              </a:rPr>
              <a:t>By the additivity axiom: </a:t>
            </a:r>
            <a:endParaRPr sz="1600">
              <a:solidFill>
                <a:schemeClr val="lt1"/>
              </a:solidFill>
            </a:endParaRPr>
          </a:p>
          <a:p>
            <a:pPr indent="-330200" lvl="3" marL="1828800" marR="0" rtl="0" algn="l">
              <a:lnSpc>
                <a:spcPct val="150000"/>
              </a:lnSpc>
              <a:spcBef>
                <a:spcPts val="0"/>
              </a:spcBef>
              <a:spcAft>
                <a:spcPts val="0"/>
              </a:spcAft>
              <a:buClr>
                <a:schemeClr val="lt1"/>
              </a:buClr>
              <a:buSzPts val="1600"/>
              <a:buChar char="●"/>
            </a:pPr>
            <a:r>
              <a:rPr lang="en" sz="1600">
                <a:solidFill>
                  <a:schemeClr val="lt1"/>
                </a:solidFill>
              </a:rPr>
              <a:t>P(drama or action)= P(drama) + P(action) = 0.4 + 0.3 = 0.7</a:t>
            </a:r>
            <a:endParaRPr sz="1600">
              <a:solidFill>
                <a:schemeClr val="lt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ial"/>
              <a:buNone/>
            </a:pPr>
            <a:r>
              <a:rPr lang="en"/>
              <a:t>Frequentist Probability</a:t>
            </a:r>
            <a:endParaRPr/>
          </a:p>
          <a:p>
            <a:pPr indent="0" lvl="0" marL="0" rtl="0" algn="l">
              <a:lnSpc>
                <a:spcPct val="100000"/>
              </a:lnSpc>
              <a:spcBef>
                <a:spcPts val="0"/>
              </a:spcBef>
              <a:spcAft>
                <a:spcPts val="0"/>
              </a:spcAft>
              <a:buSzPts val="3200"/>
              <a:buNone/>
            </a:pPr>
            <a:r>
              <a:t/>
            </a:r>
            <a:endParaRPr/>
          </a:p>
          <a:p>
            <a:pPr indent="0" lvl="0" marL="0" rtl="0" algn="l">
              <a:lnSpc>
                <a:spcPct val="100000"/>
              </a:lnSpc>
              <a:spcBef>
                <a:spcPts val="0"/>
              </a:spcBef>
              <a:spcAft>
                <a:spcPts val="0"/>
              </a:spcAft>
              <a:buSzPts val="3200"/>
              <a:buNone/>
            </a:pPr>
            <a:r>
              <a:t/>
            </a:r>
            <a:endParaRPr/>
          </a:p>
        </p:txBody>
      </p:sp>
      <p:sp>
        <p:nvSpPr>
          <p:cNvPr id="1133" name="Google Shape;1133;p11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34" name="Google Shape;1134;p119"/>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lt1"/>
              </a:buClr>
              <a:buSzPts val="1600"/>
              <a:buChar char="●"/>
            </a:pPr>
            <a:r>
              <a:rPr b="1" lang="en" sz="1600">
                <a:solidFill>
                  <a:schemeClr val="lt1"/>
                </a:solidFill>
              </a:rPr>
              <a:t>Definition</a:t>
            </a:r>
            <a:r>
              <a:rPr lang="en" sz="1600">
                <a:solidFill>
                  <a:schemeClr val="lt1"/>
                </a:solidFill>
              </a:rPr>
              <a:t>: Frequentist probability relies on empirical data and repeated experiments to determine probabilities. It interprets probability as the long-run frequency of events occurring under identical conditions.</a:t>
            </a:r>
            <a:endParaRPr sz="1600"/>
          </a:p>
          <a:p>
            <a:pPr indent="-330200" lvl="0" marL="457200" rtl="0" algn="l">
              <a:lnSpc>
                <a:spcPct val="115000"/>
              </a:lnSpc>
              <a:spcBef>
                <a:spcPts val="0"/>
              </a:spcBef>
              <a:spcAft>
                <a:spcPts val="0"/>
              </a:spcAft>
              <a:buClr>
                <a:schemeClr val="lt1"/>
              </a:buClr>
              <a:buSzPts val="1600"/>
              <a:buChar char="●"/>
            </a:pPr>
            <a:r>
              <a:rPr b="1" lang="en" sz="1600">
                <a:solidFill>
                  <a:schemeClr val="lt1"/>
                </a:solidFill>
              </a:rPr>
              <a:t>Methodology</a:t>
            </a:r>
            <a:r>
              <a:rPr lang="en" sz="1600">
                <a:solidFill>
                  <a:schemeClr val="lt1"/>
                </a:solidFill>
              </a:rPr>
              <a:t>:</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b="1" lang="en" sz="1600">
                <a:solidFill>
                  <a:schemeClr val="lt1"/>
                </a:solidFill>
              </a:rPr>
              <a:t>Empirical Data</a:t>
            </a:r>
            <a:r>
              <a:rPr lang="en" sz="1600">
                <a:solidFill>
                  <a:schemeClr val="lt1"/>
                </a:solidFill>
              </a:rPr>
              <a:t>: Uses data from repeated trials or observations.</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b="1" lang="en" sz="1600">
                <a:solidFill>
                  <a:schemeClr val="lt1"/>
                </a:solidFill>
              </a:rPr>
              <a:t>Probability as Limit</a:t>
            </a:r>
            <a:r>
              <a:rPr lang="en" sz="1600">
                <a:solidFill>
                  <a:schemeClr val="lt1"/>
                </a:solidFill>
              </a:rPr>
              <a:t>: Probability of an event is interpreted as the relative frequency of its occurrence in a large number of trials.</a:t>
            </a:r>
            <a:endParaRPr sz="1100">
              <a:latin typeface="Arial"/>
              <a:ea typeface="Arial"/>
              <a:cs typeface="Arial"/>
              <a:sym typeface="Arial"/>
            </a:endParaRPr>
          </a:p>
          <a:p>
            <a:pPr indent="0" lvl="0" marL="457200" rtl="0" algn="l">
              <a:lnSpc>
                <a:spcPct val="150000"/>
              </a:lnSpc>
              <a:spcBef>
                <a:spcPts val="2400"/>
              </a:spcBef>
              <a:spcAft>
                <a:spcPts val="0"/>
              </a:spcAft>
              <a:buSzPts val="1800"/>
              <a:buNone/>
            </a:pPr>
            <a:r>
              <a:t/>
            </a:r>
            <a:endParaRPr sz="16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pic>
        <p:nvPicPr>
          <p:cNvPr id="1139" name="Google Shape;1139;p120"/>
          <p:cNvPicPr preferRelativeResize="0"/>
          <p:nvPr/>
        </p:nvPicPr>
        <p:blipFill rotWithShape="1">
          <a:blip r:embed="rId3">
            <a:alphaModFix/>
          </a:blip>
          <a:srcRect b="0" l="0" r="0" t="0"/>
          <a:stretch/>
        </p:blipFill>
        <p:spPr>
          <a:xfrm>
            <a:off x="1926625" y="3576200"/>
            <a:ext cx="5440835" cy="572700"/>
          </a:xfrm>
          <a:prstGeom prst="rect">
            <a:avLst/>
          </a:prstGeom>
          <a:noFill/>
          <a:ln>
            <a:noFill/>
          </a:ln>
        </p:spPr>
      </p:pic>
      <p:sp>
        <p:nvSpPr>
          <p:cNvPr id="1140" name="Google Shape;1140;p1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ial"/>
              <a:buNone/>
            </a:pPr>
            <a:r>
              <a:rPr lang="en"/>
              <a:t>Frequentist Probability</a:t>
            </a:r>
            <a:endParaRPr/>
          </a:p>
          <a:p>
            <a:pPr indent="0" lvl="0" marL="0" rtl="0" algn="l">
              <a:lnSpc>
                <a:spcPct val="100000"/>
              </a:lnSpc>
              <a:spcBef>
                <a:spcPts val="0"/>
              </a:spcBef>
              <a:spcAft>
                <a:spcPts val="0"/>
              </a:spcAft>
              <a:buSzPts val="3200"/>
              <a:buNone/>
            </a:pPr>
            <a:r>
              <a:t/>
            </a:r>
            <a:endParaRPr/>
          </a:p>
          <a:p>
            <a:pPr indent="0" lvl="0" marL="0" rtl="0" algn="l">
              <a:lnSpc>
                <a:spcPct val="100000"/>
              </a:lnSpc>
              <a:spcBef>
                <a:spcPts val="0"/>
              </a:spcBef>
              <a:spcAft>
                <a:spcPts val="0"/>
              </a:spcAft>
              <a:buSzPts val="3200"/>
              <a:buNone/>
            </a:pPr>
            <a:r>
              <a:t/>
            </a:r>
            <a:endParaRPr/>
          </a:p>
        </p:txBody>
      </p:sp>
      <p:sp>
        <p:nvSpPr>
          <p:cNvPr id="1141" name="Google Shape;1141;p12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42" name="Google Shape;1142;p120"/>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2400"/>
              </a:spcBef>
              <a:spcAft>
                <a:spcPts val="0"/>
              </a:spcAft>
              <a:buClr>
                <a:schemeClr val="lt1"/>
              </a:buClr>
              <a:buSzPts val="1600"/>
              <a:buChar char="●"/>
            </a:pPr>
            <a:r>
              <a:rPr lang="en" sz="1600">
                <a:solidFill>
                  <a:schemeClr val="lt1"/>
                </a:solidFill>
              </a:rPr>
              <a:t>Example:</a:t>
            </a:r>
            <a:endParaRPr sz="1600">
              <a:solidFill>
                <a:schemeClr val="lt1"/>
              </a:solidFill>
            </a:endParaRPr>
          </a:p>
          <a:p>
            <a:pPr indent="-330200" lvl="1" marL="914400" rtl="0" algn="l">
              <a:lnSpc>
                <a:spcPct val="150000"/>
              </a:lnSpc>
              <a:spcBef>
                <a:spcPts val="0"/>
              </a:spcBef>
              <a:spcAft>
                <a:spcPts val="0"/>
              </a:spcAft>
              <a:buClr>
                <a:schemeClr val="lt1"/>
              </a:buClr>
              <a:buSzPts val="1600"/>
              <a:buChar char="○"/>
            </a:pPr>
            <a:r>
              <a:rPr lang="en" sz="1600">
                <a:solidFill>
                  <a:schemeClr val="lt1"/>
                </a:solidFill>
              </a:rPr>
              <a:t>Scenario: Over the past year, Anna has watched 30 movies, of which 12 were dramas.</a:t>
            </a:r>
            <a:endParaRPr sz="1600">
              <a:solidFill>
                <a:schemeClr val="lt1"/>
              </a:solidFill>
            </a:endParaRPr>
          </a:p>
          <a:p>
            <a:pPr indent="-330200" lvl="1" marL="914400" rtl="0" algn="l">
              <a:lnSpc>
                <a:spcPct val="150000"/>
              </a:lnSpc>
              <a:spcBef>
                <a:spcPts val="0"/>
              </a:spcBef>
              <a:spcAft>
                <a:spcPts val="0"/>
              </a:spcAft>
              <a:buClr>
                <a:schemeClr val="lt1"/>
              </a:buClr>
              <a:buSzPts val="1600"/>
              <a:buChar char="○"/>
            </a:pPr>
            <a:r>
              <a:rPr lang="en" sz="1600">
                <a:solidFill>
                  <a:schemeClr val="lt1"/>
                </a:solidFill>
              </a:rPr>
              <a:t>Calculation: Estimate the probability that Anna will choose a drama for her next movie night based on the frequency of dramas in her past choices.</a:t>
            </a:r>
            <a:endParaRPr sz="1100">
              <a:latin typeface="Arial"/>
              <a:ea typeface="Arial"/>
              <a:cs typeface="Arial"/>
              <a:sym typeface="Arial"/>
            </a:endParaRPr>
          </a:p>
          <a:p>
            <a:pPr indent="0" lvl="0" marL="0" rtl="0" algn="l">
              <a:lnSpc>
                <a:spcPct val="150000"/>
              </a:lnSpc>
              <a:spcBef>
                <a:spcPts val="1200"/>
              </a:spcBef>
              <a:spcAft>
                <a:spcPts val="0"/>
              </a:spcAft>
              <a:buSzPts val="1800"/>
              <a:buNone/>
            </a:pPr>
            <a:r>
              <a:t/>
            </a:r>
            <a:endParaRPr sz="1600">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Classical Probability</a:t>
            </a:r>
            <a:endParaRPr/>
          </a:p>
          <a:p>
            <a:pPr indent="0" lvl="0" marL="0" rtl="0" algn="l">
              <a:lnSpc>
                <a:spcPct val="100000"/>
              </a:lnSpc>
              <a:spcBef>
                <a:spcPts val="0"/>
              </a:spcBef>
              <a:spcAft>
                <a:spcPts val="0"/>
              </a:spcAft>
              <a:buSzPts val="3200"/>
              <a:buNone/>
            </a:pPr>
            <a:r>
              <a:t/>
            </a:r>
            <a:endParaRPr/>
          </a:p>
          <a:p>
            <a:pPr indent="0" lvl="0" marL="0" rtl="0" algn="l">
              <a:lnSpc>
                <a:spcPct val="100000"/>
              </a:lnSpc>
              <a:spcBef>
                <a:spcPts val="0"/>
              </a:spcBef>
              <a:spcAft>
                <a:spcPts val="0"/>
              </a:spcAft>
              <a:buSzPts val="3200"/>
              <a:buNone/>
            </a:pPr>
            <a:r>
              <a:t/>
            </a:r>
            <a:endParaRPr/>
          </a:p>
        </p:txBody>
      </p:sp>
      <p:sp>
        <p:nvSpPr>
          <p:cNvPr id="1148" name="Google Shape;1148;p12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49" name="Google Shape;1149;p121"/>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lt1"/>
              </a:buClr>
              <a:buSzPts val="1600"/>
              <a:buChar char="●"/>
            </a:pPr>
            <a:r>
              <a:rPr b="1" lang="en" sz="1600">
                <a:solidFill>
                  <a:schemeClr val="lt1"/>
                </a:solidFill>
              </a:rPr>
              <a:t>Definition: </a:t>
            </a:r>
            <a:r>
              <a:rPr lang="en" sz="1600">
                <a:solidFill>
                  <a:schemeClr val="lt1"/>
                </a:solidFill>
              </a:rPr>
              <a:t>Classical probability assumes equally likely outcomes within a well-defined sample space. It is based on the principle that all outcomes have an equal chance of occurring.</a:t>
            </a:r>
            <a:endParaRPr sz="1600"/>
          </a:p>
          <a:p>
            <a:pPr indent="-330200" lvl="0" marL="457200" rtl="0" algn="l">
              <a:lnSpc>
                <a:spcPct val="115000"/>
              </a:lnSpc>
              <a:spcBef>
                <a:spcPts val="0"/>
              </a:spcBef>
              <a:spcAft>
                <a:spcPts val="0"/>
              </a:spcAft>
              <a:buClr>
                <a:schemeClr val="lt1"/>
              </a:buClr>
              <a:buSzPts val="1600"/>
              <a:buChar char="●"/>
            </a:pPr>
            <a:r>
              <a:rPr b="1" lang="en" sz="1600">
                <a:solidFill>
                  <a:schemeClr val="lt1"/>
                </a:solidFill>
              </a:rPr>
              <a:t>Methodology</a:t>
            </a:r>
            <a:r>
              <a:rPr lang="en" sz="1600">
                <a:solidFill>
                  <a:schemeClr val="lt1"/>
                </a:solidFill>
              </a:rPr>
              <a:t>:</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b="1" lang="en" sz="1600">
                <a:solidFill>
                  <a:schemeClr val="lt1"/>
                </a:solidFill>
              </a:rPr>
              <a:t>Uses a theoretical model where all outcomes are equally likely.</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lang="en" sz="1600">
                <a:solidFill>
                  <a:schemeClr val="lt1"/>
                </a:solidFill>
              </a:rPr>
              <a:t>Probability of an event is calculated as follows:</a:t>
            </a:r>
            <a:endParaRPr sz="1600">
              <a:solidFill>
                <a:schemeClr val="lt1"/>
              </a:solidFill>
            </a:endParaRPr>
          </a:p>
          <a:p>
            <a:pPr indent="0" lvl="0" marL="0" marR="0" rtl="0" algn="l">
              <a:lnSpc>
                <a:spcPct val="115000"/>
              </a:lnSpc>
              <a:spcBef>
                <a:spcPts val="0"/>
              </a:spcBef>
              <a:spcAft>
                <a:spcPts val="0"/>
              </a:spcAft>
              <a:buNone/>
            </a:pPr>
            <a:r>
              <a:t/>
            </a:r>
            <a:endParaRPr sz="1600">
              <a:solidFill>
                <a:schemeClr val="lt1"/>
              </a:solidFill>
            </a:endParaRPr>
          </a:p>
          <a:p>
            <a:pPr indent="0" lvl="0" marL="457200" rtl="0" algn="l">
              <a:lnSpc>
                <a:spcPct val="150000"/>
              </a:lnSpc>
              <a:spcBef>
                <a:spcPts val="2400"/>
              </a:spcBef>
              <a:spcAft>
                <a:spcPts val="0"/>
              </a:spcAft>
              <a:buSzPts val="1800"/>
              <a:buNone/>
            </a:pPr>
            <a:r>
              <a:t/>
            </a:r>
            <a:endParaRPr sz="1600">
              <a:solidFill>
                <a:schemeClr val="lt1"/>
              </a:solidFill>
            </a:endParaRPr>
          </a:p>
        </p:txBody>
      </p:sp>
      <p:pic>
        <p:nvPicPr>
          <p:cNvPr id="1150" name="Google Shape;1150;p121" title="[255,255,255,&quot;https://www.codecogs.com/eqnedit.php?latex=P(E)%3DNumber%20of%20favourable%20outcomes%2FTotal%20number%20of%20possible%20outcomes#0&quot;]"/>
          <p:cNvPicPr preferRelativeResize="0"/>
          <p:nvPr/>
        </p:nvPicPr>
        <p:blipFill>
          <a:blip r:embed="rId3">
            <a:alphaModFix/>
          </a:blip>
          <a:stretch>
            <a:fillRect/>
          </a:stretch>
        </p:blipFill>
        <p:spPr>
          <a:xfrm>
            <a:off x="311700" y="3466225"/>
            <a:ext cx="8520595" cy="26919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Classical Probability</a:t>
            </a:r>
            <a:endParaRPr/>
          </a:p>
          <a:p>
            <a:pPr indent="0" lvl="0" marL="0" rtl="0" algn="l">
              <a:lnSpc>
                <a:spcPct val="100000"/>
              </a:lnSpc>
              <a:spcBef>
                <a:spcPts val="0"/>
              </a:spcBef>
              <a:spcAft>
                <a:spcPts val="0"/>
              </a:spcAft>
              <a:buSzPts val="3200"/>
              <a:buNone/>
            </a:pPr>
            <a:r>
              <a:t/>
            </a:r>
            <a:endParaRPr/>
          </a:p>
        </p:txBody>
      </p:sp>
      <p:sp>
        <p:nvSpPr>
          <p:cNvPr id="1156" name="Google Shape;1156;p12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57" name="Google Shape;1157;p122"/>
          <p:cNvSpPr txBox="1"/>
          <p:nvPr>
            <p:ph idx="1" type="body"/>
          </p:nvPr>
        </p:nvSpPr>
        <p:spPr>
          <a:xfrm>
            <a:off x="311700" y="1152475"/>
            <a:ext cx="8226900" cy="3416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2400"/>
              </a:spcBef>
              <a:spcAft>
                <a:spcPts val="0"/>
              </a:spcAft>
              <a:buClr>
                <a:schemeClr val="lt1"/>
              </a:buClr>
              <a:buSzPts val="1600"/>
              <a:buChar char="●"/>
            </a:pPr>
            <a:r>
              <a:rPr lang="en" sz="1600">
                <a:solidFill>
                  <a:schemeClr val="lt1"/>
                </a:solidFill>
              </a:rPr>
              <a:t>Example:</a:t>
            </a:r>
            <a:endParaRPr sz="1600">
              <a:solidFill>
                <a:schemeClr val="lt1"/>
              </a:solidFill>
            </a:endParaRPr>
          </a:p>
          <a:p>
            <a:pPr indent="-330200" lvl="1" marL="914400" marR="0" rtl="0" algn="l">
              <a:lnSpc>
                <a:spcPct val="150000"/>
              </a:lnSpc>
              <a:spcBef>
                <a:spcPts val="0"/>
              </a:spcBef>
              <a:spcAft>
                <a:spcPts val="0"/>
              </a:spcAft>
              <a:buClr>
                <a:schemeClr val="lt1"/>
              </a:buClr>
              <a:buSzPts val="1600"/>
              <a:buChar char="○"/>
            </a:pPr>
            <a:r>
              <a:rPr lang="en" sz="1600">
                <a:solidFill>
                  <a:schemeClr val="lt1"/>
                </a:solidFill>
              </a:rPr>
              <a:t>Scenario: Anna has a collection of 10 movies, including 4 dramas, 3 comedies, and 2 action movies and 1 documentary.</a:t>
            </a:r>
            <a:endParaRPr sz="1600">
              <a:solidFill>
                <a:schemeClr val="lt1"/>
              </a:solidFill>
            </a:endParaRPr>
          </a:p>
          <a:p>
            <a:pPr indent="-330200" lvl="1" marL="914400" marR="0" rtl="0" algn="l">
              <a:lnSpc>
                <a:spcPct val="150000"/>
              </a:lnSpc>
              <a:spcBef>
                <a:spcPts val="0"/>
              </a:spcBef>
              <a:spcAft>
                <a:spcPts val="0"/>
              </a:spcAft>
              <a:buClr>
                <a:schemeClr val="lt1"/>
              </a:buClr>
              <a:buSzPts val="1600"/>
              <a:buChar char="○"/>
            </a:pPr>
            <a:r>
              <a:rPr lang="en" sz="1600">
                <a:solidFill>
                  <a:schemeClr val="lt1"/>
                </a:solidFill>
              </a:rPr>
              <a:t>Calculation: Calculate the probability that Anna randomly selects a drama for movie night using classical probability principles.</a:t>
            </a:r>
            <a:endParaRPr sz="1100">
              <a:latin typeface="Arial"/>
              <a:ea typeface="Arial"/>
              <a:cs typeface="Arial"/>
              <a:sym typeface="Arial"/>
            </a:endParaRPr>
          </a:p>
          <a:p>
            <a:pPr indent="0" lvl="0" marL="0" rtl="0" algn="l">
              <a:lnSpc>
                <a:spcPct val="150000"/>
              </a:lnSpc>
              <a:spcBef>
                <a:spcPts val="1200"/>
              </a:spcBef>
              <a:spcAft>
                <a:spcPts val="0"/>
              </a:spcAft>
              <a:buSzPts val="1800"/>
              <a:buNone/>
            </a:pPr>
            <a:r>
              <a:t/>
            </a:r>
            <a:endParaRPr sz="1600">
              <a:solidFill>
                <a:schemeClr val="lt1"/>
              </a:solidFill>
            </a:endParaRPr>
          </a:p>
        </p:txBody>
      </p:sp>
      <p:pic>
        <p:nvPicPr>
          <p:cNvPr id="1158" name="Google Shape;1158;p122"/>
          <p:cNvPicPr preferRelativeResize="0"/>
          <p:nvPr/>
        </p:nvPicPr>
        <p:blipFill rotWithShape="1">
          <a:blip r:embed="rId3">
            <a:alphaModFix/>
          </a:blip>
          <a:srcRect b="0" l="0" r="0" t="0"/>
          <a:stretch/>
        </p:blipFill>
        <p:spPr>
          <a:xfrm>
            <a:off x="1981475" y="3532050"/>
            <a:ext cx="4887349" cy="6168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sz="2700"/>
              <a:t>ML Relevance of</a:t>
            </a:r>
            <a:r>
              <a:rPr lang="en" sz="2700"/>
              <a:t> Frequentist &amp; Empirical Probability </a:t>
            </a:r>
            <a:endParaRPr sz="2700"/>
          </a:p>
        </p:txBody>
      </p:sp>
      <p:sp>
        <p:nvSpPr>
          <p:cNvPr id="1164" name="Google Shape;1164;p12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1165" name="Google Shape;1165;p123"/>
          <p:cNvGraphicFramePr/>
          <p:nvPr/>
        </p:nvGraphicFramePr>
        <p:xfrm>
          <a:off x="381950" y="1181775"/>
          <a:ext cx="3000000" cy="3000000"/>
        </p:xfrm>
        <a:graphic>
          <a:graphicData uri="http://schemas.openxmlformats.org/drawingml/2006/table">
            <a:tbl>
              <a:tblPr>
                <a:noFill/>
                <a:tableStyleId>{14F4EA06-1824-41B6-AE11-69791544A977}</a:tableStyleId>
              </a:tblPr>
              <a:tblGrid>
                <a:gridCol w="1533050"/>
                <a:gridCol w="3363925"/>
                <a:gridCol w="3406500"/>
              </a:tblGrid>
              <a:tr h="408400">
                <a:tc>
                  <a:txBody>
                    <a:bodyPr/>
                    <a:lstStyle/>
                    <a:p>
                      <a:pPr indent="0" lvl="0" marL="0" rtl="0" algn="ctr">
                        <a:spcBef>
                          <a:spcPts val="0"/>
                        </a:spcBef>
                        <a:spcAft>
                          <a:spcPts val="0"/>
                        </a:spcAft>
                        <a:buNone/>
                      </a:pPr>
                      <a:r>
                        <a:rPr b="1" lang="en">
                          <a:solidFill>
                            <a:schemeClr val="lt1"/>
                          </a:solidFill>
                          <a:latin typeface="Fira Sans"/>
                          <a:ea typeface="Fira Sans"/>
                          <a:cs typeface="Fira Sans"/>
                          <a:sym typeface="Fira Sans"/>
                        </a:rPr>
                        <a:t>ASPECT</a:t>
                      </a:r>
                      <a:endParaRPr b="1">
                        <a:solidFill>
                          <a:schemeClr val="lt1"/>
                        </a:solidFill>
                        <a:latin typeface="Fira Sans"/>
                        <a:ea typeface="Fira Sans"/>
                        <a:cs typeface="Fira Sans"/>
                        <a:sym typeface="Fira Sans"/>
                      </a:endParaRPr>
                    </a:p>
                  </a:txBody>
                  <a:tcPr marT="91425" marB="91425" marR="91425" marL="91425">
                    <a:solidFill>
                      <a:srgbClr val="FFAB40"/>
                    </a:solidFill>
                  </a:tcPr>
                </a:tc>
                <a:tc>
                  <a:txBody>
                    <a:bodyPr/>
                    <a:lstStyle/>
                    <a:p>
                      <a:pPr indent="0" lvl="0" marL="0" rtl="0" algn="ctr">
                        <a:spcBef>
                          <a:spcPts val="0"/>
                        </a:spcBef>
                        <a:spcAft>
                          <a:spcPts val="0"/>
                        </a:spcAft>
                        <a:buNone/>
                      </a:pPr>
                      <a:r>
                        <a:rPr b="1" lang="en">
                          <a:solidFill>
                            <a:schemeClr val="lt1"/>
                          </a:solidFill>
                          <a:latin typeface="Fira Sans"/>
                          <a:ea typeface="Fira Sans"/>
                          <a:cs typeface="Fira Sans"/>
                          <a:sym typeface="Fira Sans"/>
                        </a:rPr>
                        <a:t>FREQUENTIST PROBABILITY</a:t>
                      </a:r>
                      <a:endParaRPr b="1">
                        <a:solidFill>
                          <a:schemeClr val="lt1"/>
                        </a:solidFill>
                        <a:latin typeface="Fira Sans"/>
                        <a:ea typeface="Fira Sans"/>
                        <a:cs typeface="Fira Sans"/>
                        <a:sym typeface="Fira Sans"/>
                      </a:endParaRPr>
                    </a:p>
                  </a:txBody>
                  <a:tcPr marT="91425" marB="91425" marR="91425" marL="91425">
                    <a:solidFill>
                      <a:srgbClr val="FFAB40"/>
                    </a:solidFill>
                  </a:tcPr>
                </a:tc>
                <a:tc>
                  <a:txBody>
                    <a:bodyPr/>
                    <a:lstStyle/>
                    <a:p>
                      <a:pPr indent="0" lvl="0" marL="0" rtl="0" algn="ctr">
                        <a:spcBef>
                          <a:spcPts val="0"/>
                        </a:spcBef>
                        <a:spcAft>
                          <a:spcPts val="0"/>
                        </a:spcAft>
                        <a:buNone/>
                      </a:pPr>
                      <a:r>
                        <a:rPr b="1" lang="en">
                          <a:solidFill>
                            <a:schemeClr val="lt1"/>
                          </a:solidFill>
                          <a:latin typeface="Fira Sans"/>
                          <a:ea typeface="Fira Sans"/>
                          <a:cs typeface="Fira Sans"/>
                          <a:sym typeface="Fira Sans"/>
                        </a:rPr>
                        <a:t>CLASSICAL PROBABILITY</a:t>
                      </a:r>
                      <a:endParaRPr b="1">
                        <a:solidFill>
                          <a:schemeClr val="lt1"/>
                        </a:solidFill>
                        <a:latin typeface="Fira Sans"/>
                        <a:ea typeface="Fira Sans"/>
                        <a:cs typeface="Fira Sans"/>
                        <a:sym typeface="Fira Sans"/>
                      </a:endParaRPr>
                    </a:p>
                  </a:txBody>
                  <a:tcPr marT="91425" marB="91425" marR="91425" marL="91425">
                    <a:solidFill>
                      <a:srgbClr val="FFAB40"/>
                    </a:solidFill>
                  </a:tcPr>
                </a:tc>
              </a:tr>
              <a:tr h="502650">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Definition</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Probability is defined as the long-run relative frequency of an event occurring in repeated trials.</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Probability is based on the assumption that all outcomes in the sample space are equally likely.</a:t>
                      </a:r>
                      <a:endParaRPr sz="1000">
                        <a:solidFill>
                          <a:schemeClr val="lt1"/>
                        </a:solidFill>
                        <a:latin typeface="Fira Sans"/>
                        <a:ea typeface="Fira Sans"/>
                        <a:cs typeface="Fira Sans"/>
                        <a:sym typeface="Fira Sans"/>
                      </a:endParaRPr>
                    </a:p>
                  </a:txBody>
                  <a:tcPr marT="91425" marB="91425" marR="91425" marL="91425"/>
                </a:tc>
              </a:tr>
              <a:tr h="502650">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Interpretation</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Probability is an empirical measure derived from repeated experiments.</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Probability is derived theoretically based on symmetry and logical reasoning.</a:t>
                      </a:r>
                      <a:endParaRPr sz="1000">
                        <a:solidFill>
                          <a:schemeClr val="lt1"/>
                        </a:solidFill>
                        <a:latin typeface="Fira Sans"/>
                        <a:ea typeface="Fira Sans"/>
                        <a:cs typeface="Fira Sans"/>
                        <a:sym typeface="Fira Sans"/>
                      </a:endParaRPr>
                    </a:p>
                  </a:txBody>
                  <a:tcPr marT="91425" marB="91425" marR="91425" marL="91425"/>
                </a:tc>
              </a:tr>
              <a:tr h="502650">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Assumption</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Assumes an infinite number of trials for probabilities to converge.</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Assumes all possible outcomes have the same likelihood.</a:t>
                      </a:r>
                      <a:endParaRPr sz="1000">
                        <a:solidFill>
                          <a:schemeClr val="lt1"/>
                        </a:solidFill>
                        <a:latin typeface="Fira Sans"/>
                        <a:ea typeface="Fira Sans"/>
                        <a:cs typeface="Fira Sans"/>
                        <a:sym typeface="Fira Sans"/>
                      </a:endParaRPr>
                    </a:p>
                  </a:txBody>
                  <a:tcPr marT="91425" marB="91425" marR="91425" marL="91425"/>
                </a:tc>
              </a:tr>
              <a:tr h="502650">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Calculation</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Estimated from observed frequencies over repeated trials.</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Computed using the formula: P(A) = (Favorable outcomes) / (Total outcomes)</a:t>
                      </a:r>
                      <a:endParaRPr sz="1000">
                        <a:solidFill>
                          <a:schemeClr val="lt1"/>
                        </a:solidFill>
                        <a:latin typeface="Fira Sans"/>
                        <a:ea typeface="Fira Sans"/>
                        <a:cs typeface="Fira Sans"/>
                        <a:sym typeface="Fira Sans"/>
                      </a:endParaRPr>
                    </a:p>
                  </a:txBody>
                  <a:tcPr marT="91425" marB="91425" marR="91425" marL="91425"/>
                </a:tc>
              </a:tr>
              <a:tr h="659725">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Example</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If a coin is flipped 1,000 times and lands on heads 520 times, the probability of heads is estimated as 520/1000 = 0.52.</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The probability of getting heads in a fair coin toss is 1/2 since both outcomes are equally likely.</a:t>
                      </a:r>
                      <a:endParaRPr sz="1000">
                        <a:solidFill>
                          <a:schemeClr val="lt1"/>
                        </a:solidFill>
                        <a:latin typeface="Fira Sans"/>
                        <a:ea typeface="Fira Sans"/>
                        <a:cs typeface="Fira Sans"/>
                        <a:sym typeface="Fira Sans"/>
                      </a:endParaRPr>
                    </a:p>
                  </a:txBody>
                  <a:tcPr marT="91425" marB="91425" marR="91425" marL="91425"/>
                </a:tc>
              </a:tr>
              <a:tr h="628300">
                <a:tc>
                  <a:txBody>
                    <a:bodyPr/>
                    <a:lstStyle/>
                    <a:p>
                      <a:pPr indent="0" lvl="0" marL="0" rtl="0" algn="l">
                        <a:spcBef>
                          <a:spcPts val="0"/>
                        </a:spcBef>
                        <a:spcAft>
                          <a:spcPts val="0"/>
                        </a:spcAft>
                        <a:buNone/>
                      </a:pPr>
                      <a:r>
                        <a:rPr lang="en">
                          <a:solidFill>
                            <a:schemeClr val="lt1"/>
                          </a:solidFill>
                          <a:latin typeface="Fira Sans"/>
                          <a:ea typeface="Fira Sans"/>
                          <a:cs typeface="Fira Sans"/>
                          <a:sym typeface="Fira Sans"/>
                        </a:rPr>
                        <a:t>Alignment with Axioms</a:t>
                      </a:r>
                      <a:endParaRPr>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Follows the Axioms of Probability but interprets probability through empirical observations.</a:t>
                      </a:r>
                      <a:endParaRPr sz="1000">
                        <a:solidFill>
                          <a:schemeClr val="lt1"/>
                        </a:solidFill>
                        <a:latin typeface="Fira Sans"/>
                        <a:ea typeface="Fira Sans"/>
                        <a:cs typeface="Fira Sans"/>
                        <a:sym typeface="Fira Sans"/>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Fira Sans"/>
                          <a:ea typeface="Fira Sans"/>
                          <a:cs typeface="Fira Sans"/>
                          <a:sym typeface="Fira Sans"/>
                        </a:rPr>
                        <a:t>Fully adheres to Axiomatic Probability, assuming equal likelihood of all outcomes.</a:t>
                      </a:r>
                      <a:endParaRPr sz="1000">
                        <a:solidFill>
                          <a:schemeClr val="lt1"/>
                        </a:solidFill>
                        <a:latin typeface="Fira Sans"/>
                        <a:ea typeface="Fira Sans"/>
                        <a:cs typeface="Fira Sans"/>
                        <a:sym typeface="Fira Sans"/>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Key </a:t>
            </a:r>
            <a:r>
              <a:rPr lang="en"/>
              <a:t>Takeaways</a:t>
            </a:r>
            <a:r>
              <a:rPr lang="en"/>
              <a:t>!</a:t>
            </a:r>
            <a:endParaRPr/>
          </a:p>
          <a:p>
            <a:pPr indent="0" lvl="0" marL="0" rtl="0" algn="l">
              <a:lnSpc>
                <a:spcPct val="100000"/>
              </a:lnSpc>
              <a:spcBef>
                <a:spcPts val="0"/>
              </a:spcBef>
              <a:spcAft>
                <a:spcPts val="0"/>
              </a:spcAft>
              <a:buSzPts val="3200"/>
              <a:buNone/>
            </a:pPr>
            <a:r>
              <a:t/>
            </a:r>
            <a:endParaRPr/>
          </a:p>
        </p:txBody>
      </p:sp>
      <p:sp>
        <p:nvSpPr>
          <p:cNvPr id="1171" name="Google Shape;1171;p12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72" name="Google Shape;1172;p124"/>
          <p:cNvSpPr txBox="1"/>
          <p:nvPr>
            <p:ph idx="1" type="body"/>
          </p:nvPr>
        </p:nvSpPr>
        <p:spPr>
          <a:xfrm>
            <a:off x="311700" y="1450525"/>
            <a:ext cx="8226900" cy="2687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1200"/>
              </a:spcBef>
              <a:spcAft>
                <a:spcPts val="0"/>
              </a:spcAft>
              <a:buClr>
                <a:schemeClr val="lt1"/>
              </a:buClr>
              <a:buSzPts val="1600"/>
              <a:buChar char="●"/>
            </a:pPr>
            <a:r>
              <a:rPr lang="en" sz="1600">
                <a:solidFill>
                  <a:schemeClr val="lt1"/>
                </a:solidFill>
              </a:rPr>
              <a:t>Frequentist and Classical Probability are not separate from Axiomatic Probability but are applications of it.</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Frequentist Probability relies on observed data, while Classical Probability assumes equal likelihood.</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Both approaches are valid and used in different contexts in Machine Learning and Data Science.</a:t>
            </a:r>
            <a:endParaRPr sz="1600">
              <a:solidFill>
                <a:schemeClr val="lt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25"/>
          <p:cNvSpPr txBox="1"/>
          <p:nvPr>
            <p:ph type="title"/>
          </p:nvPr>
        </p:nvSpPr>
        <p:spPr>
          <a:xfrm>
            <a:off x="548375" y="1595150"/>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b="1" lang="en" sz="5000">
                <a:solidFill>
                  <a:srgbClr val="3896D2"/>
                </a:solidFill>
                <a:latin typeface="Fira Sans"/>
                <a:ea typeface="Fira Sans"/>
                <a:cs typeface="Fira Sans"/>
                <a:sym typeface="Fira Sans"/>
              </a:rPr>
              <a:t>Factorials</a:t>
            </a:r>
            <a:endParaRPr b="1" sz="5000">
              <a:solidFill>
                <a:srgbClr val="3896D2"/>
              </a:solidFill>
              <a:latin typeface="Fira Sans"/>
              <a:ea typeface="Fira Sans"/>
              <a:cs typeface="Fira Sans"/>
              <a:sym typeface="Fira Sans"/>
            </a:endParaRPr>
          </a:p>
        </p:txBody>
      </p:sp>
      <p:sp>
        <p:nvSpPr>
          <p:cNvPr id="1178" name="Google Shape;1178;p12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descr="Exclamation mark with solid fill" id="1179" name="Google Shape;1179;p125"/>
          <p:cNvPicPr preferRelativeResize="0"/>
          <p:nvPr/>
        </p:nvPicPr>
        <p:blipFill rotWithShape="1">
          <a:blip r:embed="rId3">
            <a:alphaModFix/>
          </a:blip>
          <a:srcRect b="0" l="0" r="0" t="0"/>
          <a:stretch/>
        </p:blipFill>
        <p:spPr>
          <a:xfrm>
            <a:off x="4017264" y="2919730"/>
            <a:ext cx="914400" cy="914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Factorials</a:t>
            </a:r>
            <a:endParaRPr>
              <a:solidFill>
                <a:srgbClr val="3896D2"/>
              </a:solidFill>
              <a:latin typeface="Fira Sans"/>
              <a:ea typeface="Fira Sans"/>
              <a:cs typeface="Fira Sans"/>
              <a:sym typeface="Fira Sans"/>
            </a:endParaRPr>
          </a:p>
        </p:txBody>
      </p:sp>
      <p:sp>
        <p:nvSpPr>
          <p:cNvPr id="1185" name="Google Shape;1185;p1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A factorial is a mathematical operation denoted by an exclamation point "!" and is used to calculate the product of all positive integers up to a given number. The factorial of a number n is written as n!</a:t>
            </a:r>
            <a:endParaRPr sz="1600">
              <a:solidFill>
                <a:schemeClr val="lt1"/>
              </a:solidFill>
            </a:endParaRPr>
          </a:p>
          <a:p>
            <a:pPr indent="457200" lvl="0" marL="1371600" rtl="0" algn="l">
              <a:lnSpc>
                <a:spcPct val="115000"/>
              </a:lnSpc>
              <a:spcBef>
                <a:spcPts val="1200"/>
              </a:spcBef>
              <a:spcAft>
                <a:spcPts val="0"/>
              </a:spcAft>
              <a:buSzPts val="1800"/>
              <a:buNone/>
            </a:pPr>
            <a:r>
              <a:t/>
            </a:r>
            <a:endParaRPr sz="1400">
              <a:latin typeface="Arial"/>
              <a:ea typeface="Arial"/>
              <a:cs typeface="Arial"/>
              <a:sym typeface="Arial"/>
            </a:endParaRPr>
          </a:p>
          <a:p>
            <a:pPr indent="0" lvl="0" marL="0" rtl="0" algn="l">
              <a:lnSpc>
                <a:spcPct val="150000"/>
              </a:lnSpc>
              <a:spcBef>
                <a:spcPts val="1200"/>
              </a:spcBef>
              <a:spcAft>
                <a:spcPts val="0"/>
              </a:spcAft>
              <a:buSzPts val="1800"/>
              <a:buNone/>
            </a:pPr>
            <a:r>
              <a:t/>
            </a:r>
            <a:endParaRPr sz="1600">
              <a:solidFill>
                <a:schemeClr val="lt1"/>
              </a:solidFill>
            </a:endParaRPr>
          </a:p>
        </p:txBody>
      </p:sp>
      <p:sp>
        <p:nvSpPr>
          <p:cNvPr id="1186" name="Google Shape;1186;p12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Factorials</a:t>
            </a:r>
            <a:endParaRPr>
              <a:solidFill>
                <a:srgbClr val="3896D2"/>
              </a:solidFill>
              <a:latin typeface="Fira Sans"/>
              <a:ea typeface="Fira Sans"/>
              <a:cs typeface="Fira Sans"/>
              <a:sym typeface="Fira Sans"/>
            </a:endParaRPr>
          </a:p>
        </p:txBody>
      </p:sp>
      <p:sp>
        <p:nvSpPr>
          <p:cNvPr id="1192" name="Google Shape;1192;p1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A factorial is a mathematical operation denoted by an exclamation point "!" and is used to calculate the product of all positive integers up to a given number. The factorial of a number n is written as n!</a:t>
            </a:r>
            <a:endParaRPr sz="1600">
              <a:solidFill>
                <a:schemeClr val="lt1"/>
              </a:solidFill>
            </a:endParaRPr>
          </a:p>
          <a:p>
            <a:pPr indent="457200" lvl="0" marL="1371600" rtl="0" algn="l">
              <a:lnSpc>
                <a:spcPct val="115000"/>
              </a:lnSpc>
              <a:spcBef>
                <a:spcPts val="1200"/>
              </a:spcBef>
              <a:spcAft>
                <a:spcPts val="0"/>
              </a:spcAft>
              <a:buSzPts val="1800"/>
              <a:buNone/>
            </a:pPr>
            <a:r>
              <a:t/>
            </a:r>
            <a:endParaRPr sz="1400">
              <a:latin typeface="Arial"/>
              <a:ea typeface="Arial"/>
              <a:cs typeface="Arial"/>
              <a:sym typeface="Arial"/>
            </a:endParaRPr>
          </a:p>
          <a:p>
            <a:pPr indent="0" lvl="0" marL="0" rtl="0" algn="l">
              <a:lnSpc>
                <a:spcPct val="150000"/>
              </a:lnSpc>
              <a:spcBef>
                <a:spcPts val="1200"/>
              </a:spcBef>
              <a:spcAft>
                <a:spcPts val="0"/>
              </a:spcAft>
              <a:buSzPts val="1800"/>
              <a:buNone/>
            </a:pPr>
            <a:r>
              <a:t/>
            </a:r>
            <a:endParaRPr sz="1600">
              <a:solidFill>
                <a:schemeClr val="lt1"/>
              </a:solidFill>
            </a:endParaRPr>
          </a:p>
        </p:txBody>
      </p:sp>
      <p:sp>
        <p:nvSpPr>
          <p:cNvPr id="1193" name="Google Shape;1193;p12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194" name="Google Shape;1194;p127"/>
          <p:cNvSpPr txBox="1"/>
          <p:nvPr/>
        </p:nvSpPr>
        <p:spPr>
          <a:xfrm>
            <a:off x="457200" y="2391900"/>
            <a:ext cx="8097600" cy="1769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Applications:</a:t>
            </a:r>
            <a:endParaRPr b="0" i="0" sz="1600" u="none" cap="none" strike="noStrike">
              <a:solidFill>
                <a:schemeClr val="lt1"/>
              </a:solidFill>
              <a:latin typeface="Fira Sans"/>
              <a:ea typeface="Fira Sans"/>
              <a:cs typeface="Fira Sans"/>
              <a:sym typeface="Fira Sans"/>
            </a:endParaRPr>
          </a:p>
          <a:p>
            <a:pPr indent="-330200" lvl="0" marL="457200" marR="0" rtl="0" algn="l">
              <a:lnSpc>
                <a:spcPct val="115000"/>
              </a:lnSpc>
              <a:spcBef>
                <a:spcPts val="1600"/>
              </a:spcBef>
              <a:spcAft>
                <a:spcPts val="0"/>
              </a:spcAft>
              <a:buClr>
                <a:schemeClr val="lt1"/>
              </a:buClr>
              <a:buSzPts val="1600"/>
              <a:buFont typeface="Arial"/>
              <a:buChar char="●"/>
            </a:pPr>
            <a:r>
              <a:rPr b="1" i="0" lang="en" sz="1600" u="none" cap="none" strike="noStrike">
                <a:solidFill>
                  <a:schemeClr val="lt1"/>
                </a:solidFill>
                <a:latin typeface="Fira Sans"/>
                <a:ea typeface="Fira Sans"/>
                <a:cs typeface="Fira Sans"/>
                <a:sym typeface="Fira Sans"/>
              </a:rPr>
              <a:t>Combinatorics</a:t>
            </a:r>
            <a:r>
              <a:rPr b="0" i="0" lang="en" sz="1600" u="none" cap="none" strike="noStrike">
                <a:solidFill>
                  <a:schemeClr val="lt1"/>
                </a:solidFill>
                <a:latin typeface="Fira Sans"/>
                <a:ea typeface="Fira Sans"/>
                <a:cs typeface="Fira Sans"/>
                <a:sym typeface="Fira Sans"/>
              </a:rPr>
              <a:t>: Factorials are used to calculate permutations and combinations, such as the number of ways to arrange ‘n’ objects.</a:t>
            </a:r>
            <a:endParaRPr b="0" i="0" sz="1600" u="none" cap="none" strike="noStrike">
              <a:solidFill>
                <a:schemeClr val="lt1"/>
              </a:solidFill>
              <a:latin typeface="Fira Sans"/>
              <a:ea typeface="Fira Sans"/>
              <a:cs typeface="Fira Sans"/>
              <a:sym typeface="Fira Sans"/>
            </a:endParaRPr>
          </a:p>
          <a:p>
            <a:pPr indent="-330200" lvl="0" marL="457200" marR="0" rtl="0" algn="l">
              <a:lnSpc>
                <a:spcPct val="115000"/>
              </a:lnSpc>
              <a:spcBef>
                <a:spcPts val="0"/>
              </a:spcBef>
              <a:spcAft>
                <a:spcPts val="0"/>
              </a:spcAft>
              <a:buClr>
                <a:schemeClr val="lt1"/>
              </a:buClr>
              <a:buSzPts val="1600"/>
              <a:buFont typeface="Arial"/>
              <a:buChar char="●"/>
            </a:pPr>
            <a:r>
              <a:rPr b="1" i="0" lang="en" sz="1600" u="none" cap="none" strike="noStrike">
                <a:solidFill>
                  <a:schemeClr val="lt1"/>
                </a:solidFill>
                <a:latin typeface="Fira Sans"/>
                <a:ea typeface="Fira Sans"/>
                <a:cs typeface="Fira Sans"/>
                <a:sym typeface="Fira Sans"/>
              </a:rPr>
              <a:t>Probability</a:t>
            </a:r>
            <a:r>
              <a:rPr b="0" i="0" lang="en" sz="1600" u="none" cap="none" strike="noStrike">
                <a:solidFill>
                  <a:schemeClr val="lt1"/>
                </a:solidFill>
                <a:latin typeface="Fira Sans"/>
                <a:ea typeface="Fira Sans"/>
                <a:cs typeface="Fira Sans"/>
                <a:sym typeface="Fira Sans"/>
              </a:rPr>
              <a:t>: Factorials appear in formulas for various probability distributions, such as the binomial distribution.</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Factorials</a:t>
            </a:r>
            <a:endParaRPr>
              <a:solidFill>
                <a:srgbClr val="3896D2"/>
              </a:solidFill>
              <a:latin typeface="Fira Sans"/>
              <a:ea typeface="Fira Sans"/>
              <a:cs typeface="Fira Sans"/>
              <a:sym typeface="Fira Sans"/>
            </a:endParaRPr>
          </a:p>
        </p:txBody>
      </p:sp>
      <p:sp>
        <p:nvSpPr>
          <p:cNvPr id="1200" name="Google Shape;1200;p1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A factorial is a mathematical operation denoted by an exclamation point "!" and is used to calculate the product of all positive integers up to a given number. The factorial of a number n is written as n!</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Definition: For a non-negative integer n:</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457200" rtl="0" algn="l">
              <a:lnSpc>
                <a:spcPct val="115000"/>
              </a:lnSpc>
              <a:spcBef>
                <a:spcPts val="1200"/>
              </a:spcBef>
              <a:spcAft>
                <a:spcPts val="0"/>
              </a:spcAft>
              <a:buSzPts val="1800"/>
              <a:buNone/>
            </a:pPr>
            <a:r>
              <a:t/>
            </a:r>
            <a:endParaRPr sz="1600">
              <a:solidFill>
                <a:schemeClr val="lt1"/>
              </a:solidFill>
            </a:endParaRPr>
          </a:p>
          <a:p>
            <a:pPr indent="0" lvl="0" marL="457200" rtl="0" algn="l">
              <a:lnSpc>
                <a:spcPct val="115000"/>
              </a:lnSpc>
              <a:spcBef>
                <a:spcPts val="0"/>
              </a:spcBef>
              <a:spcAft>
                <a:spcPts val="0"/>
              </a:spcAft>
              <a:buSzPts val="1800"/>
              <a:buNone/>
            </a:pPr>
            <a:r>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For example:</a:t>
            </a:r>
            <a:endParaRPr sz="1600">
              <a:solidFill>
                <a:schemeClr val="lt1"/>
              </a:solidFill>
            </a:endParaRPr>
          </a:p>
          <a:p>
            <a:pPr indent="457200" lvl="0" marL="1371600" rtl="0" algn="l">
              <a:lnSpc>
                <a:spcPct val="115000"/>
              </a:lnSpc>
              <a:spcBef>
                <a:spcPts val="1200"/>
              </a:spcBef>
              <a:spcAft>
                <a:spcPts val="0"/>
              </a:spcAft>
              <a:buSzPts val="1800"/>
              <a:buNone/>
            </a:pPr>
            <a:r>
              <a:rPr lang="en" sz="1900">
                <a:solidFill>
                  <a:schemeClr val="lt1"/>
                </a:solidFill>
              </a:rPr>
              <a:t>5!= 5 × 4 × 3 × 2 × 1= 120</a:t>
            </a:r>
            <a:endParaRPr sz="1900">
              <a:solidFill>
                <a:schemeClr val="lt1"/>
              </a:solidFill>
            </a:endParaRPr>
          </a:p>
          <a:p>
            <a:pPr indent="457200" lvl="0" marL="1371600" rtl="0" algn="l">
              <a:lnSpc>
                <a:spcPct val="115000"/>
              </a:lnSpc>
              <a:spcBef>
                <a:spcPts val="1200"/>
              </a:spcBef>
              <a:spcAft>
                <a:spcPts val="0"/>
              </a:spcAft>
              <a:buSzPts val="1800"/>
              <a:buNone/>
            </a:pPr>
            <a:r>
              <a:rPr lang="en" sz="1900">
                <a:solidFill>
                  <a:schemeClr val="lt1"/>
                </a:solidFill>
              </a:rPr>
              <a:t>3! = 3 × 2 × 1 = 6</a:t>
            </a:r>
            <a:endParaRPr sz="1400">
              <a:latin typeface="Arial"/>
              <a:ea typeface="Arial"/>
              <a:cs typeface="Arial"/>
              <a:sym typeface="Arial"/>
            </a:endParaRPr>
          </a:p>
          <a:p>
            <a:pPr indent="0" lvl="0" marL="0" rtl="0" algn="l">
              <a:lnSpc>
                <a:spcPct val="150000"/>
              </a:lnSpc>
              <a:spcBef>
                <a:spcPts val="1200"/>
              </a:spcBef>
              <a:spcAft>
                <a:spcPts val="0"/>
              </a:spcAft>
              <a:buSzPts val="1800"/>
              <a:buNone/>
            </a:pPr>
            <a:r>
              <a:t/>
            </a:r>
            <a:endParaRPr sz="1600">
              <a:solidFill>
                <a:schemeClr val="lt1"/>
              </a:solidFill>
            </a:endParaRPr>
          </a:p>
        </p:txBody>
      </p:sp>
      <p:sp>
        <p:nvSpPr>
          <p:cNvPr id="1201" name="Google Shape;1201;p12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1202" name="Google Shape;1202;p128"/>
          <p:cNvPicPr preferRelativeResize="0"/>
          <p:nvPr/>
        </p:nvPicPr>
        <p:blipFill rotWithShape="1">
          <a:blip r:embed="rId3">
            <a:alphaModFix/>
          </a:blip>
          <a:srcRect b="0" l="0" r="0" t="0"/>
          <a:stretch/>
        </p:blipFill>
        <p:spPr>
          <a:xfrm>
            <a:off x="2349825" y="2770829"/>
            <a:ext cx="4733996" cy="393600"/>
          </a:xfrm>
          <a:prstGeom prst="rect">
            <a:avLst/>
          </a:prstGeom>
          <a:noFill/>
          <a:ln>
            <a:noFill/>
          </a:ln>
        </p:spPr>
      </p:pic>
      <p:pic>
        <p:nvPicPr>
          <p:cNvPr id="1203" name="Google Shape;1203;p128"/>
          <p:cNvPicPr preferRelativeResize="0"/>
          <p:nvPr/>
        </p:nvPicPr>
        <p:blipFill rotWithShape="1">
          <a:blip r:embed="rId4">
            <a:alphaModFix/>
          </a:blip>
          <a:srcRect b="0" l="0" r="0" t="0"/>
          <a:stretch/>
        </p:blipFill>
        <p:spPr>
          <a:xfrm>
            <a:off x="3554939" y="3207100"/>
            <a:ext cx="2413385" cy="3936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29"/>
          <p:cNvSpPr txBox="1"/>
          <p:nvPr>
            <p:ph type="title"/>
          </p:nvPr>
        </p:nvSpPr>
        <p:spPr>
          <a:xfrm>
            <a:off x="645900" y="1523400"/>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b="1" lang="en" sz="5000">
                <a:solidFill>
                  <a:srgbClr val="3896D2"/>
                </a:solidFill>
                <a:latin typeface="Fira Sans"/>
                <a:ea typeface="Fira Sans"/>
                <a:cs typeface="Fira Sans"/>
                <a:sym typeface="Fira Sans"/>
              </a:rPr>
              <a:t>Counting</a:t>
            </a:r>
            <a:endParaRPr b="1" sz="5000">
              <a:solidFill>
                <a:srgbClr val="3896D2"/>
              </a:solidFill>
              <a:latin typeface="Fira Sans"/>
              <a:ea typeface="Fira Sans"/>
              <a:cs typeface="Fira Sans"/>
              <a:sym typeface="Fira Sans"/>
            </a:endParaRPr>
          </a:p>
        </p:txBody>
      </p:sp>
      <p:sp>
        <p:nvSpPr>
          <p:cNvPr id="1209" name="Google Shape;1209;p12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descr="Tally outline" id="1210" name="Google Shape;1210;p129"/>
          <p:cNvPicPr preferRelativeResize="0"/>
          <p:nvPr/>
        </p:nvPicPr>
        <p:blipFill rotWithShape="1">
          <a:blip r:embed="rId3">
            <a:alphaModFix/>
          </a:blip>
          <a:srcRect b="0" l="0" r="0" t="0"/>
          <a:stretch/>
        </p:blipFill>
        <p:spPr>
          <a:xfrm>
            <a:off x="3874188" y="2731306"/>
            <a:ext cx="1395625" cy="13956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Lineup</a:t>
            </a:r>
            <a:endParaRPr>
              <a:solidFill>
                <a:srgbClr val="3896D2"/>
              </a:solidFill>
              <a:latin typeface="Fira Sans"/>
              <a:ea typeface="Fira Sans"/>
              <a:cs typeface="Fira Sans"/>
              <a:sym typeface="Fira Sans"/>
            </a:endParaRPr>
          </a:p>
        </p:txBody>
      </p:sp>
      <p:sp>
        <p:nvSpPr>
          <p:cNvPr id="1216" name="Google Shape;1216;p1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Concept of Counting, Permutation, Combinations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Inclusion-Exclusion for combining events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A classic example to challenge our intuition</a:t>
            </a:r>
            <a:endParaRPr sz="1600">
              <a:solidFill>
                <a:schemeClr val="lt1"/>
              </a:solidFill>
              <a:latin typeface="Fira Sans"/>
              <a:ea typeface="Fira Sans"/>
              <a:cs typeface="Fira Sans"/>
              <a:sym typeface="Fira Sans"/>
            </a:endParaRPr>
          </a:p>
        </p:txBody>
      </p:sp>
      <p:sp>
        <p:nvSpPr>
          <p:cNvPr id="1217" name="Google Shape;1217;p13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“...Let me count the ways.”</a:t>
            </a:r>
            <a:endParaRPr/>
          </a:p>
        </p:txBody>
      </p:sp>
      <p:sp>
        <p:nvSpPr>
          <p:cNvPr id="1223" name="Google Shape;1223;p1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Very often, we need to determine the size of the sample space and a given event in order to calculate the probability.</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We will discuss the most common and useful techniques for counting with examples.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This will come up again next week when you discuss random variables.</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Counting is actually pretty fun!</a:t>
            </a:r>
            <a:endParaRPr sz="1600">
              <a:solidFill>
                <a:schemeClr val="lt1"/>
              </a:solidFill>
            </a:endParaRPr>
          </a:p>
        </p:txBody>
      </p:sp>
      <p:sp>
        <p:nvSpPr>
          <p:cNvPr id="1224" name="Google Shape;1224;p13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Counting Principles in Probability</a:t>
            </a:r>
            <a:endParaRPr/>
          </a:p>
        </p:txBody>
      </p:sp>
      <p:sp>
        <p:nvSpPr>
          <p:cNvPr id="1230" name="Google Shape;1230;p1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lt1"/>
              </a:buClr>
              <a:buSzPts val="1600"/>
              <a:buChar char="●"/>
            </a:pPr>
            <a:r>
              <a:rPr lang="en" sz="1600">
                <a:solidFill>
                  <a:schemeClr val="lt1"/>
                </a:solidFill>
              </a:rPr>
              <a:t>Counting principles are fundamental in probability theory, providing methods to determine the number of possible outcomes in various scenarios.</a:t>
            </a:r>
            <a:endParaRPr sz="1600">
              <a:solidFill>
                <a:schemeClr val="lt1"/>
              </a:solidFill>
            </a:endParaRPr>
          </a:p>
          <a:p>
            <a:pPr indent="-330200" lvl="1" marL="914400" rtl="0" algn="l">
              <a:lnSpc>
                <a:spcPct val="150000"/>
              </a:lnSpc>
              <a:spcBef>
                <a:spcPts val="0"/>
              </a:spcBef>
              <a:spcAft>
                <a:spcPts val="0"/>
              </a:spcAft>
              <a:buClr>
                <a:schemeClr val="lt1"/>
              </a:buClr>
              <a:buSzPts val="1600"/>
              <a:buAutoNum type="alphaLcPeriod"/>
            </a:pPr>
            <a:r>
              <a:rPr lang="en" sz="1600">
                <a:solidFill>
                  <a:schemeClr val="lt1"/>
                </a:solidFill>
              </a:rPr>
              <a:t>Multiplication Rule</a:t>
            </a:r>
            <a:endParaRPr sz="1600">
              <a:solidFill>
                <a:schemeClr val="lt1"/>
              </a:solidFill>
            </a:endParaRPr>
          </a:p>
          <a:p>
            <a:pPr indent="-330200" lvl="1" marL="914400" rtl="0" algn="l">
              <a:lnSpc>
                <a:spcPct val="150000"/>
              </a:lnSpc>
              <a:spcBef>
                <a:spcPts val="0"/>
              </a:spcBef>
              <a:spcAft>
                <a:spcPts val="0"/>
              </a:spcAft>
              <a:buClr>
                <a:schemeClr val="lt1"/>
              </a:buClr>
              <a:buSzPts val="1600"/>
              <a:buAutoNum type="alphaLcPeriod"/>
            </a:pPr>
            <a:r>
              <a:rPr lang="en" sz="1600">
                <a:solidFill>
                  <a:schemeClr val="lt1"/>
                </a:solidFill>
              </a:rPr>
              <a:t>Permutations</a:t>
            </a:r>
            <a:endParaRPr sz="1600">
              <a:solidFill>
                <a:schemeClr val="lt1"/>
              </a:solidFill>
            </a:endParaRPr>
          </a:p>
          <a:p>
            <a:pPr indent="-330200" lvl="1" marL="914400" rtl="0" algn="l">
              <a:lnSpc>
                <a:spcPct val="150000"/>
              </a:lnSpc>
              <a:spcBef>
                <a:spcPts val="0"/>
              </a:spcBef>
              <a:spcAft>
                <a:spcPts val="0"/>
              </a:spcAft>
              <a:buClr>
                <a:schemeClr val="lt1"/>
              </a:buClr>
              <a:buSzPts val="1600"/>
              <a:buAutoNum type="alphaLcPeriod"/>
            </a:pPr>
            <a:r>
              <a:rPr lang="en" sz="1600">
                <a:solidFill>
                  <a:schemeClr val="lt1"/>
                </a:solidFill>
              </a:rPr>
              <a:t>Combinations</a:t>
            </a:r>
            <a:endParaRPr sz="1600">
              <a:solidFill>
                <a:schemeClr val="lt1"/>
              </a:solidFill>
            </a:endParaRPr>
          </a:p>
        </p:txBody>
      </p:sp>
      <p:sp>
        <p:nvSpPr>
          <p:cNvPr id="1231" name="Google Shape;1231;p13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237" name="Google Shape;1237;p1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The multiplication rule is used to determine the total number of outcomes for a sequence of events.</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n">
                <a:solidFill>
                  <a:schemeClr val="lt1"/>
                </a:solidFill>
              </a:rPr>
              <a:t>Scenario: Anna wants to plan her movie-watching schedule for one night, choosing a genre for the night (drama, comedy, action, documentary).</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n">
                <a:solidFill>
                  <a:schemeClr val="lt1"/>
                </a:solidFill>
              </a:rPr>
              <a:t>Question: What are the total number outcomes in this scenario?</a:t>
            </a:r>
            <a:endParaRPr>
              <a:solidFill>
                <a:schemeClr val="lt1"/>
              </a:solidFill>
            </a:endParaRPr>
          </a:p>
        </p:txBody>
      </p:sp>
      <p:sp>
        <p:nvSpPr>
          <p:cNvPr id="1238" name="Google Shape;1238;p13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244" name="Google Shape;1244;p1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t/>
            </a:r>
            <a:endParaRPr>
              <a:solidFill>
                <a:schemeClr val="lt1"/>
              </a:solidFill>
            </a:endParaRPr>
          </a:p>
        </p:txBody>
      </p:sp>
      <p:sp>
        <p:nvSpPr>
          <p:cNvPr id="1245" name="Google Shape;1245;p13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246" name="Google Shape;1246;p134"/>
          <p:cNvGrpSpPr/>
          <p:nvPr/>
        </p:nvGrpSpPr>
        <p:grpSpPr>
          <a:xfrm>
            <a:off x="311700" y="3187600"/>
            <a:ext cx="8690700" cy="813600"/>
            <a:chOff x="311700" y="3187600"/>
            <a:chExt cx="8690700" cy="813600"/>
          </a:xfrm>
        </p:grpSpPr>
        <p:sp>
          <p:nvSpPr>
            <p:cNvPr id="1247" name="Google Shape;1247;p134"/>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48" name="Google Shape;1248;p134"/>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49" name="Google Shape;1249;p134"/>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50" name="Google Shape;1250;p134"/>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51" name="Google Shape;1251;p134"/>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252" name="Google Shape;1252;p134"/>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253" name="Google Shape;1253;p134"/>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254" name="Google Shape;1254;p134"/>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260" name="Google Shape;1260;p1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t/>
            </a:r>
            <a:endParaRPr>
              <a:solidFill>
                <a:schemeClr val="lt1"/>
              </a:solidFill>
            </a:endParaRPr>
          </a:p>
        </p:txBody>
      </p:sp>
      <p:sp>
        <p:nvSpPr>
          <p:cNvPr id="1261" name="Google Shape;1261;p13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262" name="Google Shape;1262;p135"/>
          <p:cNvGrpSpPr/>
          <p:nvPr/>
        </p:nvGrpSpPr>
        <p:grpSpPr>
          <a:xfrm>
            <a:off x="311700" y="3187600"/>
            <a:ext cx="8690700" cy="813600"/>
            <a:chOff x="311700" y="3187600"/>
            <a:chExt cx="8690700" cy="813600"/>
          </a:xfrm>
        </p:grpSpPr>
        <p:sp>
          <p:nvSpPr>
            <p:cNvPr id="1263" name="Google Shape;1263;p135"/>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64" name="Google Shape;1264;p135"/>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65" name="Google Shape;1265;p135"/>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66" name="Google Shape;1266;p135"/>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67" name="Google Shape;1267;p135"/>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268" name="Google Shape;1268;p135"/>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269" name="Google Shape;1269;p135"/>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270" name="Google Shape;1270;p135"/>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271" name="Google Shape;1271;p135"/>
          <p:cNvGrpSpPr/>
          <p:nvPr/>
        </p:nvGrpSpPr>
        <p:grpSpPr>
          <a:xfrm>
            <a:off x="1735500" y="3187600"/>
            <a:ext cx="397200" cy="461700"/>
            <a:chOff x="1687075" y="3565425"/>
            <a:chExt cx="397200" cy="461700"/>
          </a:xfrm>
        </p:grpSpPr>
        <p:sp>
          <p:nvSpPr>
            <p:cNvPr id="1272" name="Google Shape;1272;p13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73" name="Google Shape;1273;p13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279" name="Google Shape;1279;p1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t/>
            </a:r>
            <a:endParaRPr>
              <a:solidFill>
                <a:schemeClr val="lt1"/>
              </a:solidFill>
            </a:endParaRPr>
          </a:p>
        </p:txBody>
      </p:sp>
      <p:sp>
        <p:nvSpPr>
          <p:cNvPr id="1280" name="Google Shape;1280;p13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281" name="Google Shape;1281;p136"/>
          <p:cNvGrpSpPr/>
          <p:nvPr/>
        </p:nvGrpSpPr>
        <p:grpSpPr>
          <a:xfrm>
            <a:off x="311700" y="3187600"/>
            <a:ext cx="8690700" cy="813600"/>
            <a:chOff x="311700" y="3187600"/>
            <a:chExt cx="8690700" cy="813600"/>
          </a:xfrm>
        </p:grpSpPr>
        <p:sp>
          <p:nvSpPr>
            <p:cNvPr id="1282" name="Google Shape;1282;p136"/>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83" name="Google Shape;1283;p136"/>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84" name="Google Shape;1284;p136"/>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85" name="Google Shape;1285;p136"/>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86" name="Google Shape;1286;p136"/>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287" name="Google Shape;1287;p136"/>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288" name="Google Shape;1288;p136"/>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289" name="Google Shape;1289;p136"/>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290" name="Google Shape;1290;p136"/>
          <p:cNvGrpSpPr/>
          <p:nvPr/>
        </p:nvGrpSpPr>
        <p:grpSpPr>
          <a:xfrm>
            <a:off x="4069925" y="3187600"/>
            <a:ext cx="397200" cy="461700"/>
            <a:chOff x="1687075" y="3565425"/>
            <a:chExt cx="397200" cy="461700"/>
          </a:xfrm>
        </p:grpSpPr>
        <p:sp>
          <p:nvSpPr>
            <p:cNvPr id="1291" name="Google Shape;1291;p13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292" name="Google Shape;1292;p13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298" name="Google Shape;1298;p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t/>
            </a:r>
            <a:endParaRPr>
              <a:solidFill>
                <a:schemeClr val="lt1"/>
              </a:solidFill>
            </a:endParaRPr>
          </a:p>
        </p:txBody>
      </p:sp>
      <p:sp>
        <p:nvSpPr>
          <p:cNvPr id="1299" name="Google Shape;1299;p13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300" name="Google Shape;1300;p137"/>
          <p:cNvGrpSpPr/>
          <p:nvPr/>
        </p:nvGrpSpPr>
        <p:grpSpPr>
          <a:xfrm>
            <a:off x="311700" y="3187600"/>
            <a:ext cx="8690700" cy="813600"/>
            <a:chOff x="311700" y="3187600"/>
            <a:chExt cx="8690700" cy="813600"/>
          </a:xfrm>
        </p:grpSpPr>
        <p:sp>
          <p:nvSpPr>
            <p:cNvPr id="1301" name="Google Shape;1301;p137"/>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02" name="Google Shape;1302;p137"/>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03" name="Google Shape;1303;p137"/>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04" name="Google Shape;1304;p137"/>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05" name="Google Shape;1305;p137"/>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06" name="Google Shape;1306;p137"/>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07" name="Google Shape;1307;p137"/>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308" name="Google Shape;1308;p137"/>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309" name="Google Shape;1309;p137"/>
          <p:cNvGrpSpPr/>
          <p:nvPr/>
        </p:nvGrpSpPr>
        <p:grpSpPr>
          <a:xfrm>
            <a:off x="6210650" y="3187600"/>
            <a:ext cx="397200" cy="461700"/>
            <a:chOff x="1687075" y="3565425"/>
            <a:chExt cx="397200" cy="461700"/>
          </a:xfrm>
        </p:grpSpPr>
        <p:sp>
          <p:nvSpPr>
            <p:cNvPr id="1310" name="Google Shape;1310;p13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11" name="Google Shape;1311;p13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317" name="Google Shape;1317;p1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t/>
            </a:r>
            <a:endParaRPr>
              <a:solidFill>
                <a:schemeClr val="lt1"/>
              </a:solidFill>
            </a:endParaRPr>
          </a:p>
        </p:txBody>
      </p:sp>
      <p:sp>
        <p:nvSpPr>
          <p:cNvPr id="1318" name="Google Shape;1318;p13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319" name="Google Shape;1319;p138"/>
          <p:cNvGrpSpPr/>
          <p:nvPr/>
        </p:nvGrpSpPr>
        <p:grpSpPr>
          <a:xfrm>
            <a:off x="311700" y="3187600"/>
            <a:ext cx="8690700" cy="813600"/>
            <a:chOff x="311700" y="3187600"/>
            <a:chExt cx="8690700" cy="813600"/>
          </a:xfrm>
        </p:grpSpPr>
        <p:sp>
          <p:nvSpPr>
            <p:cNvPr id="1320" name="Google Shape;1320;p138"/>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21" name="Google Shape;1321;p138"/>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22" name="Google Shape;1322;p138"/>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23" name="Google Shape;1323;p138"/>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24" name="Google Shape;1324;p138"/>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25" name="Google Shape;1325;p138"/>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26" name="Google Shape;1326;p138"/>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327" name="Google Shape;1327;p138"/>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328" name="Google Shape;1328;p138"/>
          <p:cNvGrpSpPr/>
          <p:nvPr/>
        </p:nvGrpSpPr>
        <p:grpSpPr>
          <a:xfrm>
            <a:off x="8554750" y="3187600"/>
            <a:ext cx="397200" cy="461700"/>
            <a:chOff x="1687075" y="3565425"/>
            <a:chExt cx="397200" cy="461700"/>
          </a:xfrm>
        </p:grpSpPr>
        <p:sp>
          <p:nvSpPr>
            <p:cNvPr id="1329" name="Google Shape;1329;p138"/>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30" name="Google Shape;1330;p138"/>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336" name="Google Shape;1336;p1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a:p>
            <a:pPr indent="0" lvl="0" marL="457200" rtl="0" algn="l">
              <a:lnSpc>
                <a:spcPct val="150000"/>
              </a:lnSpc>
              <a:spcBef>
                <a:spcPts val="0"/>
              </a:spcBef>
              <a:spcAft>
                <a:spcPts val="0"/>
              </a:spcAft>
              <a:buSzPts val="1800"/>
              <a:buNone/>
            </a:pPr>
            <a:r>
              <a:rPr lang="en">
                <a:solidFill>
                  <a:schemeClr val="lt1"/>
                </a:solidFill>
              </a:rPr>
              <a:t>Total number of outcomes = 4 since there are 4 genres</a:t>
            </a:r>
            <a:endParaRPr>
              <a:solidFill>
                <a:schemeClr val="lt1"/>
              </a:solidFill>
            </a:endParaRPr>
          </a:p>
        </p:txBody>
      </p:sp>
      <p:sp>
        <p:nvSpPr>
          <p:cNvPr id="1337" name="Google Shape;1337;p13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338" name="Google Shape;1338;p139"/>
          <p:cNvGrpSpPr/>
          <p:nvPr/>
        </p:nvGrpSpPr>
        <p:grpSpPr>
          <a:xfrm>
            <a:off x="311700" y="3187600"/>
            <a:ext cx="8690700" cy="813600"/>
            <a:chOff x="311700" y="3187600"/>
            <a:chExt cx="8690700" cy="813600"/>
          </a:xfrm>
        </p:grpSpPr>
        <p:sp>
          <p:nvSpPr>
            <p:cNvPr id="1339" name="Google Shape;1339;p139"/>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40" name="Google Shape;1340;p139"/>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41" name="Google Shape;1341;p139"/>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42" name="Google Shape;1342;p139"/>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43" name="Google Shape;1343;p139"/>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44" name="Google Shape;1344;p139"/>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45" name="Google Shape;1345;p139"/>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346" name="Google Shape;1346;p139"/>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347" name="Google Shape;1347;p139"/>
          <p:cNvGrpSpPr/>
          <p:nvPr/>
        </p:nvGrpSpPr>
        <p:grpSpPr>
          <a:xfrm>
            <a:off x="8554750" y="3187600"/>
            <a:ext cx="397200" cy="461700"/>
            <a:chOff x="1687075" y="3565425"/>
            <a:chExt cx="397200" cy="461700"/>
          </a:xfrm>
        </p:grpSpPr>
        <p:sp>
          <p:nvSpPr>
            <p:cNvPr id="1348" name="Google Shape;1348;p13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49" name="Google Shape;1349;p13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355" name="Google Shape;1355;p1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Scenario: Anna wants to plan her movie-watching schedule for </a:t>
            </a:r>
            <a:r>
              <a:rPr b="1" lang="en" u="sng">
                <a:solidFill>
                  <a:schemeClr val="lt1"/>
                </a:solidFill>
              </a:rPr>
              <a:t>two nights</a:t>
            </a:r>
            <a:r>
              <a:rPr lang="en">
                <a:solidFill>
                  <a:schemeClr val="lt1"/>
                </a:solidFill>
              </a:rPr>
              <a:t>, choosing a different genre each night from drama, comedy, action, and documentary</a:t>
            </a:r>
            <a:endParaRPr>
              <a:solidFill>
                <a:schemeClr val="lt1"/>
              </a:solidFill>
            </a:endParaRPr>
          </a:p>
        </p:txBody>
      </p:sp>
      <p:sp>
        <p:nvSpPr>
          <p:cNvPr id="1356" name="Google Shape;1356;p14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362" name="Google Shape;1362;p141"/>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63" name="Google Shape;1363;p1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364" name="Google Shape;1364;p14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365" name="Google Shape;1365;p141"/>
          <p:cNvGrpSpPr/>
          <p:nvPr/>
        </p:nvGrpSpPr>
        <p:grpSpPr>
          <a:xfrm>
            <a:off x="311700" y="2102725"/>
            <a:ext cx="8690700" cy="813600"/>
            <a:chOff x="311700" y="3187600"/>
            <a:chExt cx="8690700" cy="813600"/>
          </a:xfrm>
        </p:grpSpPr>
        <p:sp>
          <p:nvSpPr>
            <p:cNvPr id="1366" name="Google Shape;1366;p141"/>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67" name="Google Shape;1367;p141"/>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68" name="Google Shape;1368;p141"/>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69" name="Google Shape;1369;p141"/>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70" name="Google Shape;1370;p141"/>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71" name="Google Shape;1371;p141"/>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72" name="Google Shape;1372;p141"/>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373" name="Google Shape;1373;p141"/>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374" name="Google Shape;1374;p141"/>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375" name="Google Shape;1375;p141"/>
          <p:cNvGrpSpPr/>
          <p:nvPr/>
        </p:nvGrpSpPr>
        <p:grpSpPr>
          <a:xfrm>
            <a:off x="311700" y="3524025"/>
            <a:ext cx="8690700" cy="813600"/>
            <a:chOff x="311700" y="3187600"/>
            <a:chExt cx="8690700" cy="813600"/>
          </a:xfrm>
        </p:grpSpPr>
        <p:sp>
          <p:nvSpPr>
            <p:cNvPr id="1376" name="Google Shape;1376;p141"/>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77" name="Google Shape;1377;p141"/>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78" name="Google Shape;1378;p141"/>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79" name="Google Shape;1379;p141"/>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80" name="Google Shape;1380;p141"/>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81" name="Google Shape;1381;p141"/>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82" name="Google Shape;1382;p141"/>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383" name="Google Shape;1383;p141"/>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389" name="Google Shape;1389;p142"/>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90" name="Google Shape;1390;p1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391" name="Google Shape;1391;p14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392" name="Google Shape;1392;p142"/>
          <p:cNvGrpSpPr/>
          <p:nvPr/>
        </p:nvGrpSpPr>
        <p:grpSpPr>
          <a:xfrm>
            <a:off x="311700" y="2102725"/>
            <a:ext cx="8690700" cy="813600"/>
            <a:chOff x="311700" y="3187600"/>
            <a:chExt cx="8690700" cy="813600"/>
          </a:xfrm>
        </p:grpSpPr>
        <p:sp>
          <p:nvSpPr>
            <p:cNvPr id="1393" name="Google Shape;1393;p142"/>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94" name="Google Shape;1394;p142"/>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95" name="Google Shape;1395;p142"/>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96" name="Google Shape;1396;p142"/>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397" name="Google Shape;1397;p142"/>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398" name="Google Shape;1398;p142"/>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399" name="Google Shape;1399;p142"/>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400" name="Google Shape;1400;p142"/>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401" name="Google Shape;1401;p142"/>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402" name="Google Shape;1402;p142"/>
          <p:cNvGrpSpPr/>
          <p:nvPr/>
        </p:nvGrpSpPr>
        <p:grpSpPr>
          <a:xfrm>
            <a:off x="311700" y="3524025"/>
            <a:ext cx="8690700" cy="813600"/>
            <a:chOff x="311700" y="3187600"/>
            <a:chExt cx="8690700" cy="813600"/>
          </a:xfrm>
        </p:grpSpPr>
        <p:sp>
          <p:nvSpPr>
            <p:cNvPr id="1403" name="Google Shape;1403;p142"/>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04" name="Google Shape;1404;p142"/>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05" name="Google Shape;1405;p142"/>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06" name="Google Shape;1406;p142"/>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07" name="Google Shape;1407;p142"/>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408" name="Google Shape;1408;p142"/>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409" name="Google Shape;1409;p142"/>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410" name="Google Shape;1410;p142"/>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411" name="Google Shape;1411;p142"/>
          <p:cNvGrpSpPr/>
          <p:nvPr/>
        </p:nvGrpSpPr>
        <p:grpSpPr>
          <a:xfrm>
            <a:off x="1687075" y="3565425"/>
            <a:ext cx="397200" cy="461700"/>
            <a:chOff x="1687075" y="3565425"/>
            <a:chExt cx="397200" cy="461700"/>
          </a:xfrm>
        </p:grpSpPr>
        <p:sp>
          <p:nvSpPr>
            <p:cNvPr id="1412" name="Google Shape;1412;p142"/>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13" name="Google Shape;1413;p142"/>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14" name="Google Shape;1414;p142"/>
          <p:cNvGrpSpPr/>
          <p:nvPr/>
        </p:nvGrpSpPr>
        <p:grpSpPr>
          <a:xfrm>
            <a:off x="4067350" y="3565425"/>
            <a:ext cx="397200" cy="461700"/>
            <a:chOff x="1687075" y="3565425"/>
            <a:chExt cx="397200" cy="461700"/>
          </a:xfrm>
        </p:grpSpPr>
        <p:sp>
          <p:nvSpPr>
            <p:cNvPr id="1415" name="Google Shape;1415;p142"/>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16" name="Google Shape;1416;p142"/>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17" name="Google Shape;1417;p142"/>
          <p:cNvGrpSpPr/>
          <p:nvPr/>
        </p:nvGrpSpPr>
        <p:grpSpPr>
          <a:xfrm>
            <a:off x="6321725" y="3565425"/>
            <a:ext cx="397200" cy="461700"/>
            <a:chOff x="1687075" y="3565425"/>
            <a:chExt cx="397200" cy="461700"/>
          </a:xfrm>
        </p:grpSpPr>
        <p:sp>
          <p:nvSpPr>
            <p:cNvPr id="1418" name="Google Shape;1418;p142"/>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19" name="Google Shape;1419;p142"/>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20" name="Google Shape;1420;p142"/>
          <p:cNvGrpSpPr/>
          <p:nvPr/>
        </p:nvGrpSpPr>
        <p:grpSpPr>
          <a:xfrm>
            <a:off x="8576100" y="3565425"/>
            <a:ext cx="397200" cy="461700"/>
            <a:chOff x="1687075" y="3565425"/>
            <a:chExt cx="397200" cy="461700"/>
          </a:xfrm>
        </p:grpSpPr>
        <p:sp>
          <p:nvSpPr>
            <p:cNvPr id="1421" name="Google Shape;1421;p142"/>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22" name="Google Shape;1422;p142"/>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423" name="Google Shape;1423;p142"/>
          <p:cNvCxnSpPr>
            <a:endCxn id="1413" idx="0"/>
          </p:cNvCxnSpPr>
          <p:nvPr/>
        </p:nvCxnSpPr>
        <p:spPr>
          <a:xfrm>
            <a:off x="1885675"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424" name="Google Shape;1424;p142"/>
          <p:cNvCxnSpPr>
            <a:endCxn id="1419" idx="0"/>
          </p:cNvCxnSpPr>
          <p:nvPr/>
        </p:nvCxnSpPr>
        <p:spPr>
          <a:xfrm>
            <a:off x="1885625"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425" name="Google Shape;1425;p142"/>
          <p:cNvCxnSpPr>
            <a:endCxn id="1416" idx="0"/>
          </p:cNvCxnSpPr>
          <p:nvPr/>
        </p:nvCxnSpPr>
        <p:spPr>
          <a:xfrm>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426" name="Google Shape;1426;p142"/>
          <p:cNvCxnSpPr>
            <a:endCxn id="1422" idx="0"/>
          </p:cNvCxnSpPr>
          <p:nvPr/>
        </p:nvCxnSpPr>
        <p:spPr>
          <a:xfrm>
            <a:off x="1885800" y="2639925"/>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427" name="Google Shape;1427;p142"/>
          <p:cNvGrpSpPr/>
          <p:nvPr/>
        </p:nvGrpSpPr>
        <p:grpSpPr>
          <a:xfrm>
            <a:off x="1687075" y="2178075"/>
            <a:ext cx="397200" cy="461700"/>
            <a:chOff x="1687075" y="3565425"/>
            <a:chExt cx="397200" cy="461700"/>
          </a:xfrm>
        </p:grpSpPr>
        <p:sp>
          <p:nvSpPr>
            <p:cNvPr id="1428" name="Google Shape;1428;p142"/>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29" name="Google Shape;1429;p142"/>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435" name="Google Shape;1435;p143"/>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36" name="Google Shape;1436;p1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437" name="Google Shape;1437;p14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438" name="Google Shape;1438;p143"/>
          <p:cNvGrpSpPr/>
          <p:nvPr/>
        </p:nvGrpSpPr>
        <p:grpSpPr>
          <a:xfrm>
            <a:off x="311700" y="2102725"/>
            <a:ext cx="8690700" cy="813600"/>
            <a:chOff x="311700" y="3187600"/>
            <a:chExt cx="8690700" cy="813600"/>
          </a:xfrm>
        </p:grpSpPr>
        <p:sp>
          <p:nvSpPr>
            <p:cNvPr id="1439" name="Google Shape;1439;p143"/>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40" name="Google Shape;1440;p143"/>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41" name="Google Shape;1441;p143"/>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42" name="Google Shape;1442;p143"/>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43" name="Google Shape;1443;p143"/>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444" name="Google Shape;1444;p143"/>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445" name="Google Shape;1445;p143"/>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446" name="Google Shape;1446;p143"/>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447" name="Google Shape;1447;p143"/>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448" name="Google Shape;1448;p143"/>
          <p:cNvGrpSpPr/>
          <p:nvPr/>
        </p:nvGrpSpPr>
        <p:grpSpPr>
          <a:xfrm>
            <a:off x="311700" y="3524025"/>
            <a:ext cx="8690700" cy="813600"/>
            <a:chOff x="311700" y="3187600"/>
            <a:chExt cx="8690700" cy="813600"/>
          </a:xfrm>
        </p:grpSpPr>
        <p:sp>
          <p:nvSpPr>
            <p:cNvPr id="1449" name="Google Shape;1449;p143"/>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50" name="Google Shape;1450;p143"/>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51" name="Google Shape;1451;p143"/>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52" name="Google Shape;1452;p143"/>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53" name="Google Shape;1453;p143"/>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454" name="Google Shape;1454;p143"/>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455" name="Google Shape;1455;p143"/>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456" name="Google Shape;1456;p143"/>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457" name="Google Shape;1457;p143"/>
          <p:cNvGrpSpPr/>
          <p:nvPr/>
        </p:nvGrpSpPr>
        <p:grpSpPr>
          <a:xfrm>
            <a:off x="1687075" y="3565425"/>
            <a:ext cx="397200" cy="461700"/>
            <a:chOff x="1687075" y="3565425"/>
            <a:chExt cx="397200" cy="461700"/>
          </a:xfrm>
        </p:grpSpPr>
        <p:sp>
          <p:nvSpPr>
            <p:cNvPr id="1458" name="Google Shape;1458;p143"/>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59" name="Google Shape;1459;p143"/>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60" name="Google Shape;1460;p143"/>
          <p:cNvGrpSpPr/>
          <p:nvPr/>
        </p:nvGrpSpPr>
        <p:grpSpPr>
          <a:xfrm>
            <a:off x="4067350" y="3565425"/>
            <a:ext cx="397200" cy="461700"/>
            <a:chOff x="1687075" y="3565425"/>
            <a:chExt cx="397200" cy="461700"/>
          </a:xfrm>
        </p:grpSpPr>
        <p:sp>
          <p:nvSpPr>
            <p:cNvPr id="1461" name="Google Shape;1461;p143"/>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62" name="Google Shape;1462;p143"/>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63" name="Google Shape;1463;p143"/>
          <p:cNvGrpSpPr/>
          <p:nvPr/>
        </p:nvGrpSpPr>
        <p:grpSpPr>
          <a:xfrm>
            <a:off x="6321725" y="3565425"/>
            <a:ext cx="397200" cy="461700"/>
            <a:chOff x="1687075" y="3565425"/>
            <a:chExt cx="397200" cy="461700"/>
          </a:xfrm>
        </p:grpSpPr>
        <p:sp>
          <p:nvSpPr>
            <p:cNvPr id="1464" name="Google Shape;1464;p143"/>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65" name="Google Shape;1465;p143"/>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466" name="Google Shape;1466;p143"/>
          <p:cNvGrpSpPr/>
          <p:nvPr/>
        </p:nvGrpSpPr>
        <p:grpSpPr>
          <a:xfrm>
            <a:off x="8576100" y="3565425"/>
            <a:ext cx="397200" cy="461700"/>
            <a:chOff x="1687075" y="3565425"/>
            <a:chExt cx="397200" cy="461700"/>
          </a:xfrm>
        </p:grpSpPr>
        <p:sp>
          <p:nvSpPr>
            <p:cNvPr id="1467" name="Google Shape;1467;p143"/>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68" name="Google Shape;1468;p143"/>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469" name="Google Shape;1469;p143"/>
          <p:cNvCxnSpPr>
            <a:stCxn id="1470" idx="2"/>
            <a:endCxn id="1459" idx="0"/>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471" name="Google Shape;1471;p143"/>
          <p:cNvCxnSpPr>
            <a:stCxn id="1470" idx="2"/>
            <a:endCxn id="1465" idx="0"/>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472" name="Google Shape;1472;p143"/>
          <p:cNvCxnSpPr>
            <a:stCxn id="1470" idx="2"/>
            <a:endCxn id="1462" idx="0"/>
          </p:cNvCxnSpPr>
          <p:nvPr/>
        </p:nvCxnSpPr>
        <p:spPr>
          <a:xfrm>
            <a:off x="426595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473" name="Google Shape;1473;p143"/>
          <p:cNvCxnSpPr>
            <a:stCxn id="1470" idx="2"/>
            <a:endCxn id="1468" idx="0"/>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474" name="Google Shape;1474;p143"/>
          <p:cNvGrpSpPr/>
          <p:nvPr/>
        </p:nvGrpSpPr>
        <p:grpSpPr>
          <a:xfrm>
            <a:off x="4067350" y="2178225"/>
            <a:ext cx="397200" cy="461700"/>
            <a:chOff x="1687075" y="3565425"/>
            <a:chExt cx="397200" cy="461700"/>
          </a:xfrm>
        </p:grpSpPr>
        <p:sp>
          <p:nvSpPr>
            <p:cNvPr id="1475" name="Google Shape;1475;p143"/>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70" name="Google Shape;1470;p143"/>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481" name="Google Shape;1481;p144"/>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82" name="Google Shape;1482;p1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483" name="Google Shape;1483;p14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484" name="Google Shape;1484;p144"/>
          <p:cNvGrpSpPr/>
          <p:nvPr/>
        </p:nvGrpSpPr>
        <p:grpSpPr>
          <a:xfrm>
            <a:off x="311700" y="2102725"/>
            <a:ext cx="8690700" cy="813600"/>
            <a:chOff x="311700" y="3187600"/>
            <a:chExt cx="8690700" cy="813600"/>
          </a:xfrm>
        </p:grpSpPr>
        <p:sp>
          <p:nvSpPr>
            <p:cNvPr id="1485" name="Google Shape;1485;p144"/>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86" name="Google Shape;1486;p144"/>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87" name="Google Shape;1487;p144"/>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88" name="Google Shape;1488;p144"/>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89" name="Google Shape;1489;p144"/>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490" name="Google Shape;1490;p144"/>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491" name="Google Shape;1491;p144"/>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492" name="Google Shape;1492;p144"/>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493" name="Google Shape;1493;p144"/>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494" name="Google Shape;1494;p144"/>
          <p:cNvGrpSpPr/>
          <p:nvPr/>
        </p:nvGrpSpPr>
        <p:grpSpPr>
          <a:xfrm>
            <a:off x="311700" y="3524025"/>
            <a:ext cx="8690700" cy="813600"/>
            <a:chOff x="311700" y="3187600"/>
            <a:chExt cx="8690700" cy="813600"/>
          </a:xfrm>
        </p:grpSpPr>
        <p:sp>
          <p:nvSpPr>
            <p:cNvPr id="1495" name="Google Shape;1495;p144"/>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96" name="Google Shape;1496;p144"/>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97" name="Google Shape;1497;p144"/>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98" name="Google Shape;1498;p144"/>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499" name="Google Shape;1499;p144"/>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500" name="Google Shape;1500;p144"/>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501" name="Google Shape;1501;p144"/>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502" name="Google Shape;1502;p144"/>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503" name="Google Shape;1503;p144"/>
          <p:cNvGrpSpPr/>
          <p:nvPr/>
        </p:nvGrpSpPr>
        <p:grpSpPr>
          <a:xfrm>
            <a:off x="1687075" y="3565425"/>
            <a:ext cx="397200" cy="461700"/>
            <a:chOff x="1687075" y="3565425"/>
            <a:chExt cx="397200" cy="461700"/>
          </a:xfrm>
        </p:grpSpPr>
        <p:sp>
          <p:nvSpPr>
            <p:cNvPr id="1504" name="Google Shape;1504;p14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05" name="Google Shape;1505;p14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06" name="Google Shape;1506;p144"/>
          <p:cNvGrpSpPr/>
          <p:nvPr/>
        </p:nvGrpSpPr>
        <p:grpSpPr>
          <a:xfrm>
            <a:off x="4067350" y="3565425"/>
            <a:ext cx="397200" cy="461700"/>
            <a:chOff x="1687075" y="3565425"/>
            <a:chExt cx="397200" cy="461700"/>
          </a:xfrm>
        </p:grpSpPr>
        <p:sp>
          <p:nvSpPr>
            <p:cNvPr id="1507" name="Google Shape;1507;p14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08" name="Google Shape;1508;p14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09" name="Google Shape;1509;p144"/>
          <p:cNvGrpSpPr/>
          <p:nvPr/>
        </p:nvGrpSpPr>
        <p:grpSpPr>
          <a:xfrm>
            <a:off x="6321725" y="3565425"/>
            <a:ext cx="397200" cy="461700"/>
            <a:chOff x="1687075" y="3565425"/>
            <a:chExt cx="397200" cy="461700"/>
          </a:xfrm>
        </p:grpSpPr>
        <p:sp>
          <p:nvSpPr>
            <p:cNvPr id="1510" name="Google Shape;1510;p14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11" name="Google Shape;1511;p14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12" name="Google Shape;1512;p144"/>
          <p:cNvGrpSpPr/>
          <p:nvPr/>
        </p:nvGrpSpPr>
        <p:grpSpPr>
          <a:xfrm>
            <a:off x="8576100" y="3565425"/>
            <a:ext cx="397200" cy="461700"/>
            <a:chOff x="1687075" y="3565425"/>
            <a:chExt cx="397200" cy="461700"/>
          </a:xfrm>
        </p:grpSpPr>
        <p:sp>
          <p:nvSpPr>
            <p:cNvPr id="1513" name="Google Shape;1513;p14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14" name="Google Shape;1514;p14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515" name="Google Shape;1515;p144"/>
          <p:cNvCxnSpPr>
            <a:stCxn id="1516" idx="2"/>
            <a:endCxn id="1505" idx="0"/>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517" name="Google Shape;1517;p144"/>
          <p:cNvCxnSpPr>
            <a:stCxn id="1516" idx="2"/>
            <a:endCxn id="1511" idx="0"/>
          </p:cNvCxnSpPr>
          <p:nvPr/>
        </p:nvCxnSpPr>
        <p:spPr>
          <a:xfrm>
            <a:off x="652030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518" name="Google Shape;1518;p144"/>
          <p:cNvCxnSpPr>
            <a:stCxn id="1516" idx="2"/>
            <a:endCxn id="1508" idx="0"/>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519" name="Google Shape;1519;p144"/>
          <p:cNvCxnSpPr>
            <a:stCxn id="1516" idx="2"/>
            <a:endCxn id="1514" idx="0"/>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520" name="Google Shape;1520;p144"/>
          <p:cNvGrpSpPr/>
          <p:nvPr/>
        </p:nvGrpSpPr>
        <p:grpSpPr>
          <a:xfrm>
            <a:off x="6321700" y="2178225"/>
            <a:ext cx="397200" cy="461700"/>
            <a:chOff x="1687075" y="3565425"/>
            <a:chExt cx="397200" cy="461700"/>
          </a:xfrm>
        </p:grpSpPr>
        <p:sp>
          <p:nvSpPr>
            <p:cNvPr id="1521" name="Google Shape;1521;p14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16" name="Google Shape;1516;p14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527" name="Google Shape;1527;p145"/>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28" name="Google Shape;1528;p1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529" name="Google Shape;1529;p14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530" name="Google Shape;1530;p145"/>
          <p:cNvGrpSpPr/>
          <p:nvPr/>
        </p:nvGrpSpPr>
        <p:grpSpPr>
          <a:xfrm>
            <a:off x="311700" y="2102725"/>
            <a:ext cx="8690700" cy="813600"/>
            <a:chOff x="311700" y="3187600"/>
            <a:chExt cx="8690700" cy="813600"/>
          </a:xfrm>
        </p:grpSpPr>
        <p:sp>
          <p:nvSpPr>
            <p:cNvPr id="1531" name="Google Shape;1531;p145"/>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32" name="Google Shape;1532;p145"/>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33" name="Google Shape;1533;p145"/>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34" name="Google Shape;1534;p145"/>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35" name="Google Shape;1535;p145"/>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536" name="Google Shape;1536;p145"/>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537" name="Google Shape;1537;p145"/>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538" name="Google Shape;1538;p145"/>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539" name="Google Shape;1539;p145"/>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540" name="Google Shape;1540;p145"/>
          <p:cNvGrpSpPr/>
          <p:nvPr/>
        </p:nvGrpSpPr>
        <p:grpSpPr>
          <a:xfrm>
            <a:off x="311700" y="3524025"/>
            <a:ext cx="8690700" cy="813600"/>
            <a:chOff x="311700" y="3187600"/>
            <a:chExt cx="8690700" cy="813600"/>
          </a:xfrm>
        </p:grpSpPr>
        <p:sp>
          <p:nvSpPr>
            <p:cNvPr id="1541" name="Google Shape;1541;p145"/>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42" name="Google Shape;1542;p145"/>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43" name="Google Shape;1543;p145"/>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44" name="Google Shape;1544;p145"/>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45" name="Google Shape;1545;p145"/>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546" name="Google Shape;1546;p145"/>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547" name="Google Shape;1547;p145"/>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548" name="Google Shape;1548;p145"/>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549" name="Google Shape;1549;p145"/>
          <p:cNvGrpSpPr/>
          <p:nvPr/>
        </p:nvGrpSpPr>
        <p:grpSpPr>
          <a:xfrm>
            <a:off x="1687075" y="3565425"/>
            <a:ext cx="397200" cy="461700"/>
            <a:chOff x="1687075" y="3565425"/>
            <a:chExt cx="397200" cy="461700"/>
          </a:xfrm>
        </p:grpSpPr>
        <p:sp>
          <p:nvSpPr>
            <p:cNvPr id="1550" name="Google Shape;1550;p14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51" name="Google Shape;1551;p14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52" name="Google Shape;1552;p145"/>
          <p:cNvGrpSpPr/>
          <p:nvPr/>
        </p:nvGrpSpPr>
        <p:grpSpPr>
          <a:xfrm>
            <a:off x="4067350" y="3565425"/>
            <a:ext cx="397200" cy="461700"/>
            <a:chOff x="1687075" y="3565425"/>
            <a:chExt cx="397200" cy="461700"/>
          </a:xfrm>
        </p:grpSpPr>
        <p:sp>
          <p:nvSpPr>
            <p:cNvPr id="1553" name="Google Shape;1553;p14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54" name="Google Shape;1554;p14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55" name="Google Shape;1555;p145"/>
          <p:cNvGrpSpPr/>
          <p:nvPr/>
        </p:nvGrpSpPr>
        <p:grpSpPr>
          <a:xfrm>
            <a:off x="6321725" y="3565425"/>
            <a:ext cx="397200" cy="461700"/>
            <a:chOff x="1687075" y="3565425"/>
            <a:chExt cx="397200" cy="461700"/>
          </a:xfrm>
        </p:grpSpPr>
        <p:sp>
          <p:nvSpPr>
            <p:cNvPr id="1556" name="Google Shape;1556;p14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57" name="Google Shape;1557;p14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58" name="Google Shape;1558;p145"/>
          <p:cNvGrpSpPr/>
          <p:nvPr/>
        </p:nvGrpSpPr>
        <p:grpSpPr>
          <a:xfrm>
            <a:off x="8576100" y="3565425"/>
            <a:ext cx="397200" cy="461700"/>
            <a:chOff x="1687075" y="3565425"/>
            <a:chExt cx="397200" cy="461700"/>
          </a:xfrm>
        </p:grpSpPr>
        <p:sp>
          <p:nvSpPr>
            <p:cNvPr id="1559" name="Google Shape;1559;p14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60" name="Google Shape;1560;p14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561" name="Google Shape;1561;p145"/>
          <p:cNvCxnSpPr>
            <a:stCxn id="1562" idx="2"/>
            <a:endCxn id="1551"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563" name="Google Shape;1563;p145"/>
          <p:cNvCxnSpPr>
            <a:stCxn id="1562" idx="2"/>
            <a:endCxn id="1557"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564" name="Google Shape;1564;p145"/>
          <p:cNvCxnSpPr>
            <a:stCxn id="1562" idx="2"/>
            <a:endCxn id="1554"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cxnSp>
        <p:nvCxnSpPr>
          <p:cNvPr id="1565" name="Google Shape;1565;p145"/>
          <p:cNvCxnSpPr>
            <a:stCxn id="1562" idx="2"/>
            <a:endCxn id="1560" idx="0"/>
          </p:cNvCxnSpPr>
          <p:nvPr/>
        </p:nvCxnSpPr>
        <p:spPr>
          <a:xfrm>
            <a:off x="8774700" y="2564425"/>
            <a:ext cx="0" cy="1001100"/>
          </a:xfrm>
          <a:prstGeom prst="straightConnector1">
            <a:avLst/>
          </a:prstGeom>
          <a:noFill/>
          <a:ln cap="flat" cmpd="sng" w="28575">
            <a:solidFill>
              <a:srgbClr val="FFFFFF"/>
            </a:solidFill>
            <a:prstDash val="solid"/>
            <a:round/>
            <a:headEnd len="sm" w="sm" type="none"/>
            <a:tailEnd len="sm" w="sm" type="none"/>
          </a:ln>
        </p:spPr>
      </p:cxnSp>
      <p:grpSp>
        <p:nvGrpSpPr>
          <p:cNvPr id="1566" name="Google Shape;1566;p145"/>
          <p:cNvGrpSpPr/>
          <p:nvPr/>
        </p:nvGrpSpPr>
        <p:grpSpPr>
          <a:xfrm>
            <a:off x="8576100" y="2102725"/>
            <a:ext cx="397200" cy="461700"/>
            <a:chOff x="1687075" y="3565425"/>
            <a:chExt cx="397200" cy="461700"/>
          </a:xfrm>
        </p:grpSpPr>
        <p:sp>
          <p:nvSpPr>
            <p:cNvPr id="1567" name="Google Shape;1567;p145"/>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62" name="Google Shape;1562;p145"/>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1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573" name="Google Shape;1573;p146"/>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74" name="Google Shape;1574;p1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575" name="Google Shape;1575;p14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576" name="Google Shape;1576;p146"/>
          <p:cNvGrpSpPr/>
          <p:nvPr/>
        </p:nvGrpSpPr>
        <p:grpSpPr>
          <a:xfrm>
            <a:off x="311700" y="2102725"/>
            <a:ext cx="8690700" cy="813600"/>
            <a:chOff x="311700" y="3187600"/>
            <a:chExt cx="8690700" cy="813600"/>
          </a:xfrm>
        </p:grpSpPr>
        <p:sp>
          <p:nvSpPr>
            <p:cNvPr id="1577" name="Google Shape;1577;p146"/>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78" name="Google Shape;1578;p146"/>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79" name="Google Shape;1579;p146"/>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80" name="Google Shape;1580;p146"/>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81" name="Google Shape;1581;p146"/>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582" name="Google Shape;1582;p146"/>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583" name="Google Shape;1583;p146"/>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584" name="Google Shape;1584;p146"/>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585" name="Google Shape;1585;p146"/>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586" name="Google Shape;1586;p146"/>
          <p:cNvGrpSpPr/>
          <p:nvPr/>
        </p:nvGrpSpPr>
        <p:grpSpPr>
          <a:xfrm>
            <a:off x="311700" y="3524025"/>
            <a:ext cx="8690700" cy="813600"/>
            <a:chOff x="311700" y="3187600"/>
            <a:chExt cx="8690700" cy="813600"/>
          </a:xfrm>
        </p:grpSpPr>
        <p:sp>
          <p:nvSpPr>
            <p:cNvPr id="1587" name="Google Shape;1587;p146"/>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88" name="Google Shape;1588;p146"/>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89" name="Google Shape;1589;p146"/>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90" name="Google Shape;1590;p146"/>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91" name="Google Shape;1591;p146"/>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592" name="Google Shape;1592;p146"/>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593" name="Google Shape;1593;p146"/>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594" name="Google Shape;1594;p146"/>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595" name="Google Shape;1595;p146"/>
          <p:cNvGrpSpPr/>
          <p:nvPr/>
        </p:nvGrpSpPr>
        <p:grpSpPr>
          <a:xfrm>
            <a:off x="1687075" y="3565425"/>
            <a:ext cx="397200" cy="461700"/>
            <a:chOff x="1687075" y="3565425"/>
            <a:chExt cx="397200" cy="461700"/>
          </a:xfrm>
        </p:grpSpPr>
        <p:sp>
          <p:nvSpPr>
            <p:cNvPr id="1596" name="Google Shape;1596;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597" name="Google Shape;1597;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598" name="Google Shape;1598;p146"/>
          <p:cNvGrpSpPr/>
          <p:nvPr/>
        </p:nvGrpSpPr>
        <p:grpSpPr>
          <a:xfrm>
            <a:off x="4067350" y="3565425"/>
            <a:ext cx="397200" cy="461700"/>
            <a:chOff x="1687075" y="3565425"/>
            <a:chExt cx="397200" cy="461700"/>
          </a:xfrm>
        </p:grpSpPr>
        <p:sp>
          <p:nvSpPr>
            <p:cNvPr id="1599" name="Google Shape;1599;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00" name="Google Shape;1600;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601" name="Google Shape;1601;p146"/>
          <p:cNvGrpSpPr/>
          <p:nvPr/>
        </p:nvGrpSpPr>
        <p:grpSpPr>
          <a:xfrm>
            <a:off x="6321725" y="3565425"/>
            <a:ext cx="397200" cy="461700"/>
            <a:chOff x="1687075" y="3565425"/>
            <a:chExt cx="397200" cy="461700"/>
          </a:xfrm>
        </p:grpSpPr>
        <p:sp>
          <p:nvSpPr>
            <p:cNvPr id="1602" name="Google Shape;1602;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03" name="Google Shape;1603;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604" name="Google Shape;1604;p146"/>
          <p:cNvGrpSpPr/>
          <p:nvPr/>
        </p:nvGrpSpPr>
        <p:grpSpPr>
          <a:xfrm>
            <a:off x="8576100" y="3565425"/>
            <a:ext cx="397200" cy="461700"/>
            <a:chOff x="1687075" y="3565425"/>
            <a:chExt cx="397200" cy="461700"/>
          </a:xfrm>
        </p:grpSpPr>
        <p:sp>
          <p:nvSpPr>
            <p:cNvPr id="1605" name="Google Shape;1605;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06" name="Google Shape;1606;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607" name="Google Shape;1607;p146"/>
          <p:cNvCxnSpPr>
            <a:stCxn id="1608" idx="2"/>
            <a:endCxn id="1597"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609" name="Google Shape;1609;p146"/>
          <p:cNvCxnSpPr>
            <a:stCxn id="1608" idx="2"/>
            <a:endCxn id="1603"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610" name="Google Shape;1610;p146"/>
          <p:cNvCxnSpPr>
            <a:stCxn id="1608" idx="2"/>
            <a:endCxn id="1600"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cxnSp>
        <p:nvCxnSpPr>
          <p:cNvPr id="1611" name="Google Shape;1611;p146"/>
          <p:cNvCxnSpPr>
            <a:stCxn id="1608" idx="2"/>
            <a:endCxn id="1606" idx="0"/>
          </p:cNvCxnSpPr>
          <p:nvPr/>
        </p:nvCxnSpPr>
        <p:spPr>
          <a:xfrm>
            <a:off x="8774700" y="2564425"/>
            <a:ext cx="0" cy="1001100"/>
          </a:xfrm>
          <a:prstGeom prst="straightConnector1">
            <a:avLst/>
          </a:prstGeom>
          <a:noFill/>
          <a:ln cap="flat" cmpd="sng" w="28575">
            <a:solidFill>
              <a:srgbClr val="FFFFFF"/>
            </a:solidFill>
            <a:prstDash val="solid"/>
            <a:round/>
            <a:headEnd len="sm" w="sm" type="none"/>
            <a:tailEnd len="sm" w="sm" type="none"/>
          </a:ln>
        </p:spPr>
      </p:cxnSp>
      <p:grpSp>
        <p:nvGrpSpPr>
          <p:cNvPr id="1612" name="Google Shape;1612;p146"/>
          <p:cNvGrpSpPr/>
          <p:nvPr/>
        </p:nvGrpSpPr>
        <p:grpSpPr>
          <a:xfrm>
            <a:off x="8576100" y="2102725"/>
            <a:ext cx="397200" cy="461700"/>
            <a:chOff x="1687075" y="3565425"/>
            <a:chExt cx="397200" cy="461700"/>
          </a:xfrm>
        </p:grpSpPr>
        <p:sp>
          <p:nvSpPr>
            <p:cNvPr id="1613" name="Google Shape;1613;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08" name="Google Shape;1608;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14" name="Google Shape;1614;p146"/>
          <p:cNvCxnSpPr>
            <a:stCxn id="1615"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616" name="Google Shape;1616;p146"/>
          <p:cNvCxnSpPr>
            <a:stCxn id="1615" idx="2"/>
          </p:cNvCxnSpPr>
          <p:nvPr/>
        </p:nvCxnSpPr>
        <p:spPr>
          <a:xfrm>
            <a:off x="652030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617" name="Google Shape;1617;p146"/>
          <p:cNvCxnSpPr>
            <a:stCxn id="1615"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618" name="Google Shape;1618;p146"/>
          <p:cNvCxnSpPr>
            <a:stCxn id="1615"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619" name="Google Shape;1619;p146"/>
          <p:cNvGrpSpPr/>
          <p:nvPr/>
        </p:nvGrpSpPr>
        <p:grpSpPr>
          <a:xfrm>
            <a:off x="6321700" y="2178225"/>
            <a:ext cx="397200" cy="461700"/>
            <a:chOff x="1687075" y="3565425"/>
            <a:chExt cx="397200" cy="461700"/>
          </a:xfrm>
        </p:grpSpPr>
        <p:sp>
          <p:nvSpPr>
            <p:cNvPr id="1620" name="Google Shape;1620;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15" name="Google Shape;1615;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21" name="Google Shape;1621;p146"/>
          <p:cNvCxnSpPr>
            <a:stCxn id="1622"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623" name="Google Shape;1623;p146"/>
          <p:cNvCxnSpPr>
            <a:stCxn id="1622"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624" name="Google Shape;1624;p146"/>
          <p:cNvCxnSpPr>
            <a:stCxn id="1622" idx="2"/>
          </p:cNvCxnSpPr>
          <p:nvPr/>
        </p:nvCxnSpPr>
        <p:spPr>
          <a:xfrm>
            <a:off x="426595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625" name="Google Shape;1625;p146"/>
          <p:cNvCxnSpPr>
            <a:stCxn id="1622"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626" name="Google Shape;1626;p146"/>
          <p:cNvGrpSpPr/>
          <p:nvPr/>
        </p:nvGrpSpPr>
        <p:grpSpPr>
          <a:xfrm>
            <a:off x="4067350" y="2178225"/>
            <a:ext cx="397200" cy="461700"/>
            <a:chOff x="1687075" y="3565425"/>
            <a:chExt cx="397200" cy="461700"/>
          </a:xfrm>
        </p:grpSpPr>
        <p:sp>
          <p:nvSpPr>
            <p:cNvPr id="1627" name="Google Shape;1627;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22" name="Google Shape;1622;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28" name="Google Shape;1628;p146"/>
          <p:cNvCxnSpPr/>
          <p:nvPr/>
        </p:nvCxnSpPr>
        <p:spPr>
          <a:xfrm>
            <a:off x="1885675" y="2639850"/>
            <a:ext cx="0" cy="925500"/>
          </a:xfrm>
          <a:prstGeom prst="straightConnector1">
            <a:avLst/>
          </a:prstGeom>
          <a:noFill/>
          <a:ln cap="flat" cmpd="sng" w="28575">
            <a:solidFill>
              <a:srgbClr val="FFFFFF"/>
            </a:solidFill>
            <a:prstDash val="solid"/>
            <a:round/>
            <a:headEnd len="sm" w="sm" type="none"/>
            <a:tailEnd len="sm" w="sm" type="none"/>
          </a:ln>
        </p:spPr>
      </p:cxnSp>
      <p:cxnSp>
        <p:nvCxnSpPr>
          <p:cNvPr id="1629" name="Google Shape;1629;p146"/>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630" name="Google Shape;1630;p146"/>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631" name="Google Shape;1631;p146"/>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632" name="Google Shape;1632;p146"/>
          <p:cNvGrpSpPr/>
          <p:nvPr/>
        </p:nvGrpSpPr>
        <p:grpSpPr>
          <a:xfrm>
            <a:off x="1687075" y="2178075"/>
            <a:ext cx="397200" cy="461700"/>
            <a:chOff x="1687075" y="3565425"/>
            <a:chExt cx="397200" cy="461700"/>
          </a:xfrm>
        </p:grpSpPr>
        <p:sp>
          <p:nvSpPr>
            <p:cNvPr id="1633" name="Google Shape;1633;p14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34" name="Google Shape;1634;p14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 4 x 4 = 16 </a:t>
            </a:r>
            <a:endParaRPr>
              <a:solidFill>
                <a:schemeClr val="lt1"/>
              </a:solidFill>
            </a:endParaRPr>
          </a:p>
        </p:txBody>
      </p:sp>
      <p:sp>
        <p:nvSpPr>
          <p:cNvPr id="1640" name="Google Shape;1640;p147"/>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41" name="Google Shape;1641;p1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642" name="Google Shape;1642;p14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643" name="Google Shape;1643;p147"/>
          <p:cNvGrpSpPr/>
          <p:nvPr/>
        </p:nvGrpSpPr>
        <p:grpSpPr>
          <a:xfrm>
            <a:off x="311700" y="2102725"/>
            <a:ext cx="8690700" cy="813600"/>
            <a:chOff x="311700" y="3187600"/>
            <a:chExt cx="8690700" cy="813600"/>
          </a:xfrm>
        </p:grpSpPr>
        <p:sp>
          <p:nvSpPr>
            <p:cNvPr id="1644" name="Google Shape;1644;p147"/>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45" name="Google Shape;1645;p147"/>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46" name="Google Shape;1646;p147"/>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47" name="Google Shape;1647;p147"/>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48" name="Google Shape;1648;p147"/>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649" name="Google Shape;1649;p147"/>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650" name="Google Shape;1650;p147"/>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651" name="Google Shape;1651;p147"/>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652" name="Google Shape;1652;p147"/>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653" name="Google Shape;1653;p147"/>
          <p:cNvGrpSpPr/>
          <p:nvPr/>
        </p:nvGrpSpPr>
        <p:grpSpPr>
          <a:xfrm>
            <a:off x="311700" y="3524025"/>
            <a:ext cx="8690700" cy="813600"/>
            <a:chOff x="311700" y="3187600"/>
            <a:chExt cx="8690700" cy="813600"/>
          </a:xfrm>
        </p:grpSpPr>
        <p:sp>
          <p:nvSpPr>
            <p:cNvPr id="1654" name="Google Shape;1654;p147"/>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55" name="Google Shape;1655;p147"/>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56" name="Google Shape;1656;p147"/>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57" name="Google Shape;1657;p147"/>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58" name="Google Shape;1658;p147"/>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659" name="Google Shape;1659;p147"/>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660" name="Google Shape;1660;p147"/>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661" name="Google Shape;1661;p147"/>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662" name="Google Shape;1662;p147"/>
          <p:cNvGrpSpPr/>
          <p:nvPr/>
        </p:nvGrpSpPr>
        <p:grpSpPr>
          <a:xfrm>
            <a:off x="1687075" y="3565425"/>
            <a:ext cx="397200" cy="461700"/>
            <a:chOff x="1687075" y="3565425"/>
            <a:chExt cx="397200" cy="461700"/>
          </a:xfrm>
        </p:grpSpPr>
        <p:sp>
          <p:nvSpPr>
            <p:cNvPr id="1663" name="Google Shape;1663;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64" name="Google Shape;1664;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665" name="Google Shape;1665;p147"/>
          <p:cNvGrpSpPr/>
          <p:nvPr/>
        </p:nvGrpSpPr>
        <p:grpSpPr>
          <a:xfrm>
            <a:off x="4067350" y="3565425"/>
            <a:ext cx="397200" cy="461700"/>
            <a:chOff x="1687075" y="3565425"/>
            <a:chExt cx="397200" cy="461700"/>
          </a:xfrm>
        </p:grpSpPr>
        <p:sp>
          <p:nvSpPr>
            <p:cNvPr id="1666" name="Google Shape;1666;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67" name="Google Shape;1667;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668" name="Google Shape;1668;p147"/>
          <p:cNvGrpSpPr/>
          <p:nvPr/>
        </p:nvGrpSpPr>
        <p:grpSpPr>
          <a:xfrm>
            <a:off x="6321725" y="3565425"/>
            <a:ext cx="397200" cy="461700"/>
            <a:chOff x="1687075" y="3565425"/>
            <a:chExt cx="397200" cy="461700"/>
          </a:xfrm>
        </p:grpSpPr>
        <p:sp>
          <p:nvSpPr>
            <p:cNvPr id="1669" name="Google Shape;1669;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70" name="Google Shape;1670;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671" name="Google Shape;1671;p147"/>
          <p:cNvGrpSpPr/>
          <p:nvPr/>
        </p:nvGrpSpPr>
        <p:grpSpPr>
          <a:xfrm>
            <a:off x="8576100" y="3565425"/>
            <a:ext cx="397200" cy="461700"/>
            <a:chOff x="1687075" y="3565425"/>
            <a:chExt cx="397200" cy="461700"/>
          </a:xfrm>
        </p:grpSpPr>
        <p:sp>
          <p:nvSpPr>
            <p:cNvPr id="1672" name="Google Shape;1672;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73" name="Google Shape;1673;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674" name="Google Shape;1674;p147"/>
          <p:cNvCxnSpPr>
            <a:stCxn id="1675" idx="2"/>
            <a:endCxn id="1664"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676" name="Google Shape;1676;p147"/>
          <p:cNvCxnSpPr>
            <a:stCxn id="1675" idx="2"/>
            <a:endCxn id="1670"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677" name="Google Shape;1677;p147"/>
          <p:cNvCxnSpPr>
            <a:stCxn id="1675" idx="2"/>
            <a:endCxn id="1667"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cxnSp>
        <p:nvCxnSpPr>
          <p:cNvPr id="1678" name="Google Shape;1678;p147"/>
          <p:cNvCxnSpPr>
            <a:stCxn id="1675" idx="2"/>
            <a:endCxn id="1673" idx="0"/>
          </p:cNvCxnSpPr>
          <p:nvPr/>
        </p:nvCxnSpPr>
        <p:spPr>
          <a:xfrm>
            <a:off x="8774700" y="2564425"/>
            <a:ext cx="0" cy="1001100"/>
          </a:xfrm>
          <a:prstGeom prst="straightConnector1">
            <a:avLst/>
          </a:prstGeom>
          <a:noFill/>
          <a:ln cap="flat" cmpd="sng" w="28575">
            <a:solidFill>
              <a:srgbClr val="FFFFFF"/>
            </a:solidFill>
            <a:prstDash val="solid"/>
            <a:round/>
            <a:headEnd len="sm" w="sm" type="none"/>
            <a:tailEnd len="sm" w="sm" type="none"/>
          </a:ln>
        </p:spPr>
      </p:cxnSp>
      <p:grpSp>
        <p:nvGrpSpPr>
          <p:cNvPr id="1679" name="Google Shape;1679;p147"/>
          <p:cNvGrpSpPr/>
          <p:nvPr/>
        </p:nvGrpSpPr>
        <p:grpSpPr>
          <a:xfrm>
            <a:off x="8576100" y="2102725"/>
            <a:ext cx="397200" cy="461700"/>
            <a:chOff x="1687075" y="3565425"/>
            <a:chExt cx="397200" cy="461700"/>
          </a:xfrm>
        </p:grpSpPr>
        <p:sp>
          <p:nvSpPr>
            <p:cNvPr id="1680" name="Google Shape;1680;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75" name="Google Shape;1675;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81" name="Google Shape;1681;p147"/>
          <p:cNvCxnSpPr>
            <a:stCxn id="1682"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683" name="Google Shape;1683;p147"/>
          <p:cNvCxnSpPr>
            <a:stCxn id="1682" idx="2"/>
          </p:cNvCxnSpPr>
          <p:nvPr/>
        </p:nvCxnSpPr>
        <p:spPr>
          <a:xfrm>
            <a:off x="652030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684" name="Google Shape;1684;p147"/>
          <p:cNvCxnSpPr>
            <a:stCxn id="1682"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685" name="Google Shape;1685;p147"/>
          <p:cNvCxnSpPr>
            <a:stCxn id="1682"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686" name="Google Shape;1686;p147"/>
          <p:cNvGrpSpPr/>
          <p:nvPr/>
        </p:nvGrpSpPr>
        <p:grpSpPr>
          <a:xfrm>
            <a:off x="6321700" y="2178225"/>
            <a:ext cx="397200" cy="461700"/>
            <a:chOff x="1687075" y="3565425"/>
            <a:chExt cx="397200" cy="461700"/>
          </a:xfrm>
        </p:grpSpPr>
        <p:sp>
          <p:nvSpPr>
            <p:cNvPr id="1687" name="Google Shape;1687;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82" name="Google Shape;1682;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88" name="Google Shape;1688;p147"/>
          <p:cNvCxnSpPr>
            <a:stCxn id="1689"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690" name="Google Shape;1690;p147"/>
          <p:cNvCxnSpPr>
            <a:stCxn id="1689"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691" name="Google Shape;1691;p147"/>
          <p:cNvCxnSpPr>
            <a:stCxn id="1689" idx="2"/>
          </p:cNvCxnSpPr>
          <p:nvPr/>
        </p:nvCxnSpPr>
        <p:spPr>
          <a:xfrm>
            <a:off x="426595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692" name="Google Shape;1692;p147"/>
          <p:cNvCxnSpPr>
            <a:stCxn id="1689"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693" name="Google Shape;1693;p147"/>
          <p:cNvGrpSpPr/>
          <p:nvPr/>
        </p:nvGrpSpPr>
        <p:grpSpPr>
          <a:xfrm>
            <a:off x="4067350" y="2178225"/>
            <a:ext cx="397200" cy="461700"/>
            <a:chOff x="1687075" y="3565425"/>
            <a:chExt cx="397200" cy="461700"/>
          </a:xfrm>
        </p:grpSpPr>
        <p:sp>
          <p:nvSpPr>
            <p:cNvPr id="1694" name="Google Shape;1694;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689" name="Google Shape;1689;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695" name="Google Shape;1695;p147"/>
          <p:cNvCxnSpPr/>
          <p:nvPr/>
        </p:nvCxnSpPr>
        <p:spPr>
          <a:xfrm>
            <a:off x="1885675" y="2639850"/>
            <a:ext cx="0" cy="925500"/>
          </a:xfrm>
          <a:prstGeom prst="straightConnector1">
            <a:avLst/>
          </a:prstGeom>
          <a:noFill/>
          <a:ln cap="flat" cmpd="sng" w="28575">
            <a:solidFill>
              <a:srgbClr val="FFFFFF"/>
            </a:solidFill>
            <a:prstDash val="solid"/>
            <a:round/>
            <a:headEnd len="sm" w="sm" type="none"/>
            <a:tailEnd len="sm" w="sm" type="none"/>
          </a:ln>
        </p:spPr>
      </p:cxnSp>
      <p:cxnSp>
        <p:nvCxnSpPr>
          <p:cNvPr id="1696" name="Google Shape;1696;p147"/>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697" name="Google Shape;1697;p147"/>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698" name="Google Shape;1698;p147"/>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699" name="Google Shape;1699;p147"/>
          <p:cNvGrpSpPr/>
          <p:nvPr/>
        </p:nvGrpSpPr>
        <p:grpSpPr>
          <a:xfrm>
            <a:off x="1687075" y="2178075"/>
            <a:ext cx="397200" cy="461700"/>
            <a:chOff x="1687075" y="3565425"/>
            <a:chExt cx="397200" cy="461700"/>
          </a:xfrm>
        </p:grpSpPr>
        <p:sp>
          <p:nvSpPr>
            <p:cNvPr id="1700" name="Google Shape;1700;p147"/>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01" name="Google Shape;1701;p147"/>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1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Permutations</a:t>
            </a:r>
            <a:endParaRPr/>
          </a:p>
        </p:txBody>
      </p:sp>
      <p:sp>
        <p:nvSpPr>
          <p:cNvPr id="1707" name="Google Shape;1707;p1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Definition: Permutations are arrangements of objects in a specific order.</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n">
                <a:solidFill>
                  <a:schemeClr val="lt1"/>
                </a:solidFill>
              </a:rPr>
              <a:t>Determine the number of ways Anna can watch two different movies over two nights, considering the order of genres. (i.e different genre each night)</a:t>
            </a:r>
            <a:endParaRPr>
              <a:solidFill>
                <a:schemeClr val="lt1"/>
              </a:solidFill>
            </a:endParaRPr>
          </a:p>
          <a:p>
            <a:pPr indent="-342900" lvl="0" marL="457200" rtl="0" algn="l">
              <a:lnSpc>
                <a:spcPct val="150000"/>
              </a:lnSpc>
              <a:spcBef>
                <a:spcPts val="0"/>
              </a:spcBef>
              <a:spcAft>
                <a:spcPts val="0"/>
              </a:spcAft>
              <a:buClr>
                <a:schemeClr val="lt1"/>
              </a:buClr>
              <a:buSzPts val="1800"/>
              <a:buChar char="●"/>
            </a:pPr>
            <a:r>
              <a:rPr lang="en">
                <a:solidFill>
                  <a:schemeClr val="lt1"/>
                </a:solidFill>
              </a:rPr>
              <a:t>Question: What are the total number outcomes in this scenario?</a:t>
            </a:r>
            <a:endParaRPr>
              <a:solidFill>
                <a:schemeClr val="lt1"/>
              </a:solidFill>
            </a:endParaRPr>
          </a:p>
        </p:txBody>
      </p:sp>
      <p:sp>
        <p:nvSpPr>
          <p:cNvPr id="1708" name="Google Shape;1708;p14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1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714" name="Google Shape;1714;p149"/>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15" name="Google Shape;1715;p1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Multiplication rule in Probability</a:t>
            </a:r>
            <a:endParaRPr/>
          </a:p>
        </p:txBody>
      </p:sp>
      <p:sp>
        <p:nvSpPr>
          <p:cNvPr id="1716" name="Google Shape;1716;p14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717" name="Google Shape;1717;p149"/>
          <p:cNvGrpSpPr/>
          <p:nvPr/>
        </p:nvGrpSpPr>
        <p:grpSpPr>
          <a:xfrm>
            <a:off x="311700" y="2102725"/>
            <a:ext cx="8690700" cy="813600"/>
            <a:chOff x="311700" y="3187600"/>
            <a:chExt cx="8690700" cy="813600"/>
          </a:xfrm>
        </p:grpSpPr>
        <p:sp>
          <p:nvSpPr>
            <p:cNvPr id="1718" name="Google Shape;1718;p149"/>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19" name="Google Shape;1719;p149"/>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20" name="Google Shape;1720;p149"/>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21" name="Google Shape;1721;p149"/>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22" name="Google Shape;1722;p149"/>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723" name="Google Shape;1723;p149"/>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724" name="Google Shape;1724;p149"/>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725" name="Google Shape;1725;p149"/>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726" name="Google Shape;1726;p149"/>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727" name="Google Shape;1727;p149"/>
          <p:cNvGrpSpPr/>
          <p:nvPr/>
        </p:nvGrpSpPr>
        <p:grpSpPr>
          <a:xfrm>
            <a:off x="311700" y="3524025"/>
            <a:ext cx="8690700" cy="813600"/>
            <a:chOff x="311700" y="3187600"/>
            <a:chExt cx="8690700" cy="813600"/>
          </a:xfrm>
        </p:grpSpPr>
        <p:sp>
          <p:nvSpPr>
            <p:cNvPr id="1728" name="Google Shape;1728;p149"/>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29" name="Google Shape;1729;p149"/>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30" name="Google Shape;1730;p149"/>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31" name="Google Shape;1731;p149"/>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32" name="Google Shape;1732;p149"/>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733" name="Google Shape;1733;p149"/>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734" name="Google Shape;1734;p149"/>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735" name="Google Shape;1735;p149"/>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736" name="Google Shape;1736;p149"/>
          <p:cNvGrpSpPr/>
          <p:nvPr/>
        </p:nvGrpSpPr>
        <p:grpSpPr>
          <a:xfrm>
            <a:off x="1687075" y="3565425"/>
            <a:ext cx="397200" cy="461700"/>
            <a:chOff x="1687075" y="3565425"/>
            <a:chExt cx="397200" cy="461700"/>
          </a:xfrm>
        </p:grpSpPr>
        <p:sp>
          <p:nvSpPr>
            <p:cNvPr id="1737" name="Google Shape;1737;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38" name="Google Shape;1738;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739" name="Google Shape;1739;p149"/>
          <p:cNvGrpSpPr/>
          <p:nvPr/>
        </p:nvGrpSpPr>
        <p:grpSpPr>
          <a:xfrm>
            <a:off x="4067350" y="3565425"/>
            <a:ext cx="397200" cy="461700"/>
            <a:chOff x="1687075" y="3565425"/>
            <a:chExt cx="397200" cy="461700"/>
          </a:xfrm>
        </p:grpSpPr>
        <p:sp>
          <p:nvSpPr>
            <p:cNvPr id="1740" name="Google Shape;1740;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41" name="Google Shape;1741;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742" name="Google Shape;1742;p149"/>
          <p:cNvGrpSpPr/>
          <p:nvPr/>
        </p:nvGrpSpPr>
        <p:grpSpPr>
          <a:xfrm>
            <a:off x="6321725" y="3565425"/>
            <a:ext cx="397200" cy="461700"/>
            <a:chOff x="1687075" y="3565425"/>
            <a:chExt cx="397200" cy="461700"/>
          </a:xfrm>
        </p:grpSpPr>
        <p:sp>
          <p:nvSpPr>
            <p:cNvPr id="1743" name="Google Shape;1743;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44" name="Google Shape;1744;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745" name="Google Shape;1745;p149"/>
          <p:cNvGrpSpPr/>
          <p:nvPr/>
        </p:nvGrpSpPr>
        <p:grpSpPr>
          <a:xfrm>
            <a:off x="8576100" y="3565425"/>
            <a:ext cx="397200" cy="461700"/>
            <a:chOff x="1687075" y="3565425"/>
            <a:chExt cx="397200" cy="461700"/>
          </a:xfrm>
        </p:grpSpPr>
        <p:sp>
          <p:nvSpPr>
            <p:cNvPr id="1746" name="Google Shape;1746;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47" name="Google Shape;1747;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748" name="Google Shape;1748;p149"/>
          <p:cNvCxnSpPr>
            <a:stCxn id="1749" idx="2"/>
            <a:endCxn id="1738"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750" name="Google Shape;1750;p149"/>
          <p:cNvCxnSpPr>
            <a:stCxn id="1749" idx="2"/>
            <a:endCxn id="1744"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751" name="Google Shape;1751;p149"/>
          <p:cNvCxnSpPr>
            <a:stCxn id="1749" idx="2"/>
            <a:endCxn id="1741"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cxnSp>
        <p:nvCxnSpPr>
          <p:cNvPr id="1752" name="Google Shape;1752;p149"/>
          <p:cNvCxnSpPr>
            <a:stCxn id="1749" idx="2"/>
            <a:endCxn id="1747" idx="0"/>
          </p:cNvCxnSpPr>
          <p:nvPr/>
        </p:nvCxnSpPr>
        <p:spPr>
          <a:xfrm>
            <a:off x="8774700" y="2564425"/>
            <a:ext cx="0" cy="1001100"/>
          </a:xfrm>
          <a:prstGeom prst="straightConnector1">
            <a:avLst/>
          </a:prstGeom>
          <a:noFill/>
          <a:ln cap="flat" cmpd="sng" w="28575">
            <a:solidFill>
              <a:srgbClr val="FFFFFF"/>
            </a:solidFill>
            <a:prstDash val="solid"/>
            <a:round/>
            <a:headEnd len="sm" w="sm" type="none"/>
            <a:tailEnd len="sm" w="sm" type="none"/>
          </a:ln>
        </p:spPr>
      </p:cxnSp>
      <p:grpSp>
        <p:nvGrpSpPr>
          <p:cNvPr id="1753" name="Google Shape;1753;p149"/>
          <p:cNvGrpSpPr/>
          <p:nvPr/>
        </p:nvGrpSpPr>
        <p:grpSpPr>
          <a:xfrm>
            <a:off x="8576100" y="2102725"/>
            <a:ext cx="397200" cy="461700"/>
            <a:chOff x="1687075" y="3565425"/>
            <a:chExt cx="397200" cy="461700"/>
          </a:xfrm>
        </p:grpSpPr>
        <p:sp>
          <p:nvSpPr>
            <p:cNvPr id="1754" name="Google Shape;1754;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49" name="Google Shape;1749;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755" name="Google Shape;1755;p149"/>
          <p:cNvCxnSpPr>
            <a:stCxn id="1756"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757" name="Google Shape;1757;p149"/>
          <p:cNvCxnSpPr>
            <a:stCxn id="1756" idx="2"/>
          </p:cNvCxnSpPr>
          <p:nvPr/>
        </p:nvCxnSpPr>
        <p:spPr>
          <a:xfrm>
            <a:off x="652030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758" name="Google Shape;1758;p149"/>
          <p:cNvCxnSpPr>
            <a:stCxn id="1756"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759" name="Google Shape;1759;p149"/>
          <p:cNvCxnSpPr>
            <a:stCxn id="1756"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760" name="Google Shape;1760;p149"/>
          <p:cNvGrpSpPr/>
          <p:nvPr/>
        </p:nvGrpSpPr>
        <p:grpSpPr>
          <a:xfrm>
            <a:off x="6321700" y="2178225"/>
            <a:ext cx="397200" cy="461700"/>
            <a:chOff x="1687075" y="3565425"/>
            <a:chExt cx="397200" cy="461700"/>
          </a:xfrm>
        </p:grpSpPr>
        <p:sp>
          <p:nvSpPr>
            <p:cNvPr id="1761" name="Google Shape;1761;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56" name="Google Shape;1756;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762" name="Google Shape;1762;p149"/>
          <p:cNvCxnSpPr>
            <a:stCxn id="1763"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764" name="Google Shape;1764;p149"/>
          <p:cNvCxnSpPr>
            <a:stCxn id="1763"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765" name="Google Shape;1765;p149"/>
          <p:cNvCxnSpPr>
            <a:stCxn id="1763" idx="2"/>
          </p:cNvCxnSpPr>
          <p:nvPr/>
        </p:nvCxnSpPr>
        <p:spPr>
          <a:xfrm>
            <a:off x="4265950" y="2639925"/>
            <a:ext cx="0" cy="925500"/>
          </a:xfrm>
          <a:prstGeom prst="straightConnector1">
            <a:avLst/>
          </a:prstGeom>
          <a:noFill/>
          <a:ln cap="flat" cmpd="sng" w="28575">
            <a:solidFill>
              <a:srgbClr val="FFFFFF"/>
            </a:solidFill>
            <a:prstDash val="solid"/>
            <a:round/>
            <a:headEnd len="sm" w="sm" type="none"/>
            <a:tailEnd len="sm" w="sm" type="none"/>
          </a:ln>
        </p:spPr>
      </p:cxnSp>
      <p:cxnSp>
        <p:nvCxnSpPr>
          <p:cNvPr id="1766" name="Google Shape;1766;p149"/>
          <p:cNvCxnSpPr>
            <a:stCxn id="1763"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767" name="Google Shape;1767;p149"/>
          <p:cNvGrpSpPr/>
          <p:nvPr/>
        </p:nvGrpSpPr>
        <p:grpSpPr>
          <a:xfrm>
            <a:off x="4067350" y="2178225"/>
            <a:ext cx="397200" cy="461700"/>
            <a:chOff x="1687075" y="3565425"/>
            <a:chExt cx="397200" cy="461700"/>
          </a:xfrm>
        </p:grpSpPr>
        <p:sp>
          <p:nvSpPr>
            <p:cNvPr id="1768" name="Google Shape;1768;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63" name="Google Shape;1763;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769" name="Google Shape;1769;p149"/>
          <p:cNvCxnSpPr/>
          <p:nvPr/>
        </p:nvCxnSpPr>
        <p:spPr>
          <a:xfrm>
            <a:off x="1885675" y="2639850"/>
            <a:ext cx="0" cy="925500"/>
          </a:xfrm>
          <a:prstGeom prst="straightConnector1">
            <a:avLst/>
          </a:prstGeom>
          <a:noFill/>
          <a:ln cap="flat" cmpd="sng" w="28575">
            <a:solidFill>
              <a:srgbClr val="FFFFFF"/>
            </a:solidFill>
            <a:prstDash val="solid"/>
            <a:round/>
            <a:headEnd len="sm" w="sm" type="none"/>
            <a:tailEnd len="sm" w="sm" type="none"/>
          </a:ln>
        </p:spPr>
      </p:cxnSp>
      <p:cxnSp>
        <p:nvCxnSpPr>
          <p:cNvPr id="1770" name="Google Shape;1770;p149"/>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771" name="Google Shape;1771;p149"/>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772" name="Google Shape;1772;p149"/>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773" name="Google Shape;1773;p149"/>
          <p:cNvGrpSpPr/>
          <p:nvPr/>
        </p:nvGrpSpPr>
        <p:grpSpPr>
          <a:xfrm>
            <a:off x="1687075" y="2178075"/>
            <a:ext cx="397200" cy="461700"/>
            <a:chOff x="1687075" y="3565425"/>
            <a:chExt cx="397200" cy="461700"/>
          </a:xfrm>
        </p:grpSpPr>
        <p:sp>
          <p:nvSpPr>
            <p:cNvPr id="1774" name="Google Shape;1774;p149"/>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75" name="Google Shape;1775;p149"/>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1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781" name="Google Shape;1781;p150"/>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82" name="Google Shape;1782;p1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ial"/>
              <a:buNone/>
            </a:pPr>
            <a:r>
              <a:rPr lang="en"/>
              <a:t>Permutations</a:t>
            </a:r>
            <a:endParaRPr/>
          </a:p>
        </p:txBody>
      </p:sp>
      <p:sp>
        <p:nvSpPr>
          <p:cNvPr id="1783" name="Google Shape;1783;p15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784" name="Google Shape;1784;p150"/>
          <p:cNvGrpSpPr/>
          <p:nvPr/>
        </p:nvGrpSpPr>
        <p:grpSpPr>
          <a:xfrm>
            <a:off x="311700" y="2102725"/>
            <a:ext cx="8690700" cy="813600"/>
            <a:chOff x="311700" y="3187600"/>
            <a:chExt cx="8690700" cy="813600"/>
          </a:xfrm>
        </p:grpSpPr>
        <p:sp>
          <p:nvSpPr>
            <p:cNvPr id="1785" name="Google Shape;1785;p150"/>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86" name="Google Shape;1786;p150"/>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87" name="Google Shape;1787;p150"/>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88" name="Google Shape;1788;p150"/>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89" name="Google Shape;1789;p150"/>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790" name="Google Shape;1790;p150"/>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791" name="Google Shape;1791;p150"/>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792" name="Google Shape;1792;p150"/>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793" name="Google Shape;1793;p150"/>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794" name="Google Shape;1794;p150"/>
          <p:cNvGrpSpPr/>
          <p:nvPr/>
        </p:nvGrpSpPr>
        <p:grpSpPr>
          <a:xfrm>
            <a:off x="311700" y="3524025"/>
            <a:ext cx="8690700" cy="813600"/>
            <a:chOff x="311700" y="3187600"/>
            <a:chExt cx="8690700" cy="813600"/>
          </a:xfrm>
        </p:grpSpPr>
        <p:sp>
          <p:nvSpPr>
            <p:cNvPr id="1795" name="Google Shape;1795;p150"/>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96" name="Google Shape;1796;p150"/>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97" name="Google Shape;1797;p150"/>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98" name="Google Shape;1798;p150"/>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799" name="Google Shape;1799;p150"/>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800" name="Google Shape;1800;p150"/>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801" name="Google Shape;1801;p150"/>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802" name="Google Shape;1802;p150"/>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803" name="Google Shape;1803;p150"/>
          <p:cNvGrpSpPr/>
          <p:nvPr/>
        </p:nvGrpSpPr>
        <p:grpSpPr>
          <a:xfrm>
            <a:off x="1687075" y="3565425"/>
            <a:ext cx="397200" cy="461700"/>
            <a:chOff x="1687075" y="3565425"/>
            <a:chExt cx="397200" cy="461700"/>
          </a:xfrm>
        </p:grpSpPr>
        <p:sp>
          <p:nvSpPr>
            <p:cNvPr id="1804" name="Google Shape;1804;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05" name="Google Shape;1805;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06" name="Google Shape;1806;p150"/>
          <p:cNvGrpSpPr/>
          <p:nvPr/>
        </p:nvGrpSpPr>
        <p:grpSpPr>
          <a:xfrm>
            <a:off x="4067350" y="3565425"/>
            <a:ext cx="397200" cy="461700"/>
            <a:chOff x="1687075" y="3565425"/>
            <a:chExt cx="397200" cy="461700"/>
          </a:xfrm>
        </p:grpSpPr>
        <p:sp>
          <p:nvSpPr>
            <p:cNvPr id="1807" name="Google Shape;1807;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08" name="Google Shape;1808;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09" name="Google Shape;1809;p150"/>
          <p:cNvGrpSpPr/>
          <p:nvPr/>
        </p:nvGrpSpPr>
        <p:grpSpPr>
          <a:xfrm>
            <a:off x="6321725" y="3565425"/>
            <a:ext cx="397200" cy="461700"/>
            <a:chOff x="1687075" y="3565425"/>
            <a:chExt cx="397200" cy="461700"/>
          </a:xfrm>
        </p:grpSpPr>
        <p:sp>
          <p:nvSpPr>
            <p:cNvPr id="1810" name="Google Shape;1810;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11" name="Google Shape;1811;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12" name="Google Shape;1812;p150"/>
          <p:cNvGrpSpPr/>
          <p:nvPr/>
        </p:nvGrpSpPr>
        <p:grpSpPr>
          <a:xfrm>
            <a:off x="8576100" y="3565425"/>
            <a:ext cx="397200" cy="461700"/>
            <a:chOff x="1687075" y="3565425"/>
            <a:chExt cx="397200" cy="461700"/>
          </a:xfrm>
        </p:grpSpPr>
        <p:sp>
          <p:nvSpPr>
            <p:cNvPr id="1813" name="Google Shape;1813;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14" name="Google Shape;1814;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815" name="Google Shape;1815;p150"/>
          <p:cNvCxnSpPr>
            <a:stCxn id="1816" idx="2"/>
            <a:endCxn id="1805"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817" name="Google Shape;1817;p150"/>
          <p:cNvCxnSpPr>
            <a:stCxn id="1816" idx="2"/>
            <a:endCxn id="1811"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818" name="Google Shape;1818;p150"/>
          <p:cNvCxnSpPr>
            <a:stCxn id="1816" idx="2"/>
            <a:endCxn id="1808"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grpSp>
        <p:nvGrpSpPr>
          <p:cNvPr id="1819" name="Google Shape;1819;p150"/>
          <p:cNvGrpSpPr/>
          <p:nvPr/>
        </p:nvGrpSpPr>
        <p:grpSpPr>
          <a:xfrm>
            <a:off x="8576100" y="2102725"/>
            <a:ext cx="397200" cy="461700"/>
            <a:chOff x="1687075" y="3565425"/>
            <a:chExt cx="397200" cy="461700"/>
          </a:xfrm>
        </p:grpSpPr>
        <p:sp>
          <p:nvSpPr>
            <p:cNvPr id="1820" name="Google Shape;1820;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16" name="Google Shape;1816;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21" name="Google Shape;1821;p150"/>
          <p:cNvCxnSpPr>
            <a:stCxn id="1822"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823" name="Google Shape;1823;p150"/>
          <p:cNvCxnSpPr>
            <a:stCxn id="1822"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824" name="Google Shape;1824;p150"/>
          <p:cNvCxnSpPr>
            <a:stCxn id="1822"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825" name="Google Shape;1825;p150"/>
          <p:cNvGrpSpPr/>
          <p:nvPr/>
        </p:nvGrpSpPr>
        <p:grpSpPr>
          <a:xfrm>
            <a:off x="6321700" y="2178225"/>
            <a:ext cx="397200" cy="461700"/>
            <a:chOff x="1687075" y="3565425"/>
            <a:chExt cx="397200" cy="461700"/>
          </a:xfrm>
        </p:grpSpPr>
        <p:sp>
          <p:nvSpPr>
            <p:cNvPr id="1826" name="Google Shape;1826;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22" name="Google Shape;1822;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27" name="Google Shape;1827;p150"/>
          <p:cNvCxnSpPr>
            <a:stCxn id="1828"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829" name="Google Shape;1829;p150"/>
          <p:cNvCxnSpPr>
            <a:stCxn id="1828"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830" name="Google Shape;1830;p150"/>
          <p:cNvCxnSpPr>
            <a:stCxn id="1828"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831" name="Google Shape;1831;p150"/>
          <p:cNvGrpSpPr/>
          <p:nvPr/>
        </p:nvGrpSpPr>
        <p:grpSpPr>
          <a:xfrm>
            <a:off x="4067350" y="2178225"/>
            <a:ext cx="397200" cy="461700"/>
            <a:chOff x="1687075" y="3565425"/>
            <a:chExt cx="397200" cy="461700"/>
          </a:xfrm>
        </p:grpSpPr>
        <p:sp>
          <p:nvSpPr>
            <p:cNvPr id="1832" name="Google Shape;1832;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28" name="Google Shape;1828;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33" name="Google Shape;1833;p150"/>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834" name="Google Shape;1834;p150"/>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835" name="Google Shape;1835;p150"/>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836" name="Google Shape;1836;p150"/>
          <p:cNvGrpSpPr/>
          <p:nvPr/>
        </p:nvGrpSpPr>
        <p:grpSpPr>
          <a:xfrm>
            <a:off x="1687075" y="2178075"/>
            <a:ext cx="397200" cy="461700"/>
            <a:chOff x="1687075" y="3565425"/>
            <a:chExt cx="397200" cy="461700"/>
          </a:xfrm>
        </p:grpSpPr>
        <p:sp>
          <p:nvSpPr>
            <p:cNvPr id="1837" name="Google Shape;1837;p150"/>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38" name="Google Shape;1838;p150"/>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2" name="Shape 1842"/>
        <p:cNvGrpSpPr/>
        <p:nvPr/>
      </p:nvGrpSpPr>
      <p:grpSpPr>
        <a:xfrm>
          <a:off x="0" y="0"/>
          <a:ext cx="0" cy="0"/>
          <a:chOff x="0" y="0"/>
          <a:chExt cx="0" cy="0"/>
        </a:xfrm>
      </p:grpSpPr>
      <p:sp>
        <p:nvSpPr>
          <p:cNvPr id="1843" name="Google Shape;1843;p1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 4 x 3 = 12</a:t>
            </a:r>
            <a:endParaRPr>
              <a:solidFill>
                <a:schemeClr val="lt1"/>
              </a:solidFill>
            </a:endParaRPr>
          </a:p>
        </p:txBody>
      </p:sp>
      <p:sp>
        <p:nvSpPr>
          <p:cNvPr id="1844" name="Google Shape;1844;p151"/>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45" name="Google Shape;1845;p1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Permutations</a:t>
            </a:r>
            <a:endParaRPr/>
          </a:p>
        </p:txBody>
      </p:sp>
      <p:sp>
        <p:nvSpPr>
          <p:cNvPr id="1846" name="Google Shape;1846;p15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847" name="Google Shape;1847;p151"/>
          <p:cNvGrpSpPr/>
          <p:nvPr/>
        </p:nvGrpSpPr>
        <p:grpSpPr>
          <a:xfrm>
            <a:off x="311700" y="2102725"/>
            <a:ext cx="8690700" cy="813600"/>
            <a:chOff x="311700" y="3187600"/>
            <a:chExt cx="8690700" cy="813600"/>
          </a:xfrm>
        </p:grpSpPr>
        <p:sp>
          <p:nvSpPr>
            <p:cNvPr id="1848" name="Google Shape;1848;p151"/>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49" name="Google Shape;1849;p151"/>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50" name="Google Shape;1850;p151"/>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51" name="Google Shape;1851;p151"/>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52" name="Google Shape;1852;p151"/>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853" name="Google Shape;1853;p151"/>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854" name="Google Shape;1854;p151"/>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855" name="Google Shape;1855;p151"/>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856" name="Google Shape;1856;p151"/>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857" name="Google Shape;1857;p151"/>
          <p:cNvGrpSpPr/>
          <p:nvPr/>
        </p:nvGrpSpPr>
        <p:grpSpPr>
          <a:xfrm>
            <a:off x="311700" y="3524025"/>
            <a:ext cx="8690700" cy="813600"/>
            <a:chOff x="311700" y="3187600"/>
            <a:chExt cx="8690700" cy="813600"/>
          </a:xfrm>
        </p:grpSpPr>
        <p:sp>
          <p:nvSpPr>
            <p:cNvPr id="1858" name="Google Shape;1858;p151"/>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59" name="Google Shape;1859;p151"/>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60" name="Google Shape;1860;p151"/>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61" name="Google Shape;1861;p151"/>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62" name="Google Shape;1862;p151"/>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863" name="Google Shape;1863;p151"/>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864" name="Google Shape;1864;p151"/>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865" name="Google Shape;1865;p151"/>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866" name="Google Shape;1866;p151"/>
          <p:cNvGrpSpPr/>
          <p:nvPr/>
        </p:nvGrpSpPr>
        <p:grpSpPr>
          <a:xfrm>
            <a:off x="1687075" y="3565425"/>
            <a:ext cx="397200" cy="461700"/>
            <a:chOff x="1687075" y="3565425"/>
            <a:chExt cx="397200" cy="461700"/>
          </a:xfrm>
        </p:grpSpPr>
        <p:sp>
          <p:nvSpPr>
            <p:cNvPr id="1867" name="Google Shape;1867;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68" name="Google Shape;1868;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69" name="Google Shape;1869;p151"/>
          <p:cNvGrpSpPr/>
          <p:nvPr/>
        </p:nvGrpSpPr>
        <p:grpSpPr>
          <a:xfrm>
            <a:off x="4067350" y="3565425"/>
            <a:ext cx="397200" cy="461700"/>
            <a:chOff x="1687075" y="3565425"/>
            <a:chExt cx="397200" cy="461700"/>
          </a:xfrm>
        </p:grpSpPr>
        <p:sp>
          <p:nvSpPr>
            <p:cNvPr id="1870" name="Google Shape;1870;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71" name="Google Shape;1871;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72" name="Google Shape;1872;p151"/>
          <p:cNvGrpSpPr/>
          <p:nvPr/>
        </p:nvGrpSpPr>
        <p:grpSpPr>
          <a:xfrm>
            <a:off x="6321725" y="3565425"/>
            <a:ext cx="397200" cy="461700"/>
            <a:chOff x="1687075" y="3565425"/>
            <a:chExt cx="397200" cy="461700"/>
          </a:xfrm>
        </p:grpSpPr>
        <p:sp>
          <p:nvSpPr>
            <p:cNvPr id="1873" name="Google Shape;1873;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74" name="Google Shape;1874;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875" name="Google Shape;1875;p151"/>
          <p:cNvGrpSpPr/>
          <p:nvPr/>
        </p:nvGrpSpPr>
        <p:grpSpPr>
          <a:xfrm>
            <a:off x="8576100" y="3565425"/>
            <a:ext cx="397200" cy="461700"/>
            <a:chOff x="1687075" y="3565425"/>
            <a:chExt cx="397200" cy="461700"/>
          </a:xfrm>
        </p:grpSpPr>
        <p:sp>
          <p:nvSpPr>
            <p:cNvPr id="1876" name="Google Shape;1876;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77" name="Google Shape;1877;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878" name="Google Shape;1878;p151"/>
          <p:cNvCxnSpPr>
            <a:stCxn id="1879" idx="2"/>
            <a:endCxn id="1868"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880" name="Google Shape;1880;p151"/>
          <p:cNvCxnSpPr>
            <a:stCxn id="1879" idx="2"/>
            <a:endCxn id="1874"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881" name="Google Shape;1881;p151"/>
          <p:cNvCxnSpPr>
            <a:stCxn id="1879" idx="2"/>
            <a:endCxn id="1871"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grpSp>
        <p:nvGrpSpPr>
          <p:cNvPr id="1882" name="Google Shape;1882;p151"/>
          <p:cNvGrpSpPr/>
          <p:nvPr/>
        </p:nvGrpSpPr>
        <p:grpSpPr>
          <a:xfrm>
            <a:off x="8576100" y="2102725"/>
            <a:ext cx="397200" cy="461700"/>
            <a:chOff x="1687075" y="3565425"/>
            <a:chExt cx="397200" cy="461700"/>
          </a:xfrm>
        </p:grpSpPr>
        <p:sp>
          <p:nvSpPr>
            <p:cNvPr id="1883" name="Google Shape;1883;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79" name="Google Shape;1879;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84" name="Google Shape;1884;p151"/>
          <p:cNvCxnSpPr>
            <a:stCxn id="1885"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886" name="Google Shape;1886;p151"/>
          <p:cNvCxnSpPr>
            <a:stCxn id="1885"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887" name="Google Shape;1887;p151"/>
          <p:cNvCxnSpPr>
            <a:stCxn id="1885"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888" name="Google Shape;1888;p151"/>
          <p:cNvGrpSpPr/>
          <p:nvPr/>
        </p:nvGrpSpPr>
        <p:grpSpPr>
          <a:xfrm>
            <a:off x="6321700" y="2178225"/>
            <a:ext cx="397200" cy="461700"/>
            <a:chOff x="1687075" y="3565425"/>
            <a:chExt cx="397200" cy="461700"/>
          </a:xfrm>
        </p:grpSpPr>
        <p:sp>
          <p:nvSpPr>
            <p:cNvPr id="1889" name="Google Shape;1889;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85" name="Google Shape;1885;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90" name="Google Shape;1890;p151"/>
          <p:cNvCxnSpPr>
            <a:stCxn id="1891"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892" name="Google Shape;1892;p151"/>
          <p:cNvCxnSpPr>
            <a:stCxn id="1891"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893" name="Google Shape;1893;p151"/>
          <p:cNvCxnSpPr>
            <a:stCxn id="1891"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894" name="Google Shape;1894;p151"/>
          <p:cNvGrpSpPr/>
          <p:nvPr/>
        </p:nvGrpSpPr>
        <p:grpSpPr>
          <a:xfrm>
            <a:off x="4067350" y="2178225"/>
            <a:ext cx="397200" cy="461700"/>
            <a:chOff x="1687075" y="3565425"/>
            <a:chExt cx="397200" cy="461700"/>
          </a:xfrm>
        </p:grpSpPr>
        <p:sp>
          <p:nvSpPr>
            <p:cNvPr id="1895" name="Google Shape;1895;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891" name="Google Shape;1891;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896" name="Google Shape;1896;p151"/>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897" name="Google Shape;1897;p151"/>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898" name="Google Shape;1898;p151"/>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899" name="Google Shape;1899;p151"/>
          <p:cNvGrpSpPr/>
          <p:nvPr/>
        </p:nvGrpSpPr>
        <p:grpSpPr>
          <a:xfrm>
            <a:off x="1687075" y="2178075"/>
            <a:ext cx="397200" cy="461700"/>
            <a:chOff x="1687075" y="3565425"/>
            <a:chExt cx="397200" cy="461700"/>
          </a:xfrm>
        </p:grpSpPr>
        <p:sp>
          <p:nvSpPr>
            <p:cNvPr id="1900" name="Google Shape;1900;p151"/>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01" name="Google Shape;1901;p151"/>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1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For three nights?</a:t>
            </a:r>
            <a:endParaRPr>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1st night = 4 genres choices</a:t>
            </a:r>
            <a:endParaRPr>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2nd night = 3 genres choices </a:t>
            </a:r>
            <a:endParaRPr>
              <a:solidFill>
                <a:schemeClr val="lt1"/>
              </a:solidFill>
            </a:endParaRPr>
          </a:p>
          <a:p>
            <a:pPr indent="-317500" lvl="1" marL="914400" rtl="0" algn="l">
              <a:lnSpc>
                <a:spcPct val="150000"/>
              </a:lnSpc>
              <a:spcBef>
                <a:spcPts val="0"/>
              </a:spcBef>
              <a:spcAft>
                <a:spcPts val="0"/>
              </a:spcAft>
              <a:buClr>
                <a:schemeClr val="lt1"/>
              </a:buClr>
              <a:buSzPts val="1400"/>
              <a:buChar char="○"/>
            </a:pPr>
            <a:r>
              <a:rPr lang="en">
                <a:solidFill>
                  <a:schemeClr val="lt1"/>
                </a:solidFill>
              </a:rPr>
              <a:t>3rd night = 2 genres choices</a:t>
            </a:r>
            <a:endParaRPr>
              <a:solidFill>
                <a:schemeClr val="lt1"/>
              </a:solidFill>
            </a:endParaRPr>
          </a:p>
          <a:p>
            <a:pPr indent="0" lvl="0" marL="914400" rtl="0" algn="l">
              <a:lnSpc>
                <a:spcPct val="150000"/>
              </a:lnSpc>
              <a:spcBef>
                <a:spcPts val="0"/>
              </a:spcBef>
              <a:spcAft>
                <a:spcPts val="0"/>
              </a:spcAft>
              <a:buSzPts val="1800"/>
              <a:buNone/>
            </a:pPr>
            <a:r>
              <a:rPr lang="en">
                <a:solidFill>
                  <a:schemeClr val="lt1"/>
                </a:solidFill>
              </a:rPr>
              <a:t>Total = 4 x 3 x 2 = 12</a:t>
            </a:r>
            <a:endParaRPr>
              <a:solidFill>
                <a:schemeClr val="lt1"/>
              </a:solidFill>
            </a:endParaRPr>
          </a:p>
          <a:p>
            <a:pPr indent="0" lvl="0" marL="0" rtl="0" algn="l">
              <a:lnSpc>
                <a:spcPct val="150000"/>
              </a:lnSpc>
              <a:spcBef>
                <a:spcPts val="0"/>
              </a:spcBef>
              <a:spcAft>
                <a:spcPts val="0"/>
              </a:spcAft>
              <a:buSzPts val="1800"/>
              <a:buNone/>
            </a:pPr>
            <a:r>
              <a:rPr lang="en">
                <a:solidFill>
                  <a:schemeClr val="lt1"/>
                </a:solidFill>
              </a:rPr>
              <a:t>This seems familiar? </a:t>
            </a:r>
            <a:endParaRPr>
              <a:solidFill>
                <a:schemeClr val="lt1"/>
              </a:solidFill>
            </a:endParaRPr>
          </a:p>
          <a:p>
            <a:pPr indent="0" lvl="0" marL="0" rtl="0" algn="l">
              <a:lnSpc>
                <a:spcPct val="150000"/>
              </a:lnSpc>
              <a:spcBef>
                <a:spcPts val="0"/>
              </a:spcBef>
              <a:spcAft>
                <a:spcPts val="0"/>
              </a:spcAft>
              <a:buSzPts val="1800"/>
              <a:buNone/>
            </a:pPr>
            <a:r>
              <a:rPr lang="en">
                <a:solidFill>
                  <a:schemeClr val="lt1"/>
                </a:solidFill>
              </a:rPr>
              <a:t>	Yes these are factorials. </a:t>
            </a:r>
            <a:endParaRPr>
              <a:solidFill>
                <a:schemeClr val="lt1"/>
              </a:solidFill>
            </a:endParaRPr>
          </a:p>
        </p:txBody>
      </p:sp>
      <p:sp>
        <p:nvSpPr>
          <p:cNvPr id="1907" name="Google Shape;1907;p1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Permutations</a:t>
            </a:r>
            <a:endParaRPr/>
          </a:p>
        </p:txBody>
      </p:sp>
      <p:sp>
        <p:nvSpPr>
          <p:cNvPr id="1908" name="Google Shape;1908;p15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
        <p:nvSpPr>
          <p:cNvPr id="1913" name="Google Shape;1913;p153"/>
          <p:cNvSpPr txBox="1"/>
          <p:nvPr>
            <p:ph idx="1" type="body"/>
          </p:nvPr>
        </p:nvSpPr>
        <p:spPr>
          <a:xfrm>
            <a:off x="311700" y="1152475"/>
            <a:ext cx="8520600" cy="3768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19145" lvl="0" marL="457200" rtl="0" algn="l">
              <a:lnSpc>
                <a:spcPct val="150000"/>
              </a:lnSpc>
              <a:spcBef>
                <a:spcPts val="0"/>
              </a:spcBef>
              <a:spcAft>
                <a:spcPts val="0"/>
              </a:spcAft>
              <a:buClr>
                <a:schemeClr val="lt1"/>
              </a:buClr>
              <a:buSzPts val="1426"/>
              <a:buChar char="●"/>
            </a:pPr>
            <a:r>
              <a:rPr lang="en" sz="1625">
                <a:solidFill>
                  <a:schemeClr val="lt1"/>
                </a:solidFill>
              </a:rPr>
              <a:t>To find the number of permutations, we can use the factorial notation. The number of permutations P of n items taken r at a time is calculated as:</a:t>
            </a:r>
            <a:endParaRPr sz="1625">
              <a:solidFill>
                <a:schemeClr val="lt1"/>
              </a:solidFill>
            </a:endParaRPr>
          </a:p>
          <a:p>
            <a:pPr indent="0" lvl="0" marL="457200" rtl="0" algn="l">
              <a:lnSpc>
                <a:spcPct val="150000"/>
              </a:lnSpc>
              <a:spcBef>
                <a:spcPts val="0"/>
              </a:spcBef>
              <a:spcAft>
                <a:spcPts val="0"/>
              </a:spcAft>
              <a:buSzPts val="1800"/>
              <a:buNone/>
            </a:pPr>
            <a:r>
              <a:t/>
            </a:r>
            <a:endParaRPr sz="1625">
              <a:solidFill>
                <a:schemeClr val="lt1"/>
              </a:solidFill>
            </a:endParaRPr>
          </a:p>
          <a:p>
            <a:pPr indent="0" lvl="0" marL="0" rtl="0" algn="l">
              <a:lnSpc>
                <a:spcPct val="115000"/>
              </a:lnSpc>
              <a:spcBef>
                <a:spcPts val="1200"/>
              </a:spcBef>
              <a:spcAft>
                <a:spcPts val="0"/>
              </a:spcAft>
              <a:buSzPts val="1800"/>
              <a:buNone/>
            </a:pPr>
            <a:r>
              <a:rPr lang="en" sz="1625">
                <a:solidFill>
                  <a:schemeClr val="lt1"/>
                </a:solidFill>
              </a:rPr>
              <a:t>In Anna's case:</a:t>
            </a:r>
            <a:endParaRPr sz="1625">
              <a:solidFill>
                <a:schemeClr val="lt1"/>
              </a:solidFill>
            </a:endParaRPr>
          </a:p>
          <a:p>
            <a:pPr indent="-331845" lvl="0" marL="457200" rtl="0" algn="l">
              <a:lnSpc>
                <a:spcPct val="115000"/>
              </a:lnSpc>
              <a:spcBef>
                <a:spcPts val="1200"/>
              </a:spcBef>
              <a:spcAft>
                <a:spcPts val="0"/>
              </a:spcAft>
              <a:buClr>
                <a:schemeClr val="lt1"/>
              </a:buClr>
              <a:buSzPts val="1626"/>
              <a:buChar char="●"/>
            </a:pPr>
            <a:r>
              <a:rPr lang="en" sz="1625">
                <a:solidFill>
                  <a:schemeClr val="lt1"/>
                </a:solidFill>
              </a:rPr>
              <a:t>n = 4 (total number of genres)</a:t>
            </a:r>
            <a:endParaRPr sz="1625">
              <a:solidFill>
                <a:schemeClr val="lt1"/>
              </a:solidFill>
            </a:endParaRPr>
          </a:p>
          <a:p>
            <a:pPr indent="-331845" lvl="0" marL="457200" rtl="0" algn="l">
              <a:lnSpc>
                <a:spcPct val="115000"/>
              </a:lnSpc>
              <a:spcBef>
                <a:spcPts val="0"/>
              </a:spcBef>
              <a:spcAft>
                <a:spcPts val="0"/>
              </a:spcAft>
              <a:buClr>
                <a:schemeClr val="lt1"/>
              </a:buClr>
              <a:buSzPts val="1626"/>
              <a:buChar char="●"/>
            </a:pPr>
            <a:r>
              <a:rPr lang="en" sz="1625">
                <a:solidFill>
                  <a:schemeClr val="lt1"/>
                </a:solidFill>
              </a:rPr>
              <a:t>r = 2 (number of nights she plans to watch)</a:t>
            </a:r>
            <a:endParaRPr sz="1625">
              <a:solidFill>
                <a:schemeClr val="lt1"/>
              </a:solidFill>
            </a:endParaRPr>
          </a:p>
          <a:p>
            <a:pPr indent="0" lvl="0" marL="0" rtl="0" algn="l">
              <a:lnSpc>
                <a:spcPct val="115000"/>
              </a:lnSpc>
              <a:spcBef>
                <a:spcPts val="1200"/>
              </a:spcBef>
              <a:spcAft>
                <a:spcPts val="0"/>
              </a:spcAft>
              <a:buSzPts val="1800"/>
              <a:buNone/>
            </a:pPr>
            <a:r>
              <a:rPr lang="en" sz="1625">
                <a:solidFill>
                  <a:schemeClr val="lt1"/>
                </a:solidFill>
              </a:rPr>
              <a:t>Therefore, the number of permutations of watching different genres over 2 nights is:</a:t>
            </a:r>
            <a:endParaRPr sz="1625">
              <a:solidFill>
                <a:schemeClr val="lt1"/>
              </a:solidFill>
            </a:endParaRPr>
          </a:p>
          <a:p>
            <a:pPr indent="0" lvl="0" marL="0" rtl="0" algn="l">
              <a:lnSpc>
                <a:spcPct val="115000"/>
              </a:lnSpc>
              <a:spcBef>
                <a:spcPts val="1200"/>
              </a:spcBef>
              <a:spcAft>
                <a:spcPts val="0"/>
              </a:spcAft>
              <a:buSzPts val="1800"/>
              <a:buNone/>
            </a:pPr>
            <a:r>
              <a:t/>
            </a:r>
            <a:endParaRPr sz="1625">
              <a:solidFill>
                <a:schemeClr val="lt1"/>
              </a:solidFill>
            </a:endParaRPr>
          </a:p>
          <a:p>
            <a:pPr indent="0" lvl="0" marL="0" rtl="0" algn="l">
              <a:lnSpc>
                <a:spcPct val="115000"/>
              </a:lnSpc>
              <a:spcBef>
                <a:spcPts val="1200"/>
              </a:spcBef>
              <a:spcAft>
                <a:spcPts val="0"/>
              </a:spcAft>
              <a:buSzPts val="1800"/>
              <a:buNone/>
            </a:pPr>
            <a:r>
              <a:t/>
            </a:r>
            <a:endParaRPr sz="1625">
              <a:solidFill>
                <a:schemeClr val="lt1"/>
              </a:solidFill>
            </a:endParaRPr>
          </a:p>
          <a:p>
            <a:pPr indent="-254000" lvl="0" marL="457200" rtl="0" algn="l">
              <a:lnSpc>
                <a:spcPct val="150000"/>
              </a:lnSpc>
              <a:spcBef>
                <a:spcPts val="1200"/>
              </a:spcBef>
              <a:spcAft>
                <a:spcPts val="0"/>
              </a:spcAft>
              <a:buClr>
                <a:schemeClr val="lt1"/>
              </a:buClr>
              <a:buSzPts val="400"/>
              <a:buChar char="●"/>
            </a:pPr>
            <a:r>
              <a:rPr lang="en" sz="400">
                <a:solidFill>
                  <a:schemeClr val="lt1"/>
                </a:solidFill>
              </a:rPr>
              <a:t> </a:t>
            </a:r>
            <a:endParaRPr sz="400">
              <a:solidFill>
                <a:schemeClr val="lt1"/>
              </a:solidFill>
            </a:endParaRPr>
          </a:p>
        </p:txBody>
      </p:sp>
      <p:sp>
        <p:nvSpPr>
          <p:cNvPr id="1914" name="Google Shape;1914;p1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Permutations</a:t>
            </a:r>
            <a:endParaRPr/>
          </a:p>
        </p:txBody>
      </p:sp>
      <p:sp>
        <p:nvSpPr>
          <p:cNvPr id="1915" name="Google Shape;1915;p15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1916" name="Google Shape;1916;p153"/>
          <p:cNvPicPr preferRelativeResize="0"/>
          <p:nvPr/>
        </p:nvPicPr>
        <p:blipFill rotWithShape="1">
          <a:blip r:embed="rId3">
            <a:alphaModFix/>
          </a:blip>
          <a:srcRect b="0" l="0" r="0" t="0"/>
          <a:stretch/>
        </p:blipFill>
        <p:spPr>
          <a:xfrm>
            <a:off x="3386148" y="2209800"/>
            <a:ext cx="1876346" cy="572700"/>
          </a:xfrm>
          <a:prstGeom prst="rect">
            <a:avLst/>
          </a:prstGeom>
          <a:noFill/>
          <a:ln>
            <a:noFill/>
          </a:ln>
        </p:spPr>
      </p:pic>
      <p:pic>
        <p:nvPicPr>
          <p:cNvPr id="1917" name="Google Shape;1917;p153"/>
          <p:cNvPicPr preferRelativeResize="0"/>
          <p:nvPr/>
        </p:nvPicPr>
        <p:blipFill rotWithShape="1">
          <a:blip r:embed="rId4">
            <a:alphaModFix/>
          </a:blip>
          <a:srcRect b="0" l="0" r="0" t="0"/>
          <a:stretch/>
        </p:blipFill>
        <p:spPr>
          <a:xfrm>
            <a:off x="2336073" y="4067000"/>
            <a:ext cx="4384799" cy="6323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1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 4 x 3 = 12</a:t>
            </a:r>
            <a:endParaRPr>
              <a:solidFill>
                <a:schemeClr val="lt1"/>
              </a:solidFill>
            </a:endParaRPr>
          </a:p>
        </p:txBody>
      </p:sp>
      <p:sp>
        <p:nvSpPr>
          <p:cNvPr id="1923" name="Google Shape;1923;p154"/>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24" name="Google Shape;1924;p1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Permutations</a:t>
            </a:r>
            <a:endParaRPr/>
          </a:p>
        </p:txBody>
      </p:sp>
      <p:sp>
        <p:nvSpPr>
          <p:cNvPr id="1925" name="Google Shape;1925;p15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926" name="Google Shape;1926;p154"/>
          <p:cNvGrpSpPr/>
          <p:nvPr/>
        </p:nvGrpSpPr>
        <p:grpSpPr>
          <a:xfrm>
            <a:off x="311700" y="2102725"/>
            <a:ext cx="8690700" cy="813600"/>
            <a:chOff x="311700" y="3187600"/>
            <a:chExt cx="8690700" cy="813600"/>
          </a:xfrm>
        </p:grpSpPr>
        <p:sp>
          <p:nvSpPr>
            <p:cNvPr id="1927" name="Google Shape;1927;p154"/>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28" name="Google Shape;1928;p154"/>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29" name="Google Shape;1929;p154"/>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30" name="Google Shape;1930;p154"/>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31" name="Google Shape;1931;p154"/>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932" name="Google Shape;1932;p154"/>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933" name="Google Shape;1933;p154"/>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934" name="Google Shape;1934;p154"/>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1935" name="Google Shape;1935;p154"/>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1936" name="Google Shape;1936;p154"/>
          <p:cNvGrpSpPr/>
          <p:nvPr/>
        </p:nvGrpSpPr>
        <p:grpSpPr>
          <a:xfrm>
            <a:off x="311700" y="3524025"/>
            <a:ext cx="8690700" cy="813600"/>
            <a:chOff x="311700" y="3187600"/>
            <a:chExt cx="8690700" cy="813600"/>
          </a:xfrm>
        </p:grpSpPr>
        <p:sp>
          <p:nvSpPr>
            <p:cNvPr id="1937" name="Google Shape;1937;p154"/>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38" name="Google Shape;1938;p154"/>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39" name="Google Shape;1939;p154"/>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40" name="Google Shape;1940;p154"/>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41" name="Google Shape;1941;p154"/>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1942" name="Google Shape;1942;p154"/>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1943" name="Google Shape;1943;p154"/>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1944" name="Google Shape;1944;p154"/>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1945" name="Google Shape;1945;p154"/>
          <p:cNvGrpSpPr/>
          <p:nvPr/>
        </p:nvGrpSpPr>
        <p:grpSpPr>
          <a:xfrm>
            <a:off x="1687075" y="3565425"/>
            <a:ext cx="397200" cy="461700"/>
            <a:chOff x="1687075" y="3565425"/>
            <a:chExt cx="397200" cy="461700"/>
          </a:xfrm>
        </p:grpSpPr>
        <p:sp>
          <p:nvSpPr>
            <p:cNvPr id="1946" name="Google Shape;1946;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47" name="Google Shape;1947;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948" name="Google Shape;1948;p154"/>
          <p:cNvGrpSpPr/>
          <p:nvPr/>
        </p:nvGrpSpPr>
        <p:grpSpPr>
          <a:xfrm>
            <a:off x="4067350" y="3565425"/>
            <a:ext cx="397200" cy="461700"/>
            <a:chOff x="1687075" y="3565425"/>
            <a:chExt cx="397200" cy="461700"/>
          </a:xfrm>
        </p:grpSpPr>
        <p:sp>
          <p:nvSpPr>
            <p:cNvPr id="1949" name="Google Shape;1949;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50" name="Google Shape;1950;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951" name="Google Shape;1951;p154"/>
          <p:cNvGrpSpPr/>
          <p:nvPr/>
        </p:nvGrpSpPr>
        <p:grpSpPr>
          <a:xfrm>
            <a:off x="6321725" y="3565425"/>
            <a:ext cx="397200" cy="461700"/>
            <a:chOff x="1687075" y="3565425"/>
            <a:chExt cx="397200" cy="461700"/>
          </a:xfrm>
        </p:grpSpPr>
        <p:sp>
          <p:nvSpPr>
            <p:cNvPr id="1952" name="Google Shape;1952;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53" name="Google Shape;1953;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1954" name="Google Shape;1954;p154"/>
          <p:cNvGrpSpPr/>
          <p:nvPr/>
        </p:nvGrpSpPr>
        <p:grpSpPr>
          <a:xfrm>
            <a:off x="8576100" y="3565425"/>
            <a:ext cx="397200" cy="461700"/>
            <a:chOff x="1687075" y="3565425"/>
            <a:chExt cx="397200" cy="461700"/>
          </a:xfrm>
        </p:grpSpPr>
        <p:sp>
          <p:nvSpPr>
            <p:cNvPr id="1955" name="Google Shape;1955;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56" name="Google Shape;1956;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cxnSp>
        <p:nvCxnSpPr>
          <p:cNvPr id="1957" name="Google Shape;1957;p154"/>
          <p:cNvCxnSpPr>
            <a:stCxn id="1958" idx="2"/>
            <a:endCxn id="1947" idx="0"/>
          </p:cNvCxnSpPr>
          <p:nvPr/>
        </p:nvCxnSpPr>
        <p:spPr>
          <a:xfrm flipH="1">
            <a:off x="1885800" y="2564425"/>
            <a:ext cx="6888900" cy="1001100"/>
          </a:xfrm>
          <a:prstGeom prst="straightConnector1">
            <a:avLst/>
          </a:prstGeom>
          <a:noFill/>
          <a:ln cap="flat" cmpd="sng" w="28575">
            <a:solidFill>
              <a:srgbClr val="FFFFFF"/>
            </a:solidFill>
            <a:prstDash val="solid"/>
            <a:round/>
            <a:headEnd len="sm" w="sm" type="none"/>
            <a:tailEnd len="sm" w="sm" type="none"/>
          </a:ln>
        </p:spPr>
      </p:cxnSp>
      <p:cxnSp>
        <p:nvCxnSpPr>
          <p:cNvPr id="1959" name="Google Shape;1959;p154"/>
          <p:cNvCxnSpPr>
            <a:stCxn id="1958" idx="2"/>
            <a:endCxn id="1953" idx="0"/>
          </p:cNvCxnSpPr>
          <p:nvPr/>
        </p:nvCxnSpPr>
        <p:spPr>
          <a:xfrm flipH="1">
            <a:off x="6520200" y="2564425"/>
            <a:ext cx="2254500" cy="1001100"/>
          </a:xfrm>
          <a:prstGeom prst="straightConnector1">
            <a:avLst/>
          </a:prstGeom>
          <a:noFill/>
          <a:ln cap="flat" cmpd="sng" w="28575">
            <a:solidFill>
              <a:srgbClr val="FFFFFF"/>
            </a:solidFill>
            <a:prstDash val="solid"/>
            <a:round/>
            <a:headEnd len="sm" w="sm" type="none"/>
            <a:tailEnd len="sm" w="sm" type="none"/>
          </a:ln>
        </p:spPr>
      </p:cxnSp>
      <p:cxnSp>
        <p:nvCxnSpPr>
          <p:cNvPr id="1960" name="Google Shape;1960;p154"/>
          <p:cNvCxnSpPr>
            <a:stCxn id="1958" idx="2"/>
            <a:endCxn id="1950" idx="0"/>
          </p:cNvCxnSpPr>
          <p:nvPr/>
        </p:nvCxnSpPr>
        <p:spPr>
          <a:xfrm flipH="1">
            <a:off x="4266000" y="2564425"/>
            <a:ext cx="4508700" cy="1001100"/>
          </a:xfrm>
          <a:prstGeom prst="straightConnector1">
            <a:avLst/>
          </a:prstGeom>
          <a:noFill/>
          <a:ln cap="flat" cmpd="sng" w="28575">
            <a:solidFill>
              <a:srgbClr val="FFFFFF"/>
            </a:solidFill>
            <a:prstDash val="solid"/>
            <a:round/>
            <a:headEnd len="sm" w="sm" type="none"/>
            <a:tailEnd len="sm" w="sm" type="none"/>
          </a:ln>
        </p:spPr>
      </p:cxnSp>
      <p:grpSp>
        <p:nvGrpSpPr>
          <p:cNvPr id="1961" name="Google Shape;1961;p154"/>
          <p:cNvGrpSpPr/>
          <p:nvPr/>
        </p:nvGrpSpPr>
        <p:grpSpPr>
          <a:xfrm>
            <a:off x="8576100" y="2102725"/>
            <a:ext cx="397200" cy="461700"/>
            <a:chOff x="1687075" y="3565425"/>
            <a:chExt cx="397200" cy="461700"/>
          </a:xfrm>
        </p:grpSpPr>
        <p:sp>
          <p:nvSpPr>
            <p:cNvPr id="1962" name="Google Shape;1962;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58" name="Google Shape;1958;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963" name="Google Shape;1963;p154"/>
          <p:cNvCxnSpPr>
            <a:stCxn id="1964" idx="2"/>
          </p:cNvCxnSpPr>
          <p:nvPr/>
        </p:nvCxnSpPr>
        <p:spPr>
          <a:xfrm flipH="1">
            <a:off x="1885600" y="2639925"/>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965" name="Google Shape;1965;p154"/>
          <p:cNvCxnSpPr>
            <a:stCxn id="1964" idx="2"/>
          </p:cNvCxnSpPr>
          <p:nvPr/>
        </p:nvCxnSpPr>
        <p:spPr>
          <a:xfrm flipH="1">
            <a:off x="426580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966" name="Google Shape;1966;p154"/>
          <p:cNvCxnSpPr>
            <a:stCxn id="1964"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1967" name="Google Shape;1967;p154"/>
          <p:cNvGrpSpPr/>
          <p:nvPr/>
        </p:nvGrpSpPr>
        <p:grpSpPr>
          <a:xfrm>
            <a:off x="6321700" y="2178225"/>
            <a:ext cx="397200" cy="461700"/>
            <a:chOff x="1687075" y="3565425"/>
            <a:chExt cx="397200" cy="461700"/>
          </a:xfrm>
        </p:grpSpPr>
        <p:sp>
          <p:nvSpPr>
            <p:cNvPr id="1968" name="Google Shape;1968;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64" name="Google Shape;1964;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969" name="Google Shape;1969;p154"/>
          <p:cNvCxnSpPr>
            <a:stCxn id="1970" idx="2"/>
          </p:cNvCxnSpPr>
          <p:nvPr/>
        </p:nvCxnSpPr>
        <p:spPr>
          <a:xfrm flipH="1">
            <a:off x="1885750" y="2639925"/>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971" name="Google Shape;1971;p154"/>
          <p:cNvCxnSpPr>
            <a:stCxn id="1970"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1972" name="Google Shape;1972;p154"/>
          <p:cNvCxnSpPr>
            <a:stCxn id="1970"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1973" name="Google Shape;1973;p154"/>
          <p:cNvGrpSpPr/>
          <p:nvPr/>
        </p:nvGrpSpPr>
        <p:grpSpPr>
          <a:xfrm>
            <a:off x="4067350" y="2178225"/>
            <a:ext cx="397200" cy="461700"/>
            <a:chOff x="1687075" y="3565425"/>
            <a:chExt cx="397200" cy="461700"/>
          </a:xfrm>
        </p:grpSpPr>
        <p:sp>
          <p:nvSpPr>
            <p:cNvPr id="1974" name="Google Shape;1974;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70" name="Google Shape;1970;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1975" name="Google Shape;1975;p154"/>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1976" name="Google Shape;1976;p154"/>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1977" name="Google Shape;1977;p154"/>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1978" name="Google Shape;1978;p154"/>
          <p:cNvGrpSpPr/>
          <p:nvPr/>
        </p:nvGrpSpPr>
        <p:grpSpPr>
          <a:xfrm>
            <a:off x="1687075" y="2178075"/>
            <a:ext cx="397200" cy="461700"/>
            <a:chOff x="1687075" y="3565425"/>
            <a:chExt cx="397200" cy="461700"/>
          </a:xfrm>
        </p:grpSpPr>
        <p:sp>
          <p:nvSpPr>
            <p:cNvPr id="1979" name="Google Shape;1979;p154"/>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80" name="Google Shape;1980;p154"/>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4" name="Shape 1984"/>
        <p:cNvGrpSpPr/>
        <p:nvPr/>
      </p:nvGrpSpPr>
      <p:grpSpPr>
        <a:xfrm>
          <a:off x="0" y="0"/>
          <a:ext cx="0" cy="0"/>
          <a:chOff x="0" y="0"/>
          <a:chExt cx="0" cy="0"/>
        </a:xfrm>
      </p:grpSpPr>
      <p:sp>
        <p:nvSpPr>
          <p:cNvPr id="1985" name="Google Shape;1985;p1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ial"/>
              <a:buNone/>
            </a:pPr>
            <a:r>
              <a:rPr lang="en"/>
              <a:t>Combinations</a:t>
            </a:r>
            <a:endParaRPr/>
          </a:p>
          <a:p>
            <a:pPr indent="0" lvl="0" marL="0" rtl="0" algn="l">
              <a:lnSpc>
                <a:spcPct val="100000"/>
              </a:lnSpc>
              <a:spcBef>
                <a:spcPts val="0"/>
              </a:spcBef>
              <a:spcAft>
                <a:spcPts val="0"/>
              </a:spcAft>
              <a:buSzPts val="3200"/>
              <a:buNone/>
            </a:pPr>
            <a:r>
              <a:t/>
            </a:r>
            <a:endParaRPr/>
          </a:p>
        </p:txBody>
      </p:sp>
      <p:sp>
        <p:nvSpPr>
          <p:cNvPr id="1986" name="Google Shape;1986;p15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1987" name="Google Shape;1987;p1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23335" lvl="0" marL="457200" rtl="0" algn="l">
              <a:lnSpc>
                <a:spcPct val="150000"/>
              </a:lnSpc>
              <a:spcBef>
                <a:spcPts val="0"/>
              </a:spcBef>
              <a:spcAft>
                <a:spcPts val="0"/>
              </a:spcAft>
              <a:buClr>
                <a:schemeClr val="lt1"/>
              </a:buClr>
              <a:buSzPts val="1492"/>
              <a:buChar char="●"/>
            </a:pPr>
            <a:r>
              <a:rPr lang="en" sz="1691">
                <a:solidFill>
                  <a:schemeClr val="lt1"/>
                </a:solidFill>
              </a:rPr>
              <a:t>Definition: Combinations are selections of objects where the order does not matter.</a:t>
            </a:r>
            <a:endParaRPr sz="1691">
              <a:solidFill>
                <a:schemeClr val="lt1"/>
              </a:solidFill>
            </a:endParaRPr>
          </a:p>
          <a:p>
            <a:pPr indent="-323335" lvl="0" marL="457200" rtl="0" algn="l">
              <a:lnSpc>
                <a:spcPct val="100000"/>
              </a:lnSpc>
              <a:spcBef>
                <a:spcPts val="0"/>
              </a:spcBef>
              <a:spcAft>
                <a:spcPts val="0"/>
              </a:spcAft>
              <a:buClr>
                <a:schemeClr val="lt1"/>
              </a:buClr>
              <a:buSzPts val="1492"/>
              <a:buChar char="●"/>
            </a:pPr>
            <a:r>
              <a:rPr lang="en" sz="1691">
                <a:solidFill>
                  <a:schemeClr val="lt1"/>
                </a:solidFill>
              </a:rPr>
              <a:t>Factorial Notation: In combinatorics, combinations are often calculated using factorial notation, specifically the combination formula:</a:t>
            </a:r>
            <a:br>
              <a:rPr lang="en" sz="1691">
                <a:solidFill>
                  <a:schemeClr val="lt1"/>
                </a:solidFill>
              </a:rPr>
            </a:br>
            <a:endParaRPr sz="1691">
              <a:solidFill>
                <a:schemeClr val="lt1"/>
              </a:solidFill>
            </a:endParaRPr>
          </a:p>
          <a:p>
            <a:pPr indent="0" lvl="0" marL="457200" rtl="0" algn="l">
              <a:lnSpc>
                <a:spcPct val="100000"/>
              </a:lnSpc>
              <a:spcBef>
                <a:spcPts val="0"/>
              </a:spcBef>
              <a:spcAft>
                <a:spcPts val="0"/>
              </a:spcAft>
              <a:buSzPts val="1800"/>
              <a:buNone/>
            </a:pPr>
            <a:br>
              <a:rPr lang="en" sz="1691">
                <a:solidFill>
                  <a:schemeClr val="lt1"/>
                </a:solidFill>
              </a:rPr>
            </a:br>
            <a:r>
              <a:rPr lang="en" sz="1691">
                <a:solidFill>
                  <a:schemeClr val="lt1"/>
                </a:solidFill>
              </a:rPr>
              <a:t>Where:</a:t>
            </a:r>
            <a:endParaRPr sz="1691">
              <a:solidFill>
                <a:schemeClr val="lt1"/>
              </a:solidFill>
            </a:endParaRPr>
          </a:p>
          <a:p>
            <a:pPr indent="-317500" lvl="1" marL="914400" rtl="0" algn="l">
              <a:lnSpc>
                <a:spcPct val="115000"/>
              </a:lnSpc>
              <a:spcBef>
                <a:spcPts val="1600"/>
              </a:spcBef>
              <a:spcAft>
                <a:spcPts val="0"/>
              </a:spcAft>
              <a:buClr>
                <a:schemeClr val="lt1"/>
              </a:buClr>
              <a:buSzPts val="1400"/>
              <a:buChar char="○"/>
            </a:pPr>
            <a:r>
              <a:rPr lang="en">
                <a:solidFill>
                  <a:schemeClr val="lt1"/>
                </a:solidFill>
              </a:rPr>
              <a:t>n is the total number of items (genres in Anna's case).</a:t>
            </a:r>
            <a:endParaRPr>
              <a:solidFill>
                <a:schemeClr val="lt1"/>
              </a:solidFill>
            </a:endParaRPr>
          </a:p>
          <a:p>
            <a:pPr indent="-317500" lvl="1" marL="914400" rtl="0" algn="l">
              <a:lnSpc>
                <a:spcPct val="115000"/>
              </a:lnSpc>
              <a:spcBef>
                <a:spcPts val="0"/>
              </a:spcBef>
              <a:spcAft>
                <a:spcPts val="0"/>
              </a:spcAft>
              <a:buClr>
                <a:schemeClr val="lt1"/>
              </a:buClr>
              <a:buSzPts val="1400"/>
              <a:buChar char="○"/>
            </a:pPr>
            <a:r>
              <a:rPr lang="en">
                <a:solidFill>
                  <a:schemeClr val="lt1"/>
                </a:solidFill>
              </a:rPr>
              <a:t>r is the number of items to choose (number of nights Anna wants to watch).</a:t>
            </a:r>
            <a:endParaRPr>
              <a:solidFill>
                <a:schemeClr val="lt1"/>
              </a:solidFill>
            </a:endParaRPr>
          </a:p>
          <a:p>
            <a:pPr indent="0" lvl="0" marL="457200" rtl="0" algn="l">
              <a:lnSpc>
                <a:spcPct val="150000"/>
              </a:lnSpc>
              <a:spcBef>
                <a:spcPts val="1600"/>
              </a:spcBef>
              <a:spcAft>
                <a:spcPts val="0"/>
              </a:spcAft>
              <a:buSzPts val="1800"/>
              <a:buNone/>
            </a:pPr>
            <a:r>
              <a:t/>
            </a:r>
            <a:endParaRPr>
              <a:solidFill>
                <a:schemeClr val="lt1"/>
              </a:solidFill>
            </a:endParaRPr>
          </a:p>
        </p:txBody>
      </p:sp>
      <p:pic>
        <p:nvPicPr>
          <p:cNvPr id="1988" name="Google Shape;1988;p155"/>
          <p:cNvPicPr preferRelativeResize="0"/>
          <p:nvPr/>
        </p:nvPicPr>
        <p:blipFill rotWithShape="1">
          <a:blip r:embed="rId3">
            <a:alphaModFix/>
          </a:blip>
          <a:srcRect b="0" l="0" r="0" t="0"/>
          <a:stretch/>
        </p:blipFill>
        <p:spPr>
          <a:xfrm>
            <a:off x="3360550" y="2626300"/>
            <a:ext cx="2209800" cy="7239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2" name="Shape 1992"/>
        <p:cNvGrpSpPr/>
        <p:nvPr/>
      </p:nvGrpSpPr>
      <p:grpSpPr>
        <a:xfrm>
          <a:off x="0" y="0"/>
          <a:ext cx="0" cy="0"/>
          <a:chOff x="0" y="0"/>
          <a:chExt cx="0" cy="0"/>
        </a:xfrm>
      </p:grpSpPr>
      <p:sp>
        <p:nvSpPr>
          <p:cNvPr id="1993" name="Google Shape;1993;p1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1994" name="Google Shape;1994;p156"/>
          <p:cNvSpPr/>
          <p:nvPr/>
        </p:nvSpPr>
        <p:spPr>
          <a:xfrm>
            <a:off x="234100" y="1882500"/>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95" name="Google Shape;1995;p1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200"/>
              <a:buFont typeface="Arial"/>
              <a:buNone/>
            </a:pPr>
            <a:r>
              <a:rPr lang="en"/>
              <a:t>Combinations </a:t>
            </a:r>
            <a:endParaRPr/>
          </a:p>
          <a:p>
            <a:pPr indent="0" lvl="0" marL="0" rtl="0" algn="l">
              <a:lnSpc>
                <a:spcPct val="100000"/>
              </a:lnSpc>
              <a:spcBef>
                <a:spcPts val="0"/>
              </a:spcBef>
              <a:spcAft>
                <a:spcPts val="0"/>
              </a:spcAft>
              <a:buSzPts val="3200"/>
              <a:buNone/>
            </a:pPr>
            <a:r>
              <a:t/>
            </a:r>
            <a:endParaRPr/>
          </a:p>
        </p:txBody>
      </p:sp>
      <p:sp>
        <p:nvSpPr>
          <p:cNvPr id="1996" name="Google Shape;1996;p15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pSp>
        <p:nvGrpSpPr>
          <p:cNvPr id="1997" name="Google Shape;1997;p156"/>
          <p:cNvGrpSpPr/>
          <p:nvPr/>
        </p:nvGrpSpPr>
        <p:grpSpPr>
          <a:xfrm>
            <a:off x="311700" y="2102725"/>
            <a:ext cx="8690700" cy="813600"/>
            <a:chOff x="311700" y="3187600"/>
            <a:chExt cx="8690700" cy="813600"/>
          </a:xfrm>
        </p:grpSpPr>
        <p:sp>
          <p:nvSpPr>
            <p:cNvPr id="1998" name="Google Shape;1998;p156"/>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1999" name="Google Shape;1999;p156"/>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00" name="Google Shape;2000;p156"/>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01" name="Google Shape;2001;p156"/>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02" name="Google Shape;2002;p156"/>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003" name="Google Shape;2003;p156"/>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004" name="Google Shape;2004;p156"/>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005" name="Google Shape;2005;p156"/>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sp>
        <p:nvSpPr>
          <p:cNvPr id="2006" name="Google Shape;2006;p156"/>
          <p:cNvSpPr/>
          <p:nvPr/>
        </p:nvSpPr>
        <p:spPr>
          <a:xfrm>
            <a:off x="234100" y="3310875"/>
            <a:ext cx="8834100" cy="12399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grpSp>
        <p:nvGrpSpPr>
          <p:cNvPr id="2007" name="Google Shape;2007;p156"/>
          <p:cNvGrpSpPr/>
          <p:nvPr/>
        </p:nvGrpSpPr>
        <p:grpSpPr>
          <a:xfrm>
            <a:off x="311700" y="3524025"/>
            <a:ext cx="8690700" cy="813600"/>
            <a:chOff x="311700" y="3187600"/>
            <a:chExt cx="8690700" cy="813600"/>
          </a:xfrm>
        </p:grpSpPr>
        <p:sp>
          <p:nvSpPr>
            <p:cNvPr id="2008" name="Google Shape;2008;p156"/>
            <p:cNvSpPr/>
            <p:nvPr/>
          </p:nvSpPr>
          <p:spPr>
            <a:xfrm>
              <a:off x="311700" y="318760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09" name="Google Shape;2009;p156"/>
            <p:cNvSpPr/>
            <p:nvPr/>
          </p:nvSpPr>
          <p:spPr>
            <a:xfrm>
              <a:off x="2551475" y="3187600"/>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10" name="Google Shape;2010;p156"/>
            <p:cNvSpPr/>
            <p:nvPr/>
          </p:nvSpPr>
          <p:spPr>
            <a:xfrm>
              <a:off x="4793688" y="318760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11" name="Google Shape;2011;p156"/>
            <p:cNvSpPr/>
            <p:nvPr/>
          </p:nvSpPr>
          <p:spPr>
            <a:xfrm>
              <a:off x="7035900" y="3187600"/>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12" name="Google Shape;2012;p156"/>
            <p:cNvSpPr txBox="1"/>
            <p:nvPr/>
          </p:nvSpPr>
          <p:spPr>
            <a:xfrm>
              <a:off x="27900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013" name="Google Shape;2013;p156"/>
            <p:cNvSpPr txBox="1"/>
            <p:nvPr/>
          </p:nvSpPr>
          <p:spPr>
            <a:xfrm>
              <a:off x="847050" y="337885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014" name="Google Shape;2014;p156"/>
            <p:cNvSpPr txBox="1"/>
            <p:nvPr/>
          </p:nvSpPr>
          <p:spPr>
            <a:xfrm>
              <a:off x="5288838" y="337885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015" name="Google Shape;2015;p156"/>
            <p:cNvSpPr txBox="1"/>
            <p:nvPr/>
          </p:nvSpPr>
          <p:spPr>
            <a:xfrm>
              <a:off x="7315200" y="3378850"/>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grpSp>
      <p:grpSp>
        <p:nvGrpSpPr>
          <p:cNvPr id="2016" name="Google Shape;2016;p156"/>
          <p:cNvGrpSpPr/>
          <p:nvPr/>
        </p:nvGrpSpPr>
        <p:grpSpPr>
          <a:xfrm>
            <a:off x="1687075" y="3565425"/>
            <a:ext cx="397200" cy="461700"/>
            <a:chOff x="1687075" y="3565425"/>
            <a:chExt cx="397200" cy="461700"/>
          </a:xfrm>
        </p:grpSpPr>
        <p:sp>
          <p:nvSpPr>
            <p:cNvPr id="2017" name="Google Shape;2017;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18" name="Google Shape;2018;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2019" name="Google Shape;2019;p156"/>
          <p:cNvGrpSpPr/>
          <p:nvPr/>
        </p:nvGrpSpPr>
        <p:grpSpPr>
          <a:xfrm>
            <a:off x="4067350" y="3565425"/>
            <a:ext cx="397200" cy="461700"/>
            <a:chOff x="1687075" y="3565425"/>
            <a:chExt cx="397200" cy="461700"/>
          </a:xfrm>
        </p:grpSpPr>
        <p:sp>
          <p:nvSpPr>
            <p:cNvPr id="2020" name="Google Shape;2020;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21" name="Google Shape;2021;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2022" name="Google Shape;2022;p156"/>
          <p:cNvGrpSpPr/>
          <p:nvPr/>
        </p:nvGrpSpPr>
        <p:grpSpPr>
          <a:xfrm>
            <a:off x="6321725" y="3565425"/>
            <a:ext cx="397200" cy="461700"/>
            <a:chOff x="1687075" y="3565425"/>
            <a:chExt cx="397200" cy="461700"/>
          </a:xfrm>
        </p:grpSpPr>
        <p:sp>
          <p:nvSpPr>
            <p:cNvPr id="2023" name="Google Shape;2023;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24" name="Google Shape;2024;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2025" name="Google Shape;2025;p156"/>
          <p:cNvGrpSpPr/>
          <p:nvPr/>
        </p:nvGrpSpPr>
        <p:grpSpPr>
          <a:xfrm>
            <a:off x="8576100" y="3565425"/>
            <a:ext cx="397200" cy="461700"/>
            <a:chOff x="1687075" y="3565425"/>
            <a:chExt cx="397200" cy="461700"/>
          </a:xfrm>
        </p:grpSpPr>
        <p:sp>
          <p:nvSpPr>
            <p:cNvPr id="2026" name="Google Shape;2026;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27" name="Google Shape;2027;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2</a:t>
              </a:r>
              <a:endParaRPr b="0" i="0" sz="1800" u="none" cap="none" strike="noStrike">
                <a:solidFill>
                  <a:srgbClr val="FFFFFF"/>
                </a:solidFill>
                <a:latin typeface="Fira Sans"/>
                <a:ea typeface="Fira Sans"/>
                <a:cs typeface="Fira Sans"/>
                <a:sym typeface="Fira Sans"/>
              </a:endParaRPr>
            </a:p>
          </p:txBody>
        </p:sp>
      </p:grpSp>
      <p:grpSp>
        <p:nvGrpSpPr>
          <p:cNvPr id="2028" name="Google Shape;2028;p156"/>
          <p:cNvGrpSpPr/>
          <p:nvPr/>
        </p:nvGrpSpPr>
        <p:grpSpPr>
          <a:xfrm>
            <a:off x="8576100" y="2102725"/>
            <a:ext cx="397200" cy="461700"/>
            <a:chOff x="1687075" y="3565425"/>
            <a:chExt cx="397200" cy="461700"/>
          </a:xfrm>
        </p:grpSpPr>
        <p:sp>
          <p:nvSpPr>
            <p:cNvPr id="2029" name="Google Shape;2029;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30" name="Google Shape;2030;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2031" name="Google Shape;2031;p156"/>
          <p:cNvCxnSpPr>
            <a:stCxn id="2032" idx="2"/>
          </p:cNvCxnSpPr>
          <p:nvPr/>
        </p:nvCxnSpPr>
        <p:spPr>
          <a:xfrm>
            <a:off x="6520300" y="2639925"/>
            <a:ext cx="2254500" cy="925500"/>
          </a:xfrm>
          <a:prstGeom prst="straightConnector1">
            <a:avLst/>
          </a:prstGeom>
          <a:noFill/>
          <a:ln cap="flat" cmpd="sng" w="28575">
            <a:solidFill>
              <a:srgbClr val="FFFFFF"/>
            </a:solidFill>
            <a:prstDash val="solid"/>
            <a:round/>
            <a:headEnd len="sm" w="sm" type="none"/>
            <a:tailEnd len="sm" w="sm" type="none"/>
          </a:ln>
        </p:spPr>
      </p:cxnSp>
      <p:grpSp>
        <p:nvGrpSpPr>
          <p:cNvPr id="2033" name="Google Shape;2033;p156"/>
          <p:cNvGrpSpPr/>
          <p:nvPr/>
        </p:nvGrpSpPr>
        <p:grpSpPr>
          <a:xfrm>
            <a:off x="6321700" y="2178225"/>
            <a:ext cx="397200" cy="461700"/>
            <a:chOff x="1687075" y="3565425"/>
            <a:chExt cx="397200" cy="461700"/>
          </a:xfrm>
        </p:grpSpPr>
        <p:sp>
          <p:nvSpPr>
            <p:cNvPr id="2034" name="Google Shape;2034;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32" name="Google Shape;2032;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2035" name="Google Shape;2035;p156"/>
          <p:cNvCxnSpPr>
            <a:stCxn id="2036" idx="2"/>
          </p:cNvCxnSpPr>
          <p:nvPr/>
        </p:nvCxnSpPr>
        <p:spPr>
          <a:xfrm>
            <a:off x="4265950" y="2639925"/>
            <a:ext cx="2254500" cy="925500"/>
          </a:xfrm>
          <a:prstGeom prst="straightConnector1">
            <a:avLst/>
          </a:prstGeom>
          <a:noFill/>
          <a:ln cap="flat" cmpd="sng" w="28575">
            <a:solidFill>
              <a:srgbClr val="FFFFFF"/>
            </a:solidFill>
            <a:prstDash val="solid"/>
            <a:round/>
            <a:headEnd len="sm" w="sm" type="none"/>
            <a:tailEnd len="sm" w="sm" type="none"/>
          </a:ln>
        </p:spPr>
      </p:cxnSp>
      <p:cxnSp>
        <p:nvCxnSpPr>
          <p:cNvPr id="2037" name="Google Shape;2037;p156"/>
          <p:cNvCxnSpPr>
            <a:stCxn id="2036" idx="2"/>
          </p:cNvCxnSpPr>
          <p:nvPr/>
        </p:nvCxnSpPr>
        <p:spPr>
          <a:xfrm>
            <a:off x="4265950" y="2639925"/>
            <a:ext cx="4508700" cy="925500"/>
          </a:xfrm>
          <a:prstGeom prst="straightConnector1">
            <a:avLst/>
          </a:prstGeom>
          <a:noFill/>
          <a:ln cap="flat" cmpd="sng" w="28575">
            <a:solidFill>
              <a:srgbClr val="FFFFFF"/>
            </a:solidFill>
            <a:prstDash val="solid"/>
            <a:round/>
            <a:headEnd len="sm" w="sm" type="none"/>
            <a:tailEnd len="sm" w="sm" type="none"/>
          </a:ln>
        </p:spPr>
      </p:cxnSp>
      <p:grpSp>
        <p:nvGrpSpPr>
          <p:cNvPr id="2038" name="Google Shape;2038;p156"/>
          <p:cNvGrpSpPr/>
          <p:nvPr/>
        </p:nvGrpSpPr>
        <p:grpSpPr>
          <a:xfrm>
            <a:off x="4067350" y="2178225"/>
            <a:ext cx="397200" cy="461700"/>
            <a:chOff x="1687075" y="3565425"/>
            <a:chExt cx="397200" cy="461700"/>
          </a:xfrm>
        </p:grpSpPr>
        <p:sp>
          <p:nvSpPr>
            <p:cNvPr id="2039" name="Google Shape;2039;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36" name="Google Shape;2036;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cxnSp>
        <p:nvCxnSpPr>
          <p:cNvPr id="2040" name="Google Shape;2040;p156"/>
          <p:cNvCxnSpPr/>
          <p:nvPr/>
        </p:nvCxnSpPr>
        <p:spPr>
          <a:xfrm>
            <a:off x="1885675" y="2639850"/>
            <a:ext cx="4634700" cy="925500"/>
          </a:xfrm>
          <a:prstGeom prst="straightConnector1">
            <a:avLst/>
          </a:prstGeom>
          <a:noFill/>
          <a:ln cap="flat" cmpd="sng" w="28575">
            <a:solidFill>
              <a:srgbClr val="FFFFFF"/>
            </a:solidFill>
            <a:prstDash val="solid"/>
            <a:round/>
            <a:headEnd len="sm" w="sm" type="none"/>
            <a:tailEnd len="sm" w="sm" type="none"/>
          </a:ln>
        </p:spPr>
      </p:cxnSp>
      <p:cxnSp>
        <p:nvCxnSpPr>
          <p:cNvPr id="2041" name="Google Shape;2041;p156"/>
          <p:cNvCxnSpPr/>
          <p:nvPr/>
        </p:nvCxnSpPr>
        <p:spPr>
          <a:xfrm>
            <a:off x="1885675" y="2639850"/>
            <a:ext cx="2380200" cy="925500"/>
          </a:xfrm>
          <a:prstGeom prst="straightConnector1">
            <a:avLst/>
          </a:prstGeom>
          <a:noFill/>
          <a:ln cap="flat" cmpd="sng" w="28575">
            <a:solidFill>
              <a:srgbClr val="FFFFFF"/>
            </a:solidFill>
            <a:prstDash val="solid"/>
            <a:round/>
            <a:headEnd len="sm" w="sm" type="none"/>
            <a:tailEnd len="sm" w="sm" type="none"/>
          </a:ln>
        </p:spPr>
      </p:cxnSp>
      <p:cxnSp>
        <p:nvCxnSpPr>
          <p:cNvPr id="2042" name="Google Shape;2042;p156"/>
          <p:cNvCxnSpPr/>
          <p:nvPr/>
        </p:nvCxnSpPr>
        <p:spPr>
          <a:xfrm>
            <a:off x="1885675" y="2639850"/>
            <a:ext cx="6888900" cy="925500"/>
          </a:xfrm>
          <a:prstGeom prst="straightConnector1">
            <a:avLst/>
          </a:prstGeom>
          <a:noFill/>
          <a:ln cap="flat" cmpd="sng" w="28575">
            <a:solidFill>
              <a:srgbClr val="FFFFFF"/>
            </a:solidFill>
            <a:prstDash val="solid"/>
            <a:round/>
            <a:headEnd len="sm" w="sm" type="none"/>
            <a:tailEnd len="sm" w="sm" type="none"/>
          </a:ln>
        </p:spPr>
      </p:cxnSp>
      <p:grpSp>
        <p:nvGrpSpPr>
          <p:cNvPr id="2043" name="Google Shape;2043;p156"/>
          <p:cNvGrpSpPr/>
          <p:nvPr/>
        </p:nvGrpSpPr>
        <p:grpSpPr>
          <a:xfrm>
            <a:off x="1687075" y="2178075"/>
            <a:ext cx="397200" cy="461700"/>
            <a:chOff x="1687075" y="3565425"/>
            <a:chExt cx="397200" cy="461700"/>
          </a:xfrm>
        </p:grpSpPr>
        <p:sp>
          <p:nvSpPr>
            <p:cNvPr id="2044" name="Google Shape;2044;p156"/>
            <p:cNvSpPr/>
            <p:nvPr/>
          </p:nvSpPr>
          <p:spPr>
            <a:xfrm>
              <a:off x="1687075" y="3599475"/>
              <a:ext cx="397200" cy="393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45" name="Google Shape;2045;p156"/>
            <p:cNvSpPr txBox="1"/>
            <p:nvPr/>
          </p:nvSpPr>
          <p:spPr>
            <a:xfrm>
              <a:off x="1687075" y="3565425"/>
              <a:ext cx="39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 1</a:t>
              </a:r>
              <a:endParaRPr b="0" i="0" sz="1800" u="none" cap="none" strike="noStrike">
                <a:solidFill>
                  <a:srgbClr val="FFFFFF"/>
                </a:solidFill>
                <a:latin typeface="Fira Sans"/>
                <a:ea typeface="Fira Sans"/>
                <a:cs typeface="Fira Sans"/>
                <a:sym typeface="Fira Sans"/>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sp>
        <p:nvSpPr>
          <p:cNvPr id="2050" name="Google Shape;2050;p1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Clr>
                <a:schemeClr val="lt1"/>
              </a:buClr>
              <a:buSzPts val="1400"/>
              <a:buChar char="●"/>
            </a:pPr>
            <a:r>
              <a:rPr lang="en" sz="1600">
                <a:solidFill>
                  <a:schemeClr val="lt1"/>
                </a:solidFill>
              </a:rPr>
              <a:t>Scenario: Anna has 4 genres available (drama, comedy, action, documentary) and wants to select 2 genres to watch over the course of her movie nights.</a:t>
            </a:r>
            <a:endParaRPr sz="1600">
              <a:solidFill>
                <a:schemeClr val="lt1"/>
              </a:solidFill>
            </a:endParaRPr>
          </a:p>
        </p:txBody>
      </p:sp>
      <p:sp>
        <p:nvSpPr>
          <p:cNvPr id="2051" name="Google Shape;2051;p157"/>
          <p:cNvSpPr/>
          <p:nvPr/>
        </p:nvSpPr>
        <p:spPr>
          <a:xfrm>
            <a:off x="234100" y="1882500"/>
            <a:ext cx="4508700" cy="23538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52" name="Google Shape;2052;p1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Combinations </a:t>
            </a:r>
            <a:endParaRPr/>
          </a:p>
        </p:txBody>
      </p:sp>
      <p:sp>
        <p:nvSpPr>
          <p:cNvPr id="2053" name="Google Shape;2053;p15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054" name="Google Shape;2054;p157"/>
          <p:cNvSpPr/>
          <p:nvPr/>
        </p:nvSpPr>
        <p:spPr>
          <a:xfrm>
            <a:off x="305800" y="209565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55" name="Google Shape;2055;p157"/>
          <p:cNvSpPr/>
          <p:nvPr/>
        </p:nvSpPr>
        <p:spPr>
          <a:xfrm>
            <a:off x="305800" y="3213525"/>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56" name="Google Shape;2056;p157"/>
          <p:cNvSpPr/>
          <p:nvPr/>
        </p:nvSpPr>
        <p:spPr>
          <a:xfrm>
            <a:off x="2662063" y="209565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57" name="Google Shape;2057;p157"/>
          <p:cNvSpPr/>
          <p:nvPr/>
        </p:nvSpPr>
        <p:spPr>
          <a:xfrm>
            <a:off x="2662075" y="3213525"/>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58" name="Google Shape;2058;p157"/>
          <p:cNvSpPr txBox="1"/>
          <p:nvPr/>
        </p:nvSpPr>
        <p:spPr>
          <a:xfrm>
            <a:off x="543100"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059" name="Google Shape;2059;p157"/>
          <p:cNvSpPr txBox="1"/>
          <p:nvPr/>
        </p:nvSpPr>
        <p:spPr>
          <a:xfrm>
            <a:off x="841150" y="228690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060" name="Google Shape;2060;p157"/>
          <p:cNvSpPr txBox="1"/>
          <p:nvPr/>
        </p:nvSpPr>
        <p:spPr>
          <a:xfrm>
            <a:off x="3157213" y="228690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061" name="Google Shape;2061;p157"/>
          <p:cNvSpPr txBox="1"/>
          <p:nvPr/>
        </p:nvSpPr>
        <p:spPr>
          <a:xfrm>
            <a:off x="2941375"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2067" name="Google Shape;2067;p158"/>
          <p:cNvSpPr/>
          <p:nvPr/>
        </p:nvSpPr>
        <p:spPr>
          <a:xfrm>
            <a:off x="234100" y="1882500"/>
            <a:ext cx="4508700" cy="23538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68" name="Google Shape;2068;p1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Combinations </a:t>
            </a:r>
            <a:endParaRPr/>
          </a:p>
        </p:txBody>
      </p:sp>
      <p:sp>
        <p:nvSpPr>
          <p:cNvPr id="2069" name="Google Shape;2069;p15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070" name="Google Shape;2070;p158"/>
          <p:cNvSpPr/>
          <p:nvPr/>
        </p:nvSpPr>
        <p:spPr>
          <a:xfrm>
            <a:off x="305800" y="209565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71" name="Google Shape;2071;p158"/>
          <p:cNvSpPr/>
          <p:nvPr/>
        </p:nvSpPr>
        <p:spPr>
          <a:xfrm>
            <a:off x="305800" y="3213525"/>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72" name="Google Shape;2072;p158"/>
          <p:cNvSpPr/>
          <p:nvPr/>
        </p:nvSpPr>
        <p:spPr>
          <a:xfrm>
            <a:off x="2662063" y="209565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73" name="Google Shape;2073;p158"/>
          <p:cNvSpPr/>
          <p:nvPr/>
        </p:nvSpPr>
        <p:spPr>
          <a:xfrm>
            <a:off x="2662075" y="3213525"/>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74" name="Google Shape;2074;p158"/>
          <p:cNvSpPr txBox="1"/>
          <p:nvPr/>
        </p:nvSpPr>
        <p:spPr>
          <a:xfrm>
            <a:off x="543100"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075" name="Google Shape;2075;p158"/>
          <p:cNvSpPr txBox="1"/>
          <p:nvPr/>
        </p:nvSpPr>
        <p:spPr>
          <a:xfrm>
            <a:off x="841150" y="228690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076" name="Google Shape;2076;p158"/>
          <p:cNvSpPr txBox="1"/>
          <p:nvPr/>
        </p:nvSpPr>
        <p:spPr>
          <a:xfrm>
            <a:off x="3157213" y="228690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077" name="Google Shape;2077;p158"/>
          <p:cNvSpPr txBox="1"/>
          <p:nvPr/>
        </p:nvSpPr>
        <p:spPr>
          <a:xfrm>
            <a:off x="2941375"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sp>
        <p:nvSpPr>
          <p:cNvPr id="2078" name="Google Shape;2078;p158"/>
          <p:cNvSpPr/>
          <p:nvPr/>
        </p:nvSpPr>
        <p:spPr>
          <a:xfrm>
            <a:off x="54310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79" name="Google Shape;2079;p158"/>
          <p:cNvSpPr/>
          <p:nvPr/>
        </p:nvSpPr>
        <p:spPr>
          <a:xfrm>
            <a:off x="287495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1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2085" name="Google Shape;2085;p159"/>
          <p:cNvSpPr/>
          <p:nvPr/>
        </p:nvSpPr>
        <p:spPr>
          <a:xfrm>
            <a:off x="234100" y="1882500"/>
            <a:ext cx="4508700" cy="23538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86" name="Google Shape;2086;p1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Combinations </a:t>
            </a:r>
            <a:endParaRPr/>
          </a:p>
        </p:txBody>
      </p:sp>
      <p:sp>
        <p:nvSpPr>
          <p:cNvPr id="2087" name="Google Shape;2087;p15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088" name="Google Shape;2088;p159"/>
          <p:cNvSpPr/>
          <p:nvPr/>
        </p:nvSpPr>
        <p:spPr>
          <a:xfrm>
            <a:off x="305800" y="209565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89" name="Google Shape;2089;p159"/>
          <p:cNvSpPr/>
          <p:nvPr/>
        </p:nvSpPr>
        <p:spPr>
          <a:xfrm>
            <a:off x="305800" y="3213525"/>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0" name="Google Shape;2090;p159"/>
          <p:cNvSpPr/>
          <p:nvPr/>
        </p:nvSpPr>
        <p:spPr>
          <a:xfrm>
            <a:off x="2662063" y="209565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1" name="Google Shape;2091;p159"/>
          <p:cNvSpPr/>
          <p:nvPr/>
        </p:nvSpPr>
        <p:spPr>
          <a:xfrm>
            <a:off x="2662075" y="3213525"/>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2" name="Google Shape;2092;p159"/>
          <p:cNvSpPr txBox="1"/>
          <p:nvPr/>
        </p:nvSpPr>
        <p:spPr>
          <a:xfrm>
            <a:off x="543100"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093" name="Google Shape;2093;p159"/>
          <p:cNvSpPr txBox="1"/>
          <p:nvPr/>
        </p:nvSpPr>
        <p:spPr>
          <a:xfrm>
            <a:off x="841150" y="228690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094" name="Google Shape;2094;p159"/>
          <p:cNvSpPr txBox="1"/>
          <p:nvPr/>
        </p:nvSpPr>
        <p:spPr>
          <a:xfrm>
            <a:off x="3157213" y="228690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095" name="Google Shape;2095;p159"/>
          <p:cNvSpPr txBox="1"/>
          <p:nvPr/>
        </p:nvSpPr>
        <p:spPr>
          <a:xfrm>
            <a:off x="2941375"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sp>
        <p:nvSpPr>
          <p:cNvPr id="2096" name="Google Shape;2096;p159"/>
          <p:cNvSpPr/>
          <p:nvPr/>
        </p:nvSpPr>
        <p:spPr>
          <a:xfrm>
            <a:off x="234100" y="19406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7" name="Google Shape;2097;p159"/>
          <p:cNvSpPr/>
          <p:nvPr/>
        </p:nvSpPr>
        <p:spPr>
          <a:xfrm>
            <a:off x="54310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8" name="Google Shape;2098;p159"/>
          <p:cNvSpPr/>
          <p:nvPr/>
        </p:nvSpPr>
        <p:spPr>
          <a:xfrm>
            <a:off x="287495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099" name="Google Shape;2099;p159"/>
          <p:cNvSpPr/>
          <p:nvPr/>
        </p:nvSpPr>
        <p:spPr>
          <a:xfrm>
            <a:off x="234100" y="31118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1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2105" name="Google Shape;2105;p160"/>
          <p:cNvSpPr/>
          <p:nvPr/>
        </p:nvSpPr>
        <p:spPr>
          <a:xfrm>
            <a:off x="234100" y="1882500"/>
            <a:ext cx="4508700" cy="23538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06" name="Google Shape;2106;p1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Combinations </a:t>
            </a:r>
            <a:endParaRPr/>
          </a:p>
        </p:txBody>
      </p:sp>
      <p:sp>
        <p:nvSpPr>
          <p:cNvPr id="2107" name="Google Shape;2107;p16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108" name="Google Shape;2108;p160"/>
          <p:cNvSpPr/>
          <p:nvPr/>
        </p:nvSpPr>
        <p:spPr>
          <a:xfrm>
            <a:off x="305800" y="209565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09" name="Google Shape;2109;p160"/>
          <p:cNvSpPr/>
          <p:nvPr/>
        </p:nvSpPr>
        <p:spPr>
          <a:xfrm>
            <a:off x="305800" y="3213525"/>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0" name="Google Shape;2110;p160"/>
          <p:cNvSpPr/>
          <p:nvPr/>
        </p:nvSpPr>
        <p:spPr>
          <a:xfrm>
            <a:off x="2662063" y="209565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1" name="Google Shape;2111;p160"/>
          <p:cNvSpPr/>
          <p:nvPr/>
        </p:nvSpPr>
        <p:spPr>
          <a:xfrm>
            <a:off x="2662075" y="3213525"/>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2" name="Google Shape;2112;p160"/>
          <p:cNvSpPr txBox="1"/>
          <p:nvPr/>
        </p:nvSpPr>
        <p:spPr>
          <a:xfrm>
            <a:off x="543100"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113" name="Google Shape;2113;p160"/>
          <p:cNvSpPr txBox="1"/>
          <p:nvPr/>
        </p:nvSpPr>
        <p:spPr>
          <a:xfrm>
            <a:off x="841150" y="228690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114" name="Google Shape;2114;p160"/>
          <p:cNvSpPr txBox="1"/>
          <p:nvPr/>
        </p:nvSpPr>
        <p:spPr>
          <a:xfrm>
            <a:off x="3157213" y="228690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115" name="Google Shape;2115;p160"/>
          <p:cNvSpPr txBox="1"/>
          <p:nvPr/>
        </p:nvSpPr>
        <p:spPr>
          <a:xfrm>
            <a:off x="2941375"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sp>
        <p:nvSpPr>
          <p:cNvPr id="2116" name="Google Shape;2116;p160"/>
          <p:cNvSpPr/>
          <p:nvPr/>
        </p:nvSpPr>
        <p:spPr>
          <a:xfrm>
            <a:off x="234100" y="19406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7" name="Google Shape;2117;p160"/>
          <p:cNvSpPr/>
          <p:nvPr/>
        </p:nvSpPr>
        <p:spPr>
          <a:xfrm>
            <a:off x="54310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8" name="Google Shape;2118;p160"/>
          <p:cNvSpPr/>
          <p:nvPr/>
        </p:nvSpPr>
        <p:spPr>
          <a:xfrm>
            <a:off x="287495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19" name="Google Shape;2119;p160"/>
          <p:cNvSpPr/>
          <p:nvPr/>
        </p:nvSpPr>
        <p:spPr>
          <a:xfrm>
            <a:off x="234100" y="31118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20" name="Google Shape;2120;p160"/>
          <p:cNvSpPr/>
          <p:nvPr/>
        </p:nvSpPr>
        <p:spPr>
          <a:xfrm rot="-2133451">
            <a:off x="-16703" y="2331743"/>
            <a:ext cx="4631655" cy="13096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21" name="Google Shape;2121;p160"/>
          <p:cNvSpPr/>
          <p:nvPr/>
        </p:nvSpPr>
        <p:spPr>
          <a:xfrm rot="-8600760">
            <a:off x="196912" y="2478685"/>
            <a:ext cx="4553912" cy="1129929"/>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1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lt1"/>
              </a:buClr>
              <a:buSzPts val="1800"/>
              <a:buChar char="●"/>
            </a:pPr>
            <a:r>
              <a:rPr lang="en">
                <a:solidFill>
                  <a:schemeClr val="lt1"/>
                </a:solidFill>
              </a:rPr>
              <a:t>Solution:</a:t>
            </a:r>
            <a:endParaRPr>
              <a:solidFill>
                <a:schemeClr val="lt1"/>
              </a:solidFill>
            </a:endParaRPr>
          </a:p>
        </p:txBody>
      </p:sp>
      <p:sp>
        <p:nvSpPr>
          <p:cNvPr id="2127" name="Google Shape;2127;p161"/>
          <p:cNvSpPr/>
          <p:nvPr/>
        </p:nvSpPr>
        <p:spPr>
          <a:xfrm>
            <a:off x="234100" y="1882500"/>
            <a:ext cx="4508700" cy="2353800"/>
          </a:xfrm>
          <a:prstGeom prst="roundRect">
            <a:avLst>
              <a:gd fmla="val 16667" name="adj"/>
            </a:avLst>
          </a:prstGeom>
          <a:solidFill>
            <a:srgbClr val="59595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28" name="Google Shape;2128;p1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Combinations </a:t>
            </a:r>
            <a:endParaRPr/>
          </a:p>
        </p:txBody>
      </p:sp>
      <p:sp>
        <p:nvSpPr>
          <p:cNvPr id="2129" name="Google Shape;2129;p16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130" name="Google Shape;2130;p161"/>
          <p:cNvSpPr/>
          <p:nvPr/>
        </p:nvSpPr>
        <p:spPr>
          <a:xfrm>
            <a:off x="305800" y="2095650"/>
            <a:ext cx="1966500" cy="8136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31" name="Google Shape;2131;p161"/>
          <p:cNvSpPr/>
          <p:nvPr/>
        </p:nvSpPr>
        <p:spPr>
          <a:xfrm>
            <a:off x="305800" y="3213525"/>
            <a:ext cx="1966500" cy="8136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32" name="Google Shape;2132;p161"/>
          <p:cNvSpPr/>
          <p:nvPr/>
        </p:nvSpPr>
        <p:spPr>
          <a:xfrm>
            <a:off x="2662063" y="2095650"/>
            <a:ext cx="1966500" cy="813600"/>
          </a:xfrm>
          <a:prstGeom prst="rect">
            <a:avLst/>
          </a:prstGeom>
          <a:solidFill>
            <a:srgbClr val="8FC0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33" name="Google Shape;2133;p161"/>
          <p:cNvSpPr/>
          <p:nvPr/>
        </p:nvSpPr>
        <p:spPr>
          <a:xfrm>
            <a:off x="2662075" y="3213525"/>
            <a:ext cx="1966500" cy="813600"/>
          </a:xfrm>
          <a:prstGeom prst="rect">
            <a:avLst/>
          </a:prstGeom>
          <a:solidFill>
            <a:srgbClr val="FFAB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34" name="Google Shape;2134;p161"/>
          <p:cNvSpPr txBox="1"/>
          <p:nvPr/>
        </p:nvSpPr>
        <p:spPr>
          <a:xfrm>
            <a:off x="543100"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Action Movies</a:t>
            </a:r>
            <a:endParaRPr b="0" i="0" sz="1600" u="none" cap="none" strike="noStrike">
              <a:solidFill>
                <a:srgbClr val="FFFFFF"/>
              </a:solidFill>
              <a:latin typeface="Fira Sans"/>
              <a:ea typeface="Fira Sans"/>
              <a:cs typeface="Fira Sans"/>
              <a:sym typeface="Fira Sans"/>
            </a:endParaRPr>
          </a:p>
        </p:txBody>
      </p:sp>
      <p:sp>
        <p:nvSpPr>
          <p:cNvPr id="2135" name="Google Shape;2135;p161"/>
          <p:cNvSpPr txBox="1"/>
          <p:nvPr/>
        </p:nvSpPr>
        <p:spPr>
          <a:xfrm>
            <a:off x="841150" y="2286900"/>
            <a:ext cx="895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Drama</a:t>
            </a:r>
            <a:endParaRPr b="0" i="0" sz="1600" u="none" cap="none" strike="noStrike">
              <a:solidFill>
                <a:srgbClr val="FFFFFF"/>
              </a:solidFill>
              <a:latin typeface="Fira Sans"/>
              <a:ea typeface="Fira Sans"/>
              <a:cs typeface="Fira Sans"/>
              <a:sym typeface="Fira Sans"/>
            </a:endParaRPr>
          </a:p>
        </p:txBody>
      </p:sp>
      <p:sp>
        <p:nvSpPr>
          <p:cNvPr id="2136" name="Google Shape;2136;p161"/>
          <p:cNvSpPr txBox="1"/>
          <p:nvPr/>
        </p:nvSpPr>
        <p:spPr>
          <a:xfrm>
            <a:off x="3157213" y="2286900"/>
            <a:ext cx="9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Comedy</a:t>
            </a:r>
            <a:endParaRPr b="0" i="0" sz="1600" u="none" cap="none" strike="noStrike">
              <a:solidFill>
                <a:srgbClr val="FFFFFF"/>
              </a:solidFill>
              <a:latin typeface="Fira Sans"/>
              <a:ea typeface="Fira Sans"/>
              <a:cs typeface="Fira Sans"/>
              <a:sym typeface="Fira Sans"/>
            </a:endParaRPr>
          </a:p>
        </p:txBody>
      </p:sp>
      <p:sp>
        <p:nvSpPr>
          <p:cNvPr id="2137" name="Google Shape;2137;p161"/>
          <p:cNvSpPr txBox="1"/>
          <p:nvPr/>
        </p:nvSpPr>
        <p:spPr>
          <a:xfrm>
            <a:off x="2941375" y="3404775"/>
            <a:ext cx="149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FFFFFF"/>
                </a:solidFill>
                <a:latin typeface="Fira Sans"/>
                <a:ea typeface="Fira Sans"/>
                <a:cs typeface="Fira Sans"/>
                <a:sym typeface="Fira Sans"/>
              </a:rPr>
              <a:t>Documentary</a:t>
            </a:r>
            <a:endParaRPr b="0" i="0" sz="1600" u="none" cap="none" strike="noStrike">
              <a:solidFill>
                <a:srgbClr val="FFFFFF"/>
              </a:solidFill>
              <a:latin typeface="Fira Sans"/>
              <a:ea typeface="Fira Sans"/>
              <a:cs typeface="Fira Sans"/>
              <a:sym typeface="Fira Sans"/>
            </a:endParaRPr>
          </a:p>
        </p:txBody>
      </p:sp>
      <p:sp>
        <p:nvSpPr>
          <p:cNvPr id="2138" name="Google Shape;2138;p161"/>
          <p:cNvSpPr/>
          <p:nvPr/>
        </p:nvSpPr>
        <p:spPr>
          <a:xfrm>
            <a:off x="54310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39" name="Google Shape;2139;p161"/>
          <p:cNvSpPr/>
          <p:nvPr/>
        </p:nvSpPr>
        <p:spPr>
          <a:xfrm>
            <a:off x="2874950" y="1591925"/>
            <a:ext cx="1444200" cy="27411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40" name="Google Shape;2140;p161"/>
          <p:cNvSpPr txBox="1"/>
          <p:nvPr/>
        </p:nvSpPr>
        <p:spPr>
          <a:xfrm>
            <a:off x="5102350" y="1787150"/>
            <a:ext cx="3679200" cy="341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a:ea typeface="Fira Sans"/>
                <a:cs typeface="Fira Sans"/>
                <a:sym typeface="Fira Sans"/>
              </a:rPr>
              <a:t>Explanation</a:t>
            </a:r>
            <a:r>
              <a:rPr b="0" i="0" lang="en" sz="1600" u="none" cap="none" strike="noStrike">
                <a:solidFill>
                  <a:schemeClr val="lt1"/>
                </a:solidFill>
                <a:latin typeface="Fira Sans"/>
                <a:ea typeface="Fira Sans"/>
                <a:cs typeface="Fira Sans"/>
                <a:sym typeface="Fira Sans"/>
              </a:rPr>
              <a:t>:</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Fira Sans"/>
              <a:ea typeface="Fira Sans"/>
              <a:cs typeface="Fira Sans"/>
              <a:sym typeface="Fira Sans"/>
            </a:endParaRPr>
          </a:p>
          <a:p>
            <a:pPr indent="-330200" lvl="0" marL="457200" marR="0" rtl="0" algn="l">
              <a:lnSpc>
                <a:spcPct val="100000"/>
              </a:lnSpc>
              <a:spcBef>
                <a:spcPts val="0"/>
              </a:spcBef>
              <a:spcAft>
                <a:spcPts val="0"/>
              </a:spcAft>
              <a:buClr>
                <a:schemeClr val="lt1"/>
              </a:buClr>
              <a:buSzPts val="1600"/>
              <a:buFont typeface="Fira Sans"/>
              <a:buChar char="●"/>
            </a:pPr>
            <a:r>
              <a:rPr b="0" i="0" lang="en" sz="1600" u="none" cap="none" strike="noStrike">
                <a:solidFill>
                  <a:schemeClr val="lt1"/>
                </a:solidFill>
                <a:latin typeface="Fira Sans"/>
                <a:ea typeface="Fira Sans"/>
                <a:cs typeface="Fira Sans"/>
                <a:sym typeface="Fira Sans"/>
              </a:rPr>
              <a:t>The formula calculates the number of ways to choose 2 genres out of 4 without regard to the order of selection. </a:t>
            </a:r>
            <a:endParaRPr b="0" i="0" sz="1600" u="none" cap="none" strike="noStrike">
              <a:solidFill>
                <a:schemeClr val="lt1"/>
              </a:solidFill>
              <a:latin typeface="Fira Sans"/>
              <a:ea typeface="Fira Sans"/>
              <a:cs typeface="Fira Sans"/>
              <a:sym typeface="Fira Sans"/>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Fira Sans"/>
              <a:ea typeface="Fira Sans"/>
              <a:cs typeface="Fira Sans"/>
              <a:sym typeface="Fira Sans"/>
            </a:endParaRPr>
          </a:p>
          <a:p>
            <a:pPr indent="-330200" lvl="0" marL="457200" marR="0" rtl="0" algn="l">
              <a:lnSpc>
                <a:spcPct val="100000"/>
              </a:lnSpc>
              <a:spcBef>
                <a:spcPts val="0"/>
              </a:spcBef>
              <a:spcAft>
                <a:spcPts val="0"/>
              </a:spcAft>
              <a:buClr>
                <a:schemeClr val="lt1"/>
              </a:buClr>
              <a:buSzPts val="1600"/>
              <a:buFont typeface="Fira Sans"/>
              <a:buChar char="●"/>
            </a:pPr>
            <a:r>
              <a:rPr b="0" i="0" lang="en" sz="1600" u="none" cap="none" strike="noStrike">
                <a:solidFill>
                  <a:schemeClr val="lt1"/>
                </a:solidFill>
                <a:latin typeface="Fira Sans"/>
                <a:ea typeface="Fira Sans"/>
                <a:cs typeface="Fira Sans"/>
                <a:sym typeface="Fira Sans"/>
              </a:rPr>
              <a:t>It accounts for selecting subsets from a larger set (in this case, genres from Anna's collection) where the order of selection does not matter.</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pic>
        <p:nvPicPr>
          <p:cNvPr id="2141" name="Google Shape;2141;p161"/>
          <p:cNvPicPr preferRelativeResize="0"/>
          <p:nvPr/>
        </p:nvPicPr>
        <p:blipFill rotWithShape="1">
          <a:blip r:embed="rId3">
            <a:alphaModFix/>
          </a:blip>
          <a:srcRect b="0" l="0" r="0" t="0"/>
          <a:stretch/>
        </p:blipFill>
        <p:spPr>
          <a:xfrm>
            <a:off x="1941413" y="983050"/>
            <a:ext cx="7077075" cy="714375"/>
          </a:xfrm>
          <a:prstGeom prst="rect">
            <a:avLst/>
          </a:prstGeom>
          <a:noFill/>
          <a:ln>
            <a:noFill/>
          </a:ln>
        </p:spPr>
      </p:pic>
      <p:sp>
        <p:nvSpPr>
          <p:cNvPr id="2142" name="Google Shape;2142;p161"/>
          <p:cNvSpPr/>
          <p:nvPr/>
        </p:nvSpPr>
        <p:spPr>
          <a:xfrm>
            <a:off x="234100" y="19406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43" name="Google Shape;2143;p161"/>
          <p:cNvSpPr/>
          <p:nvPr/>
        </p:nvSpPr>
        <p:spPr>
          <a:xfrm>
            <a:off x="234100" y="3111825"/>
            <a:ext cx="4320300" cy="10170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44" name="Google Shape;2144;p161"/>
          <p:cNvSpPr/>
          <p:nvPr/>
        </p:nvSpPr>
        <p:spPr>
          <a:xfrm rot="-2133451">
            <a:off x="-16703" y="2331743"/>
            <a:ext cx="4631655" cy="1309600"/>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145" name="Google Shape;2145;p161"/>
          <p:cNvSpPr/>
          <p:nvPr/>
        </p:nvSpPr>
        <p:spPr>
          <a:xfrm rot="-8600760">
            <a:off x="196912" y="2478685"/>
            <a:ext cx="4553912" cy="1129929"/>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1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Inclusion-Exclusion</a:t>
            </a:r>
            <a:endParaRPr/>
          </a:p>
        </p:txBody>
      </p:sp>
      <p:sp>
        <p:nvSpPr>
          <p:cNvPr id="2151" name="Google Shape;2151;p1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1000"/>
              </a:spcBef>
              <a:spcAft>
                <a:spcPts val="0"/>
              </a:spcAft>
              <a:buClr>
                <a:schemeClr val="lt1"/>
              </a:buClr>
              <a:buSzPts val="1600"/>
              <a:buChar char="●"/>
            </a:pPr>
            <a:r>
              <a:rPr b="1" lang="en" sz="1600">
                <a:solidFill>
                  <a:schemeClr val="lt1"/>
                </a:solidFill>
              </a:rPr>
              <a:t>FizzBuzz? How many integers from 1 to 1000 are multiples of 3 or 5?</a:t>
            </a:r>
            <a:endParaRPr b="1" sz="1600">
              <a:solidFill>
                <a:schemeClr val="lt1"/>
              </a:solidFill>
            </a:endParaRPr>
          </a:p>
          <a:p>
            <a:pPr indent="0" lvl="0" marL="0" rtl="0" algn="l">
              <a:lnSpc>
                <a:spcPct val="150000"/>
              </a:lnSpc>
              <a:spcBef>
                <a:spcPts val="1000"/>
              </a:spcBef>
              <a:spcAft>
                <a:spcPts val="0"/>
              </a:spcAft>
              <a:buSzPts val="1946"/>
              <a:buNone/>
            </a:pPr>
            <a:r>
              <a:rPr b="1" lang="en" sz="1600">
                <a:solidFill>
                  <a:schemeClr val="lt1"/>
                </a:solidFill>
              </a:rPr>
              <a:t>Solution:</a:t>
            </a:r>
            <a:endParaRPr b="1" sz="1600">
              <a:solidFill>
                <a:schemeClr val="lt1"/>
              </a:solidFill>
            </a:endParaRPr>
          </a:p>
          <a:p>
            <a:pPr indent="0" lvl="0" marL="0" rtl="0" algn="l">
              <a:lnSpc>
                <a:spcPct val="150000"/>
              </a:lnSpc>
              <a:spcBef>
                <a:spcPts val="1200"/>
              </a:spcBef>
              <a:spcAft>
                <a:spcPts val="0"/>
              </a:spcAft>
              <a:buSzPts val="1946"/>
              <a:buNone/>
            </a:pPr>
            <a:r>
              <a:rPr b="1" lang="en" sz="1600">
                <a:solidFill>
                  <a:schemeClr val="lt1"/>
                </a:solidFill>
              </a:rPr>
              <a:t>Multiples of 3:</a:t>
            </a:r>
            <a:r>
              <a:rPr lang="en" sz="1600">
                <a:solidFill>
                  <a:schemeClr val="lt1"/>
                </a:solidFill>
              </a:rPr>
              <a:t> 333</a:t>
            </a:r>
            <a:endParaRPr sz="1600">
              <a:solidFill>
                <a:schemeClr val="lt1"/>
              </a:solidFill>
            </a:endParaRPr>
          </a:p>
          <a:p>
            <a:pPr indent="0" lvl="0" marL="0" rtl="0" algn="l">
              <a:lnSpc>
                <a:spcPct val="150000"/>
              </a:lnSpc>
              <a:spcBef>
                <a:spcPts val="1200"/>
              </a:spcBef>
              <a:spcAft>
                <a:spcPts val="0"/>
              </a:spcAft>
              <a:buSzPts val="1946"/>
              <a:buNone/>
            </a:pPr>
            <a:r>
              <a:rPr b="1" lang="en" sz="1600">
                <a:solidFill>
                  <a:schemeClr val="lt1"/>
                </a:solidFill>
              </a:rPr>
              <a:t>Multiples of 5:</a:t>
            </a:r>
            <a:r>
              <a:rPr lang="en" sz="1600">
                <a:solidFill>
                  <a:schemeClr val="lt1"/>
                </a:solidFill>
              </a:rPr>
              <a:t> 200</a:t>
            </a:r>
            <a:endParaRPr sz="1600">
              <a:solidFill>
                <a:schemeClr val="lt1"/>
              </a:solidFill>
            </a:endParaRPr>
          </a:p>
          <a:p>
            <a:pPr indent="0" lvl="0" marL="0" rtl="0" algn="l">
              <a:lnSpc>
                <a:spcPct val="150000"/>
              </a:lnSpc>
              <a:spcBef>
                <a:spcPts val="1200"/>
              </a:spcBef>
              <a:spcAft>
                <a:spcPts val="1200"/>
              </a:spcAft>
              <a:buSzPts val="1946"/>
              <a:buNone/>
            </a:pPr>
            <a:r>
              <a:rPr lang="en" sz="1600">
                <a:solidFill>
                  <a:schemeClr val="lt1"/>
                </a:solidFill>
              </a:rPr>
              <a:t>Is 533 the answer? We need to subtract the overlap that is counted twice. 1000/15 = 66ish, 333 + 200 - 66 is the answer.</a:t>
            </a:r>
            <a:endParaRPr sz="1600">
              <a:solidFill>
                <a:schemeClr val="lt1"/>
              </a:solidFill>
            </a:endParaRPr>
          </a:p>
        </p:txBody>
      </p:sp>
      <p:sp>
        <p:nvSpPr>
          <p:cNvPr id="2152" name="Google Shape;2152;p16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p1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Inclusion-Exclusion</a:t>
            </a:r>
            <a:endParaRPr/>
          </a:p>
        </p:txBody>
      </p:sp>
      <p:sp>
        <p:nvSpPr>
          <p:cNvPr id="2158" name="Google Shape;2158;p1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1000"/>
              </a:spcBef>
              <a:spcAft>
                <a:spcPts val="0"/>
              </a:spcAft>
              <a:buClr>
                <a:schemeClr val="lt1"/>
              </a:buClr>
              <a:buSzPts val="1600"/>
              <a:buChar char="●"/>
            </a:pPr>
            <a:r>
              <a:rPr lang="en" sz="1600">
                <a:solidFill>
                  <a:schemeClr val="lt1"/>
                </a:solidFill>
              </a:rPr>
              <a:t>If ¾ of the class follows basketball, ⅖ follows soccer, and 1/10 doesn’t care for either, then what fraction follows both basketball and soccer?</a:t>
            </a:r>
            <a:endParaRPr sz="1600">
              <a:solidFill>
                <a:schemeClr val="lt1"/>
              </a:solidFill>
            </a:endParaRPr>
          </a:p>
          <a:p>
            <a:pPr indent="-330200" lvl="0" marL="457200" rtl="0" algn="l">
              <a:lnSpc>
                <a:spcPct val="150000"/>
              </a:lnSpc>
              <a:spcBef>
                <a:spcPts val="1200"/>
              </a:spcBef>
              <a:spcAft>
                <a:spcPts val="0"/>
              </a:spcAft>
              <a:buClr>
                <a:schemeClr val="lt1"/>
              </a:buClr>
              <a:buSzPts val="1600"/>
              <a:buChar char="●"/>
            </a:pPr>
            <a:r>
              <a:rPr lang="en" sz="1600">
                <a:solidFill>
                  <a:schemeClr val="lt1"/>
                </a:solidFill>
              </a:rPr>
              <a:t>¾ + ⅖ - (both) + 1/10 = 1</a:t>
            </a:r>
            <a:endParaRPr sz="1600">
              <a:solidFill>
                <a:schemeClr val="lt1"/>
              </a:solidFill>
            </a:endParaRPr>
          </a:p>
          <a:p>
            <a:pPr indent="-330200" lvl="0" marL="457200" rtl="0" algn="l">
              <a:lnSpc>
                <a:spcPct val="150000"/>
              </a:lnSpc>
              <a:spcBef>
                <a:spcPts val="1200"/>
              </a:spcBef>
              <a:spcAft>
                <a:spcPts val="0"/>
              </a:spcAft>
              <a:buClr>
                <a:schemeClr val="lt1"/>
              </a:buClr>
              <a:buSzPts val="1600"/>
              <a:buChar char="●"/>
            </a:pPr>
            <a:r>
              <a:rPr lang="en" sz="1600">
                <a:solidFill>
                  <a:schemeClr val="lt1"/>
                </a:solidFill>
              </a:rPr>
              <a:t>Both = ¾ + ⅖ + 1/10 - 1 = ¼ </a:t>
            </a:r>
            <a:endParaRPr sz="1600">
              <a:solidFill>
                <a:schemeClr val="lt1"/>
              </a:solidFill>
            </a:endParaRPr>
          </a:p>
          <a:p>
            <a:pPr indent="-330200" lvl="0" marL="457200" rtl="0" algn="l">
              <a:lnSpc>
                <a:spcPct val="150000"/>
              </a:lnSpc>
              <a:spcBef>
                <a:spcPts val="1200"/>
              </a:spcBef>
              <a:spcAft>
                <a:spcPts val="0"/>
              </a:spcAft>
              <a:buClr>
                <a:schemeClr val="lt1"/>
              </a:buClr>
              <a:buSzPts val="1600"/>
              <a:buChar char="●"/>
            </a:pPr>
            <a:r>
              <a:rPr lang="en" sz="1600">
                <a:solidFill>
                  <a:schemeClr val="lt1"/>
                </a:solidFill>
              </a:rPr>
              <a:t>Assume 100 people. 75 for basketball, 40 for soccer, 10 for neither</a:t>
            </a:r>
            <a:endParaRPr sz="1600">
              <a:solidFill>
                <a:schemeClr val="lt1"/>
              </a:solidFill>
            </a:endParaRPr>
          </a:p>
          <a:p>
            <a:pPr indent="-330200" lvl="1" marL="914400" rtl="0" algn="l">
              <a:lnSpc>
                <a:spcPct val="115000"/>
              </a:lnSpc>
              <a:spcBef>
                <a:spcPts val="1200"/>
              </a:spcBef>
              <a:spcAft>
                <a:spcPts val="1200"/>
              </a:spcAft>
              <a:buClr>
                <a:schemeClr val="lt1"/>
              </a:buClr>
              <a:buSzPts val="1600"/>
              <a:buChar char="○"/>
            </a:pPr>
            <a:r>
              <a:rPr lang="en" sz="1600">
                <a:solidFill>
                  <a:schemeClr val="lt1"/>
                </a:solidFill>
              </a:rPr>
              <a:t>75+40+10 = 125, so 25 like both (the leftovers) hence 1/4</a:t>
            </a:r>
            <a:endParaRPr sz="1600">
              <a:solidFill>
                <a:schemeClr val="lt1"/>
              </a:solidFill>
            </a:endParaRPr>
          </a:p>
        </p:txBody>
      </p:sp>
      <p:sp>
        <p:nvSpPr>
          <p:cNvPr id="2159" name="Google Shape;2159;p16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1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a:t>
            </a:r>
            <a:endParaRPr/>
          </a:p>
        </p:txBody>
      </p:sp>
      <p:sp>
        <p:nvSpPr>
          <p:cNvPr id="2165" name="Google Shape;2165;p164"/>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grpSp>
        <p:nvGrpSpPr>
          <p:cNvPr id="2166" name="Google Shape;2166;p164"/>
          <p:cNvGrpSpPr/>
          <p:nvPr/>
        </p:nvGrpSpPr>
        <p:grpSpPr>
          <a:xfrm>
            <a:off x="384014" y="1103699"/>
            <a:ext cx="8448205" cy="671133"/>
            <a:chOff x="1037539" y="1103712"/>
            <a:chExt cx="7069036" cy="671133"/>
          </a:xfrm>
        </p:grpSpPr>
        <p:sp>
          <p:nvSpPr>
            <p:cNvPr id="2167" name="Google Shape;2167;p164"/>
            <p:cNvSpPr/>
            <p:nvPr/>
          </p:nvSpPr>
          <p:spPr>
            <a:xfrm>
              <a:off x="1037539" y="1103879"/>
              <a:ext cx="1310700" cy="6708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168" name="Google Shape;2168;p164"/>
            <p:cNvGrpSpPr/>
            <p:nvPr/>
          </p:nvGrpSpPr>
          <p:grpSpPr>
            <a:xfrm>
              <a:off x="2081001" y="1103712"/>
              <a:ext cx="6025460" cy="671133"/>
              <a:chOff x="2189480" y="2153920"/>
              <a:chExt cx="7213528" cy="1137900"/>
            </a:xfrm>
          </p:grpSpPr>
          <p:sp>
            <p:nvSpPr>
              <p:cNvPr id="2169" name="Google Shape;2169;p164"/>
              <p:cNvSpPr/>
              <p:nvPr/>
            </p:nvSpPr>
            <p:spPr>
              <a:xfrm>
                <a:off x="2189480" y="2153920"/>
                <a:ext cx="7173000" cy="11379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70" name="Google Shape;2170;p164"/>
              <p:cNvSpPr/>
              <p:nvPr/>
            </p:nvSpPr>
            <p:spPr>
              <a:xfrm>
                <a:off x="7779408" y="2153920"/>
                <a:ext cx="1623600" cy="1137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171" name="Google Shape;2171;p164"/>
            <p:cNvSpPr txBox="1"/>
            <p:nvPr/>
          </p:nvSpPr>
          <p:spPr>
            <a:xfrm>
              <a:off x="2514575" y="1261229"/>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Counting as a method that is useful in probability theory and how it can help scale up</a:t>
              </a:r>
              <a:endParaRPr b="0" i="0" sz="1400" u="none" cap="none" strike="noStrike">
                <a:solidFill>
                  <a:srgbClr val="FFFFFF"/>
                </a:solidFill>
                <a:latin typeface="Roboto"/>
                <a:ea typeface="Roboto"/>
                <a:cs typeface="Roboto"/>
                <a:sym typeface="Roboto"/>
              </a:endParaRPr>
            </a:p>
          </p:txBody>
        </p:sp>
        <p:sp>
          <p:nvSpPr>
            <p:cNvPr id="2172" name="Google Shape;2172;p164"/>
            <p:cNvSpPr txBox="1"/>
            <p:nvPr/>
          </p:nvSpPr>
          <p:spPr>
            <a:xfrm>
              <a:off x="1365589" y="1212925"/>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01</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173" name="Google Shape;2173;p164"/>
          <p:cNvGrpSpPr/>
          <p:nvPr/>
        </p:nvGrpSpPr>
        <p:grpSpPr>
          <a:xfrm>
            <a:off x="384014" y="1842504"/>
            <a:ext cx="8448205" cy="671133"/>
            <a:chOff x="1037539" y="1842516"/>
            <a:chExt cx="7069036" cy="671133"/>
          </a:xfrm>
        </p:grpSpPr>
        <p:sp>
          <p:nvSpPr>
            <p:cNvPr id="2174" name="Google Shape;2174;p164"/>
            <p:cNvSpPr/>
            <p:nvPr/>
          </p:nvSpPr>
          <p:spPr>
            <a:xfrm>
              <a:off x="1037539" y="1842683"/>
              <a:ext cx="1310700" cy="670800"/>
            </a:xfrm>
            <a:prstGeom prst="homePlate">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175" name="Google Shape;2175;p164"/>
            <p:cNvGrpSpPr/>
            <p:nvPr/>
          </p:nvGrpSpPr>
          <p:grpSpPr>
            <a:xfrm>
              <a:off x="2081001" y="1842516"/>
              <a:ext cx="6025460" cy="671133"/>
              <a:chOff x="2189480" y="2153920"/>
              <a:chExt cx="7213528" cy="1137900"/>
            </a:xfrm>
          </p:grpSpPr>
          <p:sp>
            <p:nvSpPr>
              <p:cNvPr id="2176" name="Google Shape;2176;p164"/>
              <p:cNvSpPr/>
              <p:nvPr/>
            </p:nvSpPr>
            <p:spPr>
              <a:xfrm>
                <a:off x="2189480" y="2153920"/>
                <a:ext cx="7173000" cy="1137900"/>
              </a:xfrm>
              <a:prstGeom prst="chevron">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77" name="Google Shape;2177;p164"/>
              <p:cNvSpPr/>
              <p:nvPr/>
            </p:nvSpPr>
            <p:spPr>
              <a:xfrm>
                <a:off x="7779408" y="2153920"/>
                <a:ext cx="1623600" cy="1137900"/>
              </a:xfrm>
              <a:prstGeom prst="rect">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178" name="Google Shape;2178;p164"/>
            <p:cNvSpPr txBox="1"/>
            <p:nvPr/>
          </p:nvSpPr>
          <p:spPr>
            <a:xfrm>
              <a:off x="2514575" y="2000033"/>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Factorials helps scaling up and finding out outcomes for multiple experiments and events</a:t>
              </a:r>
              <a:endParaRPr b="0" i="0" sz="1400" u="none" cap="none" strike="noStrike">
                <a:solidFill>
                  <a:srgbClr val="FFFFFF"/>
                </a:solidFill>
                <a:latin typeface="Roboto"/>
                <a:ea typeface="Roboto"/>
                <a:cs typeface="Roboto"/>
                <a:sym typeface="Roboto"/>
              </a:endParaRPr>
            </a:p>
          </p:txBody>
        </p:sp>
        <p:sp>
          <p:nvSpPr>
            <p:cNvPr id="2179" name="Google Shape;2179;p164"/>
            <p:cNvSpPr txBox="1"/>
            <p:nvPr/>
          </p:nvSpPr>
          <p:spPr>
            <a:xfrm>
              <a:off x="1365600" y="1951733"/>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02</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180" name="Google Shape;2180;p164"/>
          <p:cNvGrpSpPr/>
          <p:nvPr/>
        </p:nvGrpSpPr>
        <p:grpSpPr>
          <a:xfrm>
            <a:off x="384014" y="2581306"/>
            <a:ext cx="8448068" cy="671133"/>
            <a:chOff x="1037539" y="2581319"/>
            <a:chExt cx="7068922" cy="671133"/>
          </a:xfrm>
        </p:grpSpPr>
        <p:sp>
          <p:nvSpPr>
            <p:cNvPr id="2181" name="Google Shape;2181;p164"/>
            <p:cNvSpPr/>
            <p:nvPr/>
          </p:nvSpPr>
          <p:spPr>
            <a:xfrm>
              <a:off x="1037539" y="2581486"/>
              <a:ext cx="1310700" cy="670800"/>
            </a:xfrm>
            <a:prstGeom prst="homePlate">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182" name="Google Shape;2182;p164"/>
            <p:cNvGrpSpPr/>
            <p:nvPr/>
          </p:nvGrpSpPr>
          <p:grpSpPr>
            <a:xfrm>
              <a:off x="2081001" y="2581319"/>
              <a:ext cx="6025460" cy="671133"/>
              <a:chOff x="2189480" y="2153920"/>
              <a:chExt cx="7213528" cy="1137900"/>
            </a:xfrm>
          </p:grpSpPr>
          <p:sp>
            <p:nvSpPr>
              <p:cNvPr id="2183" name="Google Shape;2183;p164"/>
              <p:cNvSpPr/>
              <p:nvPr/>
            </p:nvSpPr>
            <p:spPr>
              <a:xfrm>
                <a:off x="2189480" y="2153920"/>
                <a:ext cx="7173000" cy="1137900"/>
              </a:xfrm>
              <a:prstGeom prst="chevron">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84" name="Google Shape;2184;p164"/>
              <p:cNvSpPr/>
              <p:nvPr/>
            </p:nvSpPr>
            <p:spPr>
              <a:xfrm>
                <a:off x="7779408" y="2153920"/>
                <a:ext cx="1623600" cy="1137900"/>
              </a:xfrm>
              <a:prstGeom prst="rect">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185" name="Google Shape;2185;p164"/>
            <p:cNvSpPr txBox="1"/>
            <p:nvPr/>
          </p:nvSpPr>
          <p:spPr>
            <a:xfrm flipH="1">
              <a:off x="2514450" y="2738836"/>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Counting by Multiplying</a:t>
              </a:r>
              <a:endParaRPr b="0" i="0" sz="1400" u="none" cap="none" strike="noStrike">
                <a:solidFill>
                  <a:srgbClr val="FFFFFF"/>
                </a:solidFill>
                <a:latin typeface="Roboto"/>
                <a:ea typeface="Roboto"/>
                <a:cs typeface="Roboto"/>
                <a:sym typeface="Roboto"/>
              </a:endParaRPr>
            </a:p>
          </p:txBody>
        </p:sp>
        <p:sp>
          <p:nvSpPr>
            <p:cNvPr id="2186" name="Google Shape;2186;p164"/>
            <p:cNvSpPr txBox="1"/>
            <p:nvPr/>
          </p:nvSpPr>
          <p:spPr>
            <a:xfrm>
              <a:off x="1365600" y="2690536"/>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03</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187" name="Google Shape;2187;p164"/>
          <p:cNvGrpSpPr/>
          <p:nvPr/>
        </p:nvGrpSpPr>
        <p:grpSpPr>
          <a:xfrm>
            <a:off x="384014" y="3320111"/>
            <a:ext cx="8448068" cy="671133"/>
            <a:chOff x="1037539" y="3320123"/>
            <a:chExt cx="7068922" cy="671133"/>
          </a:xfrm>
        </p:grpSpPr>
        <p:sp>
          <p:nvSpPr>
            <p:cNvPr id="2188" name="Google Shape;2188;p164"/>
            <p:cNvSpPr/>
            <p:nvPr/>
          </p:nvSpPr>
          <p:spPr>
            <a:xfrm>
              <a:off x="1037539" y="3320290"/>
              <a:ext cx="1310700" cy="670800"/>
            </a:xfrm>
            <a:prstGeom prst="homePlate">
              <a:avLst>
                <a:gd fmla="val 50000" name="adj"/>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189" name="Google Shape;2189;p164"/>
            <p:cNvGrpSpPr/>
            <p:nvPr/>
          </p:nvGrpSpPr>
          <p:grpSpPr>
            <a:xfrm>
              <a:off x="2081001" y="3320123"/>
              <a:ext cx="6025460" cy="671133"/>
              <a:chOff x="2189480" y="2153920"/>
              <a:chExt cx="7213528" cy="1137900"/>
            </a:xfrm>
          </p:grpSpPr>
          <p:sp>
            <p:nvSpPr>
              <p:cNvPr id="2190" name="Google Shape;2190;p164"/>
              <p:cNvSpPr/>
              <p:nvPr/>
            </p:nvSpPr>
            <p:spPr>
              <a:xfrm>
                <a:off x="2189480" y="2153920"/>
                <a:ext cx="7173000" cy="1137900"/>
              </a:xfrm>
              <a:prstGeom prst="chevron">
                <a:avLst>
                  <a:gd fmla="val 50000" name="adj"/>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191" name="Google Shape;2191;p164"/>
              <p:cNvSpPr/>
              <p:nvPr/>
            </p:nvSpPr>
            <p:spPr>
              <a:xfrm>
                <a:off x="7779408" y="2153920"/>
                <a:ext cx="1623600" cy="1137900"/>
              </a:xfrm>
              <a:prstGeom prst="rect">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192" name="Google Shape;2192;p164"/>
            <p:cNvSpPr txBox="1"/>
            <p:nvPr/>
          </p:nvSpPr>
          <p:spPr>
            <a:xfrm flipH="1">
              <a:off x="2514450" y="3477640"/>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Counting by adding and subtraction</a:t>
              </a:r>
              <a:endParaRPr b="0" i="0" sz="1400" u="none" cap="none" strike="noStrike">
                <a:solidFill>
                  <a:srgbClr val="FFFFFF"/>
                </a:solidFill>
                <a:latin typeface="Roboto"/>
                <a:ea typeface="Roboto"/>
                <a:cs typeface="Roboto"/>
                <a:sym typeface="Roboto"/>
              </a:endParaRPr>
            </a:p>
          </p:txBody>
        </p:sp>
        <p:sp>
          <p:nvSpPr>
            <p:cNvPr id="2193" name="Google Shape;2193;p164"/>
            <p:cNvSpPr txBox="1"/>
            <p:nvPr/>
          </p:nvSpPr>
          <p:spPr>
            <a:xfrm>
              <a:off x="1365600" y="3429340"/>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04</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16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2199" name="Google Shape;2199;p165"/>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How is the factorial of a number n defined?</a:t>
            </a:r>
            <a:endParaRPr b="1" i="0" sz="1800" u="none" cap="none" strike="noStrike">
              <a:solidFill>
                <a:srgbClr val="FFAB40"/>
              </a:solidFill>
              <a:latin typeface="Fira Sans"/>
              <a:ea typeface="Fira Sans"/>
              <a:cs typeface="Fira Sans"/>
              <a:sym typeface="Fira Sans"/>
            </a:endParaRPr>
          </a:p>
        </p:txBody>
      </p:sp>
      <p:sp>
        <p:nvSpPr>
          <p:cNvPr id="2200" name="Google Shape;2200;p165"/>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2201" name="Google Shape;2201;p165"/>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2202" name="Google Shape;2202;p165"/>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2203" name="Google Shape;2203;p165"/>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2204" name="Google Shape;2204;p165"/>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2205" name="Google Shape;2205;p165"/>
          <p:cNvSpPr txBox="1"/>
          <p:nvPr/>
        </p:nvSpPr>
        <p:spPr>
          <a:xfrm>
            <a:off x="1081525" y="2205525"/>
            <a:ext cx="74214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sum of all natural numbers less than or equal to n</a:t>
            </a:r>
            <a:endParaRPr b="0" i="0" sz="1100" u="none" cap="none" strike="noStrike">
              <a:solidFill>
                <a:schemeClr val="lt1"/>
              </a:solidFill>
              <a:latin typeface="Fira Sans"/>
              <a:ea typeface="Fira Sans"/>
              <a:cs typeface="Fira Sans"/>
              <a:sym typeface="Fira Sans"/>
            </a:endParaRPr>
          </a:p>
        </p:txBody>
      </p:sp>
      <p:sp>
        <p:nvSpPr>
          <p:cNvPr id="2206" name="Google Shape;2206;p165"/>
          <p:cNvSpPr txBox="1"/>
          <p:nvPr/>
        </p:nvSpPr>
        <p:spPr>
          <a:xfrm>
            <a:off x="1081525" y="2779734"/>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product of all natural numbers less than or equal to n</a:t>
            </a:r>
            <a:endParaRPr b="0" i="0" sz="1800" u="none" cap="none" strike="noStrike">
              <a:solidFill>
                <a:schemeClr val="lt1"/>
              </a:solidFill>
              <a:latin typeface="Fira Sans"/>
              <a:ea typeface="Fira Sans"/>
              <a:cs typeface="Fira Sans"/>
              <a:sym typeface="Fira Sans"/>
            </a:endParaRPr>
          </a:p>
        </p:txBody>
      </p:sp>
      <p:sp>
        <p:nvSpPr>
          <p:cNvPr id="2207" name="Google Shape;2207;p165"/>
          <p:cNvSpPr txBox="1"/>
          <p:nvPr/>
        </p:nvSpPr>
        <p:spPr>
          <a:xfrm>
            <a:off x="1081525" y="3353944"/>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Fira Sans"/>
                <a:ea typeface="Fira Sans"/>
                <a:cs typeface="Fira Sans"/>
                <a:sym typeface="Fira Sans"/>
              </a:rPr>
              <a:t>n! is the difference between n and 1</a:t>
            </a:r>
            <a:endParaRPr b="0" i="0" sz="1400" u="none" cap="none" strike="noStrike">
              <a:solidFill>
                <a:schemeClr val="lt1"/>
              </a:solidFill>
              <a:latin typeface="Fira Sans"/>
              <a:ea typeface="Fira Sans"/>
              <a:cs typeface="Fira Sans"/>
              <a:sym typeface="Fira Sans"/>
            </a:endParaRPr>
          </a:p>
        </p:txBody>
      </p:sp>
      <p:sp>
        <p:nvSpPr>
          <p:cNvPr id="2208" name="Google Shape;2208;p165"/>
          <p:cNvSpPr txBox="1"/>
          <p:nvPr/>
        </p:nvSpPr>
        <p:spPr>
          <a:xfrm>
            <a:off x="1081525" y="3928153"/>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square root of n</a:t>
            </a:r>
            <a:endParaRPr b="0" i="0" sz="1400" u="none" cap="none" strike="noStrike">
              <a:solidFill>
                <a:schemeClr val="lt1"/>
              </a:solidFill>
              <a:latin typeface="Fira Sans"/>
              <a:ea typeface="Fira Sans"/>
              <a:cs typeface="Fira Sans"/>
              <a:sym typeface="Fira San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16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a:t>
            </a:r>
            <a:endParaRPr b="0" i="0" sz="2800" u="none" cap="none" strike="noStrike">
              <a:solidFill>
                <a:srgbClr val="3896D2"/>
              </a:solidFill>
              <a:latin typeface="Fira Sans"/>
              <a:ea typeface="Fira Sans"/>
              <a:cs typeface="Fira Sans"/>
              <a:sym typeface="Fira Sans"/>
            </a:endParaRPr>
          </a:p>
        </p:txBody>
      </p:sp>
      <p:sp>
        <p:nvSpPr>
          <p:cNvPr id="2214" name="Google Shape;2214;p166"/>
          <p:cNvSpPr txBox="1"/>
          <p:nvPr/>
        </p:nvSpPr>
        <p:spPr>
          <a:xfrm>
            <a:off x="311700" y="1152475"/>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How is the factorial of a number n defined?</a:t>
            </a:r>
            <a:endParaRPr b="1" i="0" sz="1800" u="none" cap="none" strike="noStrike">
              <a:solidFill>
                <a:srgbClr val="FFAB40"/>
              </a:solidFill>
              <a:latin typeface="Fira Sans"/>
              <a:ea typeface="Fira Sans"/>
              <a:cs typeface="Fira Sans"/>
              <a:sym typeface="Fira Sans"/>
            </a:endParaRPr>
          </a:p>
        </p:txBody>
      </p:sp>
      <p:sp>
        <p:nvSpPr>
          <p:cNvPr id="2215" name="Google Shape;2215;p166"/>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2216" name="Google Shape;2216;p166"/>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2217" name="Google Shape;2217;p166"/>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2218" name="Google Shape;2218;p166"/>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2219" name="Google Shape;2219;p166"/>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2220" name="Google Shape;2220;p166"/>
          <p:cNvSpPr txBox="1"/>
          <p:nvPr/>
        </p:nvSpPr>
        <p:spPr>
          <a:xfrm>
            <a:off x="1080349" y="2205525"/>
            <a:ext cx="74214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sum of all natural numbers less than or equal to n</a:t>
            </a:r>
            <a:endParaRPr b="0" i="0" sz="1100" u="none" cap="none" strike="noStrike">
              <a:solidFill>
                <a:schemeClr val="lt1"/>
              </a:solidFill>
              <a:latin typeface="Fira Sans"/>
              <a:ea typeface="Fira Sans"/>
              <a:cs typeface="Fira Sans"/>
              <a:sym typeface="Fira Sans"/>
            </a:endParaRPr>
          </a:p>
        </p:txBody>
      </p:sp>
      <p:sp>
        <p:nvSpPr>
          <p:cNvPr id="2221" name="Google Shape;2221;p166"/>
          <p:cNvSpPr txBox="1"/>
          <p:nvPr/>
        </p:nvSpPr>
        <p:spPr>
          <a:xfrm>
            <a:off x="1025067" y="2798454"/>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product of all natural numbers less than or equal to n</a:t>
            </a:r>
            <a:endParaRPr b="0" i="0" sz="1800" u="none" cap="none" strike="noStrike">
              <a:solidFill>
                <a:schemeClr val="lt1"/>
              </a:solidFill>
              <a:latin typeface="Fira Sans"/>
              <a:ea typeface="Fira Sans"/>
              <a:cs typeface="Fira Sans"/>
              <a:sym typeface="Fira Sans"/>
            </a:endParaRPr>
          </a:p>
        </p:txBody>
      </p:sp>
      <p:sp>
        <p:nvSpPr>
          <p:cNvPr id="2222" name="Google Shape;2222;p166"/>
          <p:cNvSpPr txBox="1"/>
          <p:nvPr/>
        </p:nvSpPr>
        <p:spPr>
          <a:xfrm>
            <a:off x="1068281" y="3272550"/>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Fira Sans"/>
                <a:ea typeface="Fira Sans"/>
                <a:cs typeface="Fira Sans"/>
                <a:sym typeface="Fira Sans"/>
              </a:rPr>
              <a:t>n! is the difference between n and 1</a:t>
            </a:r>
            <a:endParaRPr b="0" i="0" sz="1400" u="none" cap="none" strike="noStrike">
              <a:solidFill>
                <a:schemeClr val="lt1"/>
              </a:solidFill>
              <a:latin typeface="Fira Sans"/>
              <a:ea typeface="Fira Sans"/>
              <a:cs typeface="Fira Sans"/>
              <a:sym typeface="Fira Sans"/>
            </a:endParaRPr>
          </a:p>
        </p:txBody>
      </p:sp>
      <p:sp>
        <p:nvSpPr>
          <p:cNvPr id="2223" name="Google Shape;2223;p166"/>
          <p:cNvSpPr txBox="1"/>
          <p:nvPr/>
        </p:nvSpPr>
        <p:spPr>
          <a:xfrm>
            <a:off x="966200" y="3928153"/>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n! is the square root of n</a:t>
            </a:r>
            <a:endParaRPr b="0" i="0" sz="1400" u="none" cap="none" strike="noStrike">
              <a:solidFill>
                <a:schemeClr val="lt1"/>
              </a:solidFill>
              <a:latin typeface="Fira Sans"/>
              <a:ea typeface="Fira Sans"/>
              <a:cs typeface="Fira Sans"/>
              <a:sym typeface="Fira Sans"/>
            </a:endParaRPr>
          </a:p>
        </p:txBody>
      </p:sp>
      <p:pic>
        <p:nvPicPr>
          <p:cNvPr descr="Badge Tick1 outline" id="2224" name="Google Shape;2224;p166"/>
          <p:cNvPicPr preferRelativeResize="0"/>
          <p:nvPr/>
        </p:nvPicPr>
        <p:blipFill rotWithShape="1">
          <a:blip r:embed="rId3">
            <a:alphaModFix/>
          </a:blip>
          <a:srcRect b="0" l="0" r="0" t="0"/>
          <a:stretch/>
        </p:blipFill>
        <p:spPr>
          <a:xfrm>
            <a:off x="141512" y="2524014"/>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8" name="Shape 2228"/>
        <p:cNvGrpSpPr/>
        <p:nvPr/>
      </p:nvGrpSpPr>
      <p:grpSpPr>
        <a:xfrm>
          <a:off x="0" y="0"/>
          <a:ext cx="0" cy="0"/>
          <a:chOff x="0" y="0"/>
          <a:chExt cx="0" cy="0"/>
        </a:xfrm>
      </p:grpSpPr>
      <p:sp>
        <p:nvSpPr>
          <p:cNvPr id="2229" name="Google Shape;2229;p167"/>
          <p:cNvSpPr txBox="1"/>
          <p:nvPr>
            <p:ph idx="12" type="sldNum"/>
          </p:nvPr>
        </p:nvSpPr>
        <p:spPr>
          <a:xfrm>
            <a:off x="62459" y="4707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sz="1300">
                <a:latin typeface="Fira Sans"/>
                <a:ea typeface="Fira Sans"/>
                <a:cs typeface="Fira Sans"/>
                <a:sym typeface="Fira Sans"/>
              </a:rPr>
              <a:t>‹#›</a:t>
            </a:fld>
            <a:endParaRPr sz="1300">
              <a:latin typeface="Fira Sans"/>
              <a:ea typeface="Fira Sans"/>
              <a:cs typeface="Fira Sans"/>
              <a:sym typeface="Fira Sans"/>
            </a:endParaRPr>
          </a:p>
        </p:txBody>
      </p:sp>
      <p:pic>
        <p:nvPicPr>
          <p:cNvPr id="2230" name="Google Shape;2230;p167"/>
          <p:cNvPicPr preferRelativeResize="0"/>
          <p:nvPr/>
        </p:nvPicPr>
        <p:blipFill rotWithShape="1">
          <a:blip r:embed="rId3">
            <a:alphaModFix/>
          </a:blip>
          <a:srcRect b="0" l="0" r="0" t="0"/>
          <a:stretch/>
        </p:blipFill>
        <p:spPr>
          <a:xfrm>
            <a:off x="1518450" y="476250"/>
            <a:ext cx="5962800" cy="4191000"/>
          </a:xfrm>
          <a:prstGeom prst="cloud">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sp>
        <p:nvSpPr>
          <p:cNvPr id="2235" name="Google Shape;2235;p168"/>
          <p:cNvSpPr txBox="1"/>
          <p:nvPr>
            <p:ph type="title"/>
          </p:nvPr>
        </p:nvSpPr>
        <p:spPr>
          <a:xfrm>
            <a:off x="242650" y="848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Today’s </a:t>
            </a:r>
            <a:r>
              <a:rPr lang="en" sz="2700">
                <a:solidFill>
                  <a:srgbClr val="3896D2"/>
                </a:solidFill>
              </a:rPr>
              <a:t>Agenda</a:t>
            </a:r>
            <a:endParaRPr sz="2700">
              <a:solidFill>
                <a:srgbClr val="3896D2"/>
              </a:solidFill>
            </a:endParaRPr>
          </a:p>
        </p:txBody>
      </p:sp>
      <p:grpSp>
        <p:nvGrpSpPr>
          <p:cNvPr id="2236" name="Google Shape;2236;p168"/>
          <p:cNvGrpSpPr/>
          <p:nvPr/>
        </p:nvGrpSpPr>
        <p:grpSpPr>
          <a:xfrm>
            <a:off x="6787913" y="1076325"/>
            <a:ext cx="1653075" cy="3657600"/>
            <a:chOff x="6788575" y="1076325"/>
            <a:chExt cx="1653075" cy="3657600"/>
          </a:xfrm>
        </p:grpSpPr>
        <p:sp>
          <p:nvSpPr>
            <p:cNvPr id="2237" name="Google Shape;2237;p168"/>
            <p:cNvSpPr/>
            <p:nvPr/>
          </p:nvSpPr>
          <p:spPr>
            <a:xfrm>
              <a:off x="6788575" y="1076325"/>
              <a:ext cx="1645200" cy="3301800"/>
            </a:xfrm>
            <a:prstGeom prst="round2SameRect">
              <a:avLst>
                <a:gd fmla="val 50000" name="adj1"/>
                <a:gd fmla="val 0" name="adj2"/>
              </a:avLst>
            </a:prstGeom>
            <a:solidFill>
              <a:srgbClr val="3A80B6"/>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Types of Probability</a:t>
              </a:r>
              <a:endParaRPr b="1" i="0" sz="2000" u="none" cap="none" strike="noStrike">
                <a:solidFill>
                  <a:srgbClr val="FFFFFF"/>
                </a:solidFill>
                <a:latin typeface="Roboto"/>
                <a:ea typeface="Roboto"/>
                <a:cs typeface="Roboto"/>
                <a:sym typeface="Roboto"/>
              </a:endParaRPr>
            </a:p>
          </p:txBody>
        </p:sp>
        <p:sp>
          <p:nvSpPr>
            <p:cNvPr id="2238" name="Google Shape;2238;p168"/>
            <p:cNvSpPr/>
            <p:nvPr/>
          </p:nvSpPr>
          <p:spPr>
            <a:xfrm>
              <a:off x="7119925"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3A80B6"/>
                  </a:solidFill>
                  <a:latin typeface="Fira Sans Extra Condensed Medium"/>
                  <a:ea typeface="Fira Sans Extra Condensed Medium"/>
                  <a:cs typeface="Fira Sans Extra Condensed Medium"/>
                  <a:sym typeface="Fira Sans Extra Condensed Medium"/>
                </a:rPr>
                <a:t>4</a:t>
              </a:r>
              <a:endParaRPr b="0" i="0" sz="1400" u="none" cap="none" strike="noStrike">
                <a:solidFill>
                  <a:srgbClr val="3A80B6"/>
                </a:solidFill>
                <a:latin typeface="Arial"/>
                <a:ea typeface="Arial"/>
                <a:cs typeface="Arial"/>
                <a:sym typeface="Arial"/>
              </a:endParaRPr>
            </a:p>
          </p:txBody>
        </p:sp>
        <p:sp>
          <p:nvSpPr>
            <p:cNvPr id="2239" name="Google Shape;2239;p168"/>
            <p:cNvSpPr/>
            <p:nvPr/>
          </p:nvSpPr>
          <p:spPr>
            <a:xfrm>
              <a:off x="6796450" y="4485525"/>
              <a:ext cx="1645200" cy="248400"/>
            </a:xfrm>
            <a:prstGeom prst="rect">
              <a:avLst/>
            </a:prstGeom>
            <a:solidFill>
              <a:srgbClr val="3A80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40" name="Google Shape;2240;p168"/>
            <p:cNvGrpSpPr/>
            <p:nvPr/>
          </p:nvGrpSpPr>
          <p:grpSpPr>
            <a:xfrm>
              <a:off x="7336859" y="2789275"/>
              <a:ext cx="548633" cy="548633"/>
              <a:chOff x="-48633175" y="2711375"/>
              <a:chExt cx="299325" cy="299325"/>
            </a:xfrm>
          </p:grpSpPr>
          <p:sp>
            <p:nvSpPr>
              <p:cNvPr id="2241" name="Google Shape;2241;p168"/>
              <p:cNvSpPr/>
              <p:nvPr/>
            </p:nvSpPr>
            <p:spPr>
              <a:xfrm>
                <a:off x="-48633175" y="2711375"/>
                <a:ext cx="299325" cy="299325"/>
              </a:xfrm>
              <a:custGeom>
                <a:rect b="b" l="l" r="r" t="t"/>
                <a:pathLst>
                  <a:path extrusionOk="0" h="11973" w="11973">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68"/>
              <p:cNvSpPr/>
              <p:nvPr/>
            </p:nvSpPr>
            <p:spPr>
              <a:xfrm>
                <a:off x="-48579600" y="2764950"/>
                <a:ext cx="192975" cy="191400"/>
              </a:xfrm>
              <a:custGeom>
                <a:rect b="b" l="l" r="r" t="t"/>
                <a:pathLst>
                  <a:path extrusionOk="0" h="7656" w="7719">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43" name="Google Shape;2243;p168"/>
          <p:cNvGrpSpPr/>
          <p:nvPr/>
        </p:nvGrpSpPr>
        <p:grpSpPr>
          <a:xfrm>
            <a:off x="703013" y="1076325"/>
            <a:ext cx="1649125" cy="3657600"/>
            <a:chOff x="703675" y="1076325"/>
            <a:chExt cx="1649125" cy="3657600"/>
          </a:xfrm>
        </p:grpSpPr>
        <p:sp>
          <p:nvSpPr>
            <p:cNvPr id="2244" name="Google Shape;2244;p168"/>
            <p:cNvSpPr/>
            <p:nvPr/>
          </p:nvSpPr>
          <p:spPr>
            <a:xfrm>
              <a:off x="707600" y="1076325"/>
              <a:ext cx="1645200" cy="3301800"/>
            </a:xfrm>
            <a:prstGeom prst="round2SameRect">
              <a:avLst>
                <a:gd fmla="val 50000" name="adj1"/>
                <a:gd fmla="val 0" name="adj2"/>
              </a:avLst>
            </a:prstGeom>
            <a:solidFill>
              <a:srgbClr val="FBB831"/>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800" u="none" cap="none" strike="noStrike">
                  <a:solidFill>
                    <a:srgbClr val="FFFFFF"/>
                  </a:solidFill>
                  <a:latin typeface="Roboto"/>
                  <a:ea typeface="Roboto"/>
                  <a:cs typeface="Roboto"/>
                  <a:sym typeface="Roboto"/>
                </a:rPr>
                <a:t>What is Probability</a:t>
              </a:r>
              <a:endParaRPr b="1" i="0" sz="1800" u="none" cap="none" strike="noStrike">
                <a:solidFill>
                  <a:srgbClr val="FFFFFF"/>
                </a:solidFill>
                <a:latin typeface="Arial"/>
                <a:ea typeface="Arial"/>
                <a:cs typeface="Arial"/>
                <a:sym typeface="Arial"/>
              </a:endParaRPr>
            </a:p>
          </p:txBody>
        </p:sp>
        <p:sp>
          <p:nvSpPr>
            <p:cNvPr id="2245" name="Google Shape;2245;p168"/>
            <p:cNvSpPr/>
            <p:nvPr/>
          </p:nvSpPr>
          <p:spPr>
            <a:xfrm>
              <a:off x="1038950"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D1CC62"/>
                  </a:solidFill>
                  <a:latin typeface="Fira Sans Extra Condensed Medium"/>
                  <a:ea typeface="Fira Sans Extra Condensed Medium"/>
                  <a:cs typeface="Fira Sans Extra Condensed Medium"/>
                  <a:sym typeface="Fira Sans Extra Condensed Medium"/>
                </a:rPr>
                <a:t>1</a:t>
              </a:r>
              <a:endParaRPr b="0" i="0" sz="1400" u="none" cap="none" strike="noStrike">
                <a:solidFill>
                  <a:srgbClr val="D1CC62"/>
                </a:solidFill>
                <a:latin typeface="Arial"/>
                <a:ea typeface="Arial"/>
                <a:cs typeface="Arial"/>
                <a:sym typeface="Arial"/>
              </a:endParaRPr>
            </a:p>
          </p:txBody>
        </p:sp>
        <p:sp>
          <p:nvSpPr>
            <p:cNvPr id="2246" name="Google Shape;2246;p168"/>
            <p:cNvSpPr/>
            <p:nvPr/>
          </p:nvSpPr>
          <p:spPr>
            <a:xfrm>
              <a:off x="703675" y="4485525"/>
              <a:ext cx="1645200" cy="248400"/>
            </a:xfrm>
            <a:prstGeom prst="rect">
              <a:avLst/>
            </a:prstGeom>
            <a:solidFill>
              <a:srgbClr val="FBB8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47" name="Google Shape;2247;p168"/>
            <p:cNvGrpSpPr/>
            <p:nvPr/>
          </p:nvGrpSpPr>
          <p:grpSpPr>
            <a:xfrm>
              <a:off x="1251957" y="2789276"/>
              <a:ext cx="548631" cy="548631"/>
              <a:chOff x="-46772025" y="2701925"/>
              <a:chExt cx="300900" cy="300900"/>
            </a:xfrm>
          </p:grpSpPr>
          <p:sp>
            <p:nvSpPr>
              <p:cNvPr id="2248" name="Google Shape;2248;p168"/>
              <p:cNvSpPr/>
              <p:nvPr/>
            </p:nvSpPr>
            <p:spPr>
              <a:xfrm>
                <a:off x="-46647575" y="2826375"/>
                <a:ext cx="53575" cy="53575"/>
              </a:xfrm>
              <a:custGeom>
                <a:rect b="b" l="l" r="r" t="t"/>
                <a:pathLst>
                  <a:path extrusionOk="0" h="2143" w="2143">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168"/>
              <p:cNvSpPr/>
              <p:nvPr/>
            </p:nvSpPr>
            <p:spPr>
              <a:xfrm>
                <a:off x="-46772025" y="2701925"/>
                <a:ext cx="300900" cy="300900"/>
              </a:xfrm>
              <a:custGeom>
                <a:rect b="b" l="l" r="r" t="t"/>
                <a:pathLst>
                  <a:path extrusionOk="0" h="12036" w="12036">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50" name="Google Shape;2250;p168"/>
          <p:cNvGrpSpPr/>
          <p:nvPr/>
        </p:nvGrpSpPr>
        <p:grpSpPr>
          <a:xfrm>
            <a:off x="4760921" y="1076325"/>
            <a:ext cx="1649142" cy="3657600"/>
            <a:chOff x="4761583" y="1076325"/>
            <a:chExt cx="1649142" cy="3657600"/>
          </a:xfrm>
        </p:grpSpPr>
        <p:sp>
          <p:nvSpPr>
            <p:cNvPr id="2251" name="Google Shape;2251;p168"/>
            <p:cNvSpPr/>
            <p:nvPr/>
          </p:nvSpPr>
          <p:spPr>
            <a:xfrm>
              <a:off x="4761583" y="1076325"/>
              <a:ext cx="1645200" cy="3301800"/>
            </a:xfrm>
            <a:prstGeom prst="round2SameRect">
              <a:avLst>
                <a:gd fmla="val 50000" name="adj1"/>
                <a:gd fmla="val 0" name="adj2"/>
              </a:avLst>
            </a:prstGeom>
            <a:solidFill>
              <a:srgbClr val="1FC2BA"/>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1"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Roboto"/>
                  <a:ea typeface="Roboto"/>
                  <a:cs typeface="Roboto"/>
                  <a:sym typeface="Roboto"/>
                </a:rPr>
                <a:t>Independence in Probability</a:t>
              </a:r>
              <a:endParaRPr b="1" i="0" sz="1400" u="none" cap="none" strike="noStrike">
                <a:solidFill>
                  <a:srgbClr val="FFFFFF"/>
                </a:solidFill>
                <a:latin typeface="Arial"/>
                <a:ea typeface="Arial"/>
                <a:cs typeface="Arial"/>
                <a:sym typeface="Arial"/>
              </a:endParaRPr>
            </a:p>
          </p:txBody>
        </p:sp>
        <p:sp>
          <p:nvSpPr>
            <p:cNvPr id="2252" name="Google Shape;2252;p168"/>
            <p:cNvSpPr/>
            <p:nvPr/>
          </p:nvSpPr>
          <p:spPr>
            <a:xfrm>
              <a:off x="5063608"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1FC2BA"/>
                  </a:solidFill>
                  <a:latin typeface="Fira Sans Extra Condensed Medium"/>
                  <a:ea typeface="Fira Sans Extra Condensed Medium"/>
                  <a:cs typeface="Fira Sans Extra Condensed Medium"/>
                  <a:sym typeface="Fira Sans Extra Condensed Medium"/>
                </a:rPr>
                <a:t>3</a:t>
              </a:r>
              <a:endParaRPr b="0" i="0" sz="1400" u="none" cap="none" strike="noStrike">
                <a:solidFill>
                  <a:srgbClr val="1FC2BA"/>
                </a:solidFill>
                <a:latin typeface="Arial"/>
                <a:ea typeface="Arial"/>
                <a:cs typeface="Arial"/>
                <a:sym typeface="Arial"/>
              </a:endParaRPr>
            </a:p>
          </p:txBody>
        </p:sp>
        <p:sp>
          <p:nvSpPr>
            <p:cNvPr id="2253" name="Google Shape;2253;p168"/>
            <p:cNvSpPr/>
            <p:nvPr/>
          </p:nvSpPr>
          <p:spPr>
            <a:xfrm>
              <a:off x="4765525" y="4485525"/>
              <a:ext cx="1645200" cy="248400"/>
            </a:xfrm>
            <a:prstGeom prst="rect">
              <a:avLst/>
            </a:prstGeom>
            <a:solidFill>
              <a:srgbClr val="1FC2B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168"/>
            <p:cNvSpPr/>
            <p:nvPr/>
          </p:nvSpPr>
          <p:spPr>
            <a:xfrm>
              <a:off x="5309863" y="2789272"/>
              <a:ext cx="548641" cy="548631"/>
            </a:xfrm>
            <a:custGeom>
              <a:rect b="b" l="l" r="r" t="t"/>
              <a:pathLst>
                <a:path extrusionOk="0" h="12036" w="12068">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5" name="Google Shape;2255;p168"/>
          <p:cNvGrpSpPr/>
          <p:nvPr/>
        </p:nvGrpSpPr>
        <p:grpSpPr>
          <a:xfrm>
            <a:off x="2733929" y="1076325"/>
            <a:ext cx="1645208" cy="3657600"/>
            <a:chOff x="2734592" y="1076325"/>
            <a:chExt cx="1645208" cy="3657600"/>
          </a:xfrm>
        </p:grpSpPr>
        <p:sp>
          <p:nvSpPr>
            <p:cNvPr id="2256" name="Google Shape;2256;p168"/>
            <p:cNvSpPr/>
            <p:nvPr/>
          </p:nvSpPr>
          <p:spPr>
            <a:xfrm>
              <a:off x="2734592" y="1076325"/>
              <a:ext cx="1645200" cy="3301800"/>
            </a:xfrm>
            <a:prstGeom prst="round2SameRect">
              <a:avLst>
                <a:gd fmla="val 50000" name="adj1"/>
                <a:gd fmla="val 0" name="adj2"/>
              </a:avLst>
            </a:prstGeom>
            <a:solidFill>
              <a:srgbClr val="C27BA0"/>
            </a:solidFill>
            <a:ln>
              <a:noFill/>
            </a:ln>
          </p:spPr>
          <p:txBody>
            <a:bodyPr anchorCtr="0" anchor="t" bIns="91425" lIns="0" spcFirstLastPara="1" rIns="0" wrap="square" tIns="1371600">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FFFFF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100"/>
                <a:buFont typeface="Arial"/>
                <a:buNone/>
              </a:pPr>
              <a:r>
                <a:rPr b="1" i="0" lang="en" sz="1600" u="none" cap="none" strike="noStrike">
                  <a:solidFill>
                    <a:srgbClr val="FFFFFF"/>
                  </a:solidFill>
                  <a:latin typeface="Roboto"/>
                  <a:ea typeface="Roboto"/>
                  <a:cs typeface="Roboto"/>
                  <a:sym typeface="Roboto"/>
                </a:rPr>
                <a:t>Approach to Probabilit</a:t>
              </a:r>
              <a:r>
                <a:rPr b="1" i="0" lang="en" sz="2000" u="none" cap="none" strike="noStrike">
                  <a:solidFill>
                    <a:srgbClr val="FFFFFF"/>
                  </a:solidFill>
                  <a:latin typeface="Roboto"/>
                  <a:ea typeface="Roboto"/>
                  <a:cs typeface="Roboto"/>
                  <a:sym typeface="Roboto"/>
                </a:rPr>
                <a:t>y</a:t>
              </a:r>
              <a:endParaRPr b="1" i="0" sz="2000" u="none" cap="none" strike="noStrike">
                <a:solidFill>
                  <a:srgbClr val="FFFFFF"/>
                </a:solidFill>
                <a:latin typeface="Arial"/>
                <a:ea typeface="Arial"/>
                <a:cs typeface="Arial"/>
                <a:sym typeface="Arial"/>
              </a:endParaRPr>
            </a:p>
          </p:txBody>
        </p:sp>
        <p:sp>
          <p:nvSpPr>
            <p:cNvPr id="2257" name="Google Shape;2257;p168"/>
            <p:cNvSpPr/>
            <p:nvPr/>
          </p:nvSpPr>
          <p:spPr>
            <a:xfrm>
              <a:off x="3065942" y="1342350"/>
              <a:ext cx="982500" cy="982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0"/>
                <a:buFont typeface="Arial"/>
                <a:buNone/>
              </a:pPr>
              <a:r>
                <a:rPr b="0" i="0" lang="en" sz="5000" u="none" cap="none" strike="noStrike">
                  <a:solidFill>
                    <a:srgbClr val="8FC03F"/>
                  </a:solidFill>
                  <a:latin typeface="Fira Sans Extra Condensed Medium"/>
                  <a:ea typeface="Fira Sans Extra Condensed Medium"/>
                  <a:cs typeface="Fira Sans Extra Condensed Medium"/>
                  <a:sym typeface="Fira Sans Extra Condensed Medium"/>
                </a:rPr>
                <a:t>2</a:t>
              </a:r>
              <a:endParaRPr b="0" i="0" sz="1400" u="none" cap="none" strike="noStrike">
                <a:solidFill>
                  <a:srgbClr val="8FC03F"/>
                </a:solidFill>
                <a:latin typeface="Arial"/>
                <a:ea typeface="Arial"/>
                <a:cs typeface="Arial"/>
                <a:sym typeface="Arial"/>
              </a:endParaRPr>
            </a:p>
          </p:txBody>
        </p:sp>
        <p:sp>
          <p:nvSpPr>
            <p:cNvPr id="2258" name="Google Shape;2258;p168"/>
            <p:cNvSpPr/>
            <p:nvPr/>
          </p:nvSpPr>
          <p:spPr>
            <a:xfrm>
              <a:off x="2734600" y="4485525"/>
              <a:ext cx="1645200" cy="248400"/>
            </a:xfrm>
            <a:prstGeom prst="rect">
              <a:avLst/>
            </a:prstGeom>
            <a:solidFill>
              <a:srgbClr val="C27B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9" name="Google Shape;2259;p168"/>
            <p:cNvGrpSpPr/>
            <p:nvPr/>
          </p:nvGrpSpPr>
          <p:grpSpPr>
            <a:xfrm>
              <a:off x="3282873" y="2789270"/>
              <a:ext cx="548631" cy="548652"/>
              <a:chOff x="-49786250" y="2316650"/>
              <a:chExt cx="300900" cy="299450"/>
            </a:xfrm>
          </p:grpSpPr>
          <p:sp>
            <p:nvSpPr>
              <p:cNvPr id="2260" name="Google Shape;2260;p168"/>
              <p:cNvSpPr/>
              <p:nvPr/>
            </p:nvSpPr>
            <p:spPr>
              <a:xfrm>
                <a:off x="-49746875" y="2316650"/>
                <a:ext cx="217400" cy="299450"/>
              </a:xfrm>
              <a:custGeom>
                <a:rect b="b" l="l" r="r" t="t"/>
                <a:pathLst>
                  <a:path extrusionOk="0" h="11978" w="8696">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168"/>
              <p:cNvSpPr/>
              <p:nvPr/>
            </p:nvSpPr>
            <p:spPr>
              <a:xfrm>
                <a:off x="-49786250" y="2422325"/>
                <a:ext cx="36250" cy="17350"/>
              </a:xfrm>
              <a:custGeom>
                <a:rect b="b" l="l" r="r" t="t"/>
                <a:pathLst>
                  <a:path extrusionOk="0" h="694" w="145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68"/>
              <p:cNvSpPr/>
              <p:nvPr/>
            </p:nvSpPr>
            <p:spPr>
              <a:xfrm>
                <a:off x="-49783900" y="2362475"/>
                <a:ext cx="31550" cy="30150"/>
              </a:xfrm>
              <a:custGeom>
                <a:rect b="b" l="l" r="r" t="t"/>
                <a:pathLst>
                  <a:path extrusionOk="0" h="1206" w="1262">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68"/>
              <p:cNvSpPr/>
              <p:nvPr/>
            </p:nvSpPr>
            <p:spPr>
              <a:xfrm>
                <a:off x="-49783900" y="2468800"/>
                <a:ext cx="31550" cy="30150"/>
              </a:xfrm>
              <a:custGeom>
                <a:rect b="b" l="l" r="r" t="t"/>
                <a:pathLst>
                  <a:path extrusionOk="0" h="1206" w="1262">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68"/>
              <p:cNvSpPr/>
              <p:nvPr/>
            </p:nvSpPr>
            <p:spPr>
              <a:xfrm>
                <a:off x="-495208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168"/>
              <p:cNvSpPr/>
              <p:nvPr/>
            </p:nvSpPr>
            <p:spPr>
              <a:xfrm>
                <a:off x="-49519250" y="2362475"/>
                <a:ext cx="31525" cy="31325"/>
              </a:xfrm>
              <a:custGeom>
                <a:rect b="b" l="l" r="r" t="t"/>
                <a:pathLst>
                  <a:path extrusionOk="0" h="1253" w="1261">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168"/>
              <p:cNvSpPr/>
              <p:nvPr/>
            </p:nvSpPr>
            <p:spPr>
              <a:xfrm>
                <a:off x="-49519250" y="2468800"/>
                <a:ext cx="31525" cy="30150"/>
              </a:xfrm>
              <a:custGeom>
                <a:rect b="b" l="l" r="r" t="t"/>
                <a:pathLst>
                  <a:path extrusionOk="0" h="1206" w="1261">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2267" name="Google Shape;2267;p168"/>
          <p:cNvCxnSpPr/>
          <p:nvPr/>
        </p:nvCxnSpPr>
        <p:spPr>
          <a:xfrm>
            <a:off x="2551525" y="1307225"/>
            <a:ext cx="22500" cy="3649800"/>
          </a:xfrm>
          <a:prstGeom prst="straightConnector1">
            <a:avLst/>
          </a:prstGeom>
          <a:noFill/>
          <a:ln cap="flat" cmpd="sng" w="19050">
            <a:solidFill>
              <a:srgbClr val="FF0000"/>
            </a:solidFill>
            <a:prstDash val="solid"/>
            <a:round/>
            <a:headEnd len="med" w="med" type="diamond"/>
            <a:tailEnd len="med" w="med" type="diamond"/>
          </a:ln>
        </p:spPr>
      </p:cxnSp>
      <p:cxnSp>
        <p:nvCxnSpPr>
          <p:cNvPr id="2268" name="Google Shape;2268;p168"/>
          <p:cNvCxnSpPr/>
          <p:nvPr/>
        </p:nvCxnSpPr>
        <p:spPr>
          <a:xfrm>
            <a:off x="4595450" y="1295975"/>
            <a:ext cx="51300" cy="3739800"/>
          </a:xfrm>
          <a:prstGeom prst="straightConnector1">
            <a:avLst/>
          </a:prstGeom>
          <a:noFill/>
          <a:ln cap="flat" cmpd="sng" w="19050">
            <a:solidFill>
              <a:srgbClr val="FF0000"/>
            </a:solidFill>
            <a:prstDash val="solid"/>
            <a:round/>
            <a:headEnd len="med" w="med" type="diamond"/>
            <a:tailEnd len="med" w="med" type="diamond"/>
          </a:ln>
        </p:spPr>
      </p:cxnSp>
      <p:cxnSp>
        <p:nvCxnSpPr>
          <p:cNvPr id="2269" name="Google Shape;2269;p168"/>
          <p:cNvCxnSpPr/>
          <p:nvPr/>
        </p:nvCxnSpPr>
        <p:spPr>
          <a:xfrm>
            <a:off x="6572000" y="1239825"/>
            <a:ext cx="49500" cy="3692400"/>
          </a:xfrm>
          <a:prstGeom prst="straightConnector1">
            <a:avLst/>
          </a:prstGeom>
          <a:noFill/>
          <a:ln cap="flat" cmpd="sng" w="19050">
            <a:solidFill>
              <a:srgbClr val="FF0000"/>
            </a:solidFill>
            <a:prstDash val="solid"/>
            <a:round/>
            <a:headEnd len="med" w="med" type="diamond"/>
            <a:tailEnd len="med" w="med" type="diamond"/>
          </a:ln>
        </p:spPr>
      </p:cxnSp>
      <p:sp>
        <p:nvSpPr>
          <p:cNvPr id="2270" name="Google Shape;2270;p168"/>
          <p:cNvSpPr txBox="1"/>
          <p:nvPr>
            <p:ph idx="1" type="body"/>
          </p:nvPr>
        </p:nvSpPr>
        <p:spPr>
          <a:xfrm>
            <a:off x="2088625" y="7590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2271" name="Google Shape;2271;p168"/>
          <p:cNvSpPr txBox="1"/>
          <p:nvPr>
            <p:ph idx="1" type="body"/>
          </p:nvPr>
        </p:nvSpPr>
        <p:spPr>
          <a:xfrm>
            <a:off x="4095888" y="753375"/>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2272" name="Google Shape;2272;p168"/>
          <p:cNvSpPr txBox="1"/>
          <p:nvPr>
            <p:ph idx="1" type="body"/>
          </p:nvPr>
        </p:nvSpPr>
        <p:spPr>
          <a:xfrm>
            <a:off x="6056363" y="725313"/>
            <a:ext cx="948300" cy="446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a:t>Break</a:t>
            </a:r>
            <a:endParaRPr/>
          </a:p>
        </p:txBody>
      </p:sp>
      <p:sp>
        <p:nvSpPr>
          <p:cNvPr id="2273" name="Google Shape;2273;p168"/>
          <p:cNvSpPr txBox="1"/>
          <p:nvPr>
            <p:ph idx="1" type="body"/>
          </p:nvPr>
        </p:nvSpPr>
        <p:spPr>
          <a:xfrm>
            <a:off x="5112591" y="381312"/>
            <a:ext cx="948300" cy="62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3000"/>
              <a:t>⭐</a:t>
            </a:r>
            <a:endParaRPr sz="3000"/>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24158"/>
        </a:solidFill>
      </p:bgPr>
    </p:bg>
    <p:spTree>
      <p:nvGrpSpPr>
        <p:cNvPr id="2277" name="Shape 2277"/>
        <p:cNvGrpSpPr/>
        <p:nvPr/>
      </p:nvGrpSpPr>
      <p:grpSpPr>
        <a:xfrm>
          <a:off x="0" y="0"/>
          <a:ext cx="0" cy="0"/>
          <a:chOff x="0" y="0"/>
          <a:chExt cx="0" cy="0"/>
        </a:xfrm>
      </p:grpSpPr>
      <p:sp>
        <p:nvSpPr>
          <p:cNvPr id="2278" name="Google Shape;2278;p169"/>
          <p:cNvSpPr txBox="1"/>
          <p:nvPr>
            <p:ph type="title"/>
          </p:nvPr>
        </p:nvSpPr>
        <p:spPr>
          <a:xfrm>
            <a:off x="671250" y="997800"/>
            <a:ext cx="7852200" cy="1765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990"/>
              <a:buNone/>
            </a:pPr>
            <a:r>
              <a:rPr b="1" lang="en" sz="5000">
                <a:solidFill>
                  <a:srgbClr val="3896D2"/>
                </a:solidFill>
                <a:latin typeface="Fira Sans"/>
                <a:ea typeface="Fira Sans"/>
                <a:cs typeface="Fira Sans"/>
                <a:sym typeface="Fira Sans"/>
              </a:rPr>
              <a:t>Independence and Conditional Probability</a:t>
            </a:r>
            <a:endParaRPr b="1" sz="5000">
              <a:solidFill>
                <a:srgbClr val="3896D2"/>
              </a:solidFill>
              <a:latin typeface="Fira Sans"/>
              <a:ea typeface="Fira Sans"/>
              <a:cs typeface="Fira Sans"/>
              <a:sym typeface="Fira Sans"/>
            </a:endParaRPr>
          </a:p>
        </p:txBody>
      </p:sp>
      <p:sp>
        <p:nvSpPr>
          <p:cNvPr id="2279" name="Google Shape;2279;p16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descr="Yin And Yang with solid fill" id="2280" name="Google Shape;2280;p169"/>
          <p:cNvPicPr preferRelativeResize="0"/>
          <p:nvPr/>
        </p:nvPicPr>
        <p:blipFill rotWithShape="1">
          <a:blip r:embed="rId3">
            <a:alphaModFix/>
          </a:blip>
          <a:srcRect b="0" l="0" r="0" t="0"/>
          <a:stretch/>
        </p:blipFill>
        <p:spPr>
          <a:xfrm>
            <a:off x="3752259" y="3002397"/>
            <a:ext cx="1690175" cy="169017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4" name="Shape 2284"/>
        <p:cNvGrpSpPr/>
        <p:nvPr/>
      </p:nvGrpSpPr>
      <p:grpSpPr>
        <a:xfrm>
          <a:off x="0" y="0"/>
          <a:ext cx="0" cy="0"/>
          <a:chOff x="0" y="0"/>
          <a:chExt cx="0" cy="0"/>
        </a:xfrm>
      </p:grpSpPr>
      <p:sp>
        <p:nvSpPr>
          <p:cNvPr id="2285" name="Google Shape;2285;p1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Lineup</a:t>
            </a:r>
            <a:endParaRPr>
              <a:solidFill>
                <a:srgbClr val="3896D2"/>
              </a:solidFill>
              <a:latin typeface="Fira Sans"/>
              <a:ea typeface="Fira Sans"/>
              <a:cs typeface="Fira Sans"/>
              <a:sym typeface="Fira Sans"/>
            </a:endParaRPr>
          </a:p>
        </p:txBody>
      </p:sp>
      <p:sp>
        <p:nvSpPr>
          <p:cNvPr id="2286" name="Google Shape;2286;p1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latin typeface="Fira Sans"/>
                <a:ea typeface="Fira Sans"/>
                <a:cs typeface="Fira Sans"/>
                <a:sym typeface="Fira Sans"/>
              </a:rPr>
              <a:t>- </a:t>
            </a:r>
            <a:r>
              <a:rPr lang="en" sz="1600">
                <a:solidFill>
                  <a:schemeClr val="lt1"/>
                </a:solidFill>
              </a:rPr>
              <a:t>Independent Events</a:t>
            </a:r>
            <a:r>
              <a:rPr lang="en" sz="1600">
                <a:solidFill>
                  <a:schemeClr val="lt1"/>
                </a:solidFill>
                <a:latin typeface="Fira Sans"/>
                <a:ea typeface="Fira Sans"/>
                <a:cs typeface="Fira Sans"/>
                <a:sym typeface="Fira Sans"/>
              </a:rPr>
              <a:t> </a:t>
            </a:r>
            <a:endParaRPr sz="1600">
              <a:solidFill>
                <a:schemeClr val="lt1"/>
              </a:solidFill>
              <a:latin typeface="Fira Sans"/>
              <a:ea typeface="Fira Sans"/>
              <a:cs typeface="Fira Sans"/>
              <a:sym typeface="Fira Sans"/>
            </a:endParaRPr>
          </a:p>
          <a:p>
            <a:pPr indent="0" lvl="0" marL="0" rtl="0" algn="l">
              <a:lnSpc>
                <a:spcPct val="150000"/>
              </a:lnSpc>
              <a:spcBef>
                <a:spcPts val="1200"/>
              </a:spcBef>
              <a:spcAft>
                <a:spcPts val="0"/>
              </a:spcAft>
              <a:buSzPts val="1800"/>
              <a:buNone/>
            </a:pPr>
            <a:r>
              <a:rPr lang="en" sz="1600">
                <a:solidFill>
                  <a:schemeClr val="lt1"/>
                </a:solidFill>
                <a:latin typeface="Fira Sans"/>
                <a:ea typeface="Fira Sans"/>
                <a:cs typeface="Fira Sans"/>
                <a:sym typeface="Fira Sans"/>
              </a:rPr>
              <a:t>- </a:t>
            </a:r>
            <a:r>
              <a:rPr lang="en" sz="1600">
                <a:solidFill>
                  <a:schemeClr val="lt1"/>
                </a:solidFill>
              </a:rPr>
              <a:t>Contrast</a:t>
            </a:r>
            <a:r>
              <a:rPr lang="en" sz="1600">
                <a:solidFill>
                  <a:schemeClr val="lt1"/>
                </a:solidFill>
                <a:latin typeface="Fira Sans"/>
                <a:ea typeface="Fira Sans"/>
                <a:cs typeface="Fira Sans"/>
                <a:sym typeface="Fira Sans"/>
              </a:rPr>
              <a:t> with mutually exclusive events</a:t>
            </a:r>
            <a:endParaRPr sz="1600">
              <a:solidFill>
                <a:schemeClr val="lt1"/>
              </a:solidFill>
              <a:latin typeface="Fira Sans"/>
              <a:ea typeface="Fira Sans"/>
              <a:cs typeface="Fira Sans"/>
              <a:sym typeface="Fira Sans"/>
            </a:endParaRPr>
          </a:p>
          <a:p>
            <a:pPr indent="0" lvl="0" marL="0" rtl="0" algn="l">
              <a:lnSpc>
                <a:spcPct val="150000"/>
              </a:lnSpc>
              <a:spcBef>
                <a:spcPts val="1200"/>
              </a:spcBef>
              <a:spcAft>
                <a:spcPts val="0"/>
              </a:spcAft>
              <a:buSzPts val="1800"/>
              <a:buNone/>
            </a:pPr>
            <a:r>
              <a:rPr lang="en" sz="1600">
                <a:solidFill>
                  <a:schemeClr val="lt1"/>
                </a:solidFill>
                <a:latin typeface="Fira Sans"/>
                <a:ea typeface="Fira Sans"/>
                <a:cs typeface="Fira Sans"/>
                <a:sym typeface="Fira Sans"/>
              </a:rPr>
              <a:t> - Conditional Probability </a:t>
            </a:r>
            <a:endParaRPr sz="1600">
              <a:solidFill>
                <a:schemeClr val="lt1"/>
              </a:solidFill>
              <a:latin typeface="Fira Sans"/>
              <a:ea typeface="Fira Sans"/>
              <a:cs typeface="Fira Sans"/>
              <a:sym typeface="Fira Sans"/>
            </a:endParaRPr>
          </a:p>
          <a:p>
            <a:pPr indent="0" lvl="0" marL="0" rtl="0" algn="l">
              <a:lnSpc>
                <a:spcPct val="150000"/>
              </a:lnSpc>
              <a:spcBef>
                <a:spcPts val="1200"/>
              </a:spcBef>
              <a:spcAft>
                <a:spcPts val="1200"/>
              </a:spcAft>
              <a:buSzPts val="1800"/>
              <a:buNone/>
            </a:pPr>
            <a:r>
              <a:rPr lang="en" sz="1600">
                <a:solidFill>
                  <a:schemeClr val="lt1"/>
                </a:solidFill>
                <a:latin typeface="Fira Sans"/>
                <a:ea typeface="Fira Sans"/>
                <a:cs typeface="Fira Sans"/>
                <a:sym typeface="Fira Sans"/>
              </a:rPr>
              <a:t>- Total probability formula</a:t>
            </a:r>
            <a:endParaRPr sz="1600">
              <a:solidFill>
                <a:schemeClr val="lt1"/>
              </a:solidFill>
              <a:latin typeface="Fira Sans"/>
              <a:ea typeface="Fira Sans"/>
              <a:cs typeface="Fira Sans"/>
              <a:sym typeface="Fira Sans"/>
            </a:endParaRPr>
          </a:p>
        </p:txBody>
      </p:sp>
      <p:sp>
        <p:nvSpPr>
          <p:cNvPr id="2287" name="Google Shape;2287;p17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1" name="Shape 2291"/>
        <p:cNvGrpSpPr/>
        <p:nvPr/>
      </p:nvGrpSpPr>
      <p:grpSpPr>
        <a:xfrm>
          <a:off x="0" y="0"/>
          <a:ext cx="0" cy="0"/>
          <a:chOff x="0" y="0"/>
          <a:chExt cx="0" cy="0"/>
        </a:xfrm>
      </p:grpSpPr>
      <p:sp>
        <p:nvSpPr>
          <p:cNvPr id="2292" name="Google Shape;2292;p1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Independence of  Events</a:t>
            </a:r>
            <a:endParaRPr/>
          </a:p>
        </p:txBody>
      </p:sp>
      <p:sp>
        <p:nvSpPr>
          <p:cNvPr id="2293" name="Google Shape;2293;p171"/>
          <p:cNvSpPr txBox="1"/>
          <p:nvPr>
            <p:ph idx="1" type="body"/>
          </p:nvPr>
        </p:nvSpPr>
        <p:spPr>
          <a:xfrm>
            <a:off x="311700" y="1152475"/>
            <a:ext cx="44031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Two events A and B are </a:t>
            </a:r>
            <a:r>
              <a:rPr b="1" i="1" lang="en" sz="1600">
                <a:solidFill>
                  <a:srgbClr val="00FFFF"/>
                </a:solidFill>
              </a:rPr>
              <a:t>independent</a:t>
            </a:r>
            <a:r>
              <a:rPr lang="en" sz="1600">
                <a:solidFill>
                  <a:schemeClr val="lt1"/>
                </a:solidFill>
              </a:rPr>
              <a:t> if </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P(A and B) = P(A)P(B)</a:t>
            </a:r>
            <a:endParaRPr sz="1600">
              <a:solidFill>
                <a:schemeClr val="lt1"/>
              </a:solidFill>
            </a:endParaRPr>
          </a:p>
          <a:p>
            <a:pPr indent="0" lvl="0" marL="0" rtl="0" algn="l">
              <a:lnSpc>
                <a:spcPct val="150000"/>
              </a:lnSpc>
              <a:spcBef>
                <a:spcPts val="1200"/>
              </a:spcBef>
              <a:spcAft>
                <a:spcPts val="1200"/>
              </a:spcAft>
              <a:buSzPts val="1800"/>
              <a:buNone/>
            </a:pPr>
            <a:r>
              <a:rPr b="1" lang="en" sz="1600">
                <a:solidFill>
                  <a:schemeClr val="lt1"/>
                </a:solidFill>
              </a:rPr>
              <a:t>Example:</a:t>
            </a:r>
            <a:r>
              <a:rPr lang="en" sz="1600">
                <a:solidFill>
                  <a:schemeClr val="lt1"/>
                </a:solidFill>
              </a:rPr>
              <a:t> The probability of flipping a fair coin twice and getting HH is (½)(½) = ¼ because the outcomes have no effect on each other </a:t>
            </a:r>
            <a:r>
              <a:rPr b="1" lang="en" sz="1600">
                <a:solidFill>
                  <a:srgbClr val="00FFFF"/>
                </a:solidFill>
              </a:rPr>
              <a:t>or our knowledge of them</a:t>
            </a:r>
            <a:r>
              <a:rPr lang="en" sz="1600">
                <a:solidFill>
                  <a:schemeClr val="lt1"/>
                </a:solidFill>
              </a:rPr>
              <a:t>.</a:t>
            </a:r>
            <a:endParaRPr sz="1600">
              <a:solidFill>
                <a:schemeClr val="lt1"/>
              </a:solidFill>
            </a:endParaRPr>
          </a:p>
        </p:txBody>
      </p:sp>
      <p:sp>
        <p:nvSpPr>
          <p:cNvPr id="2294" name="Google Shape;2294;p17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8" name="Shape 2298"/>
        <p:cNvGrpSpPr/>
        <p:nvPr/>
      </p:nvGrpSpPr>
      <p:grpSpPr>
        <a:xfrm>
          <a:off x="0" y="0"/>
          <a:ext cx="0" cy="0"/>
          <a:chOff x="0" y="0"/>
          <a:chExt cx="0" cy="0"/>
        </a:xfrm>
      </p:grpSpPr>
      <p:sp>
        <p:nvSpPr>
          <p:cNvPr id="2299" name="Google Shape;2299;p1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00" name="Google Shape;2300;p1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1200"/>
              </a:spcBef>
              <a:spcAft>
                <a:spcPts val="0"/>
              </a:spcAft>
              <a:buClr>
                <a:schemeClr val="lt1"/>
              </a:buClr>
              <a:buSzPts val="1600"/>
              <a:buChar char="●"/>
            </a:pPr>
            <a:r>
              <a:rPr b="1" lang="en" sz="1600">
                <a:solidFill>
                  <a:schemeClr val="lt1"/>
                </a:solidFill>
              </a:rPr>
              <a:t>Definition</a:t>
            </a:r>
            <a:r>
              <a:rPr lang="en" sz="1600">
                <a:solidFill>
                  <a:schemeClr val="lt1"/>
                </a:solidFill>
              </a:rPr>
              <a:t>: Events A and B are independent if the occurrence of one does not affect the probability of the other</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b="1" lang="en" sz="1600">
                <a:solidFill>
                  <a:schemeClr val="lt1"/>
                </a:solidFill>
              </a:rPr>
              <a:t>Scenario</a:t>
            </a:r>
            <a:r>
              <a:rPr lang="en" sz="1600">
                <a:solidFill>
                  <a:schemeClr val="lt1"/>
                </a:solidFill>
              </a:rPr>
              <a:t>: Anna chooses a genre to watch each day of the week. She decides the genre for each day independently. Are the events of watching a drama on Monday and a comedy on Tuesday independent?</a:t>
            </a:r>
            <a:endParaRPr sz="1600">
              <a:solidFill>
                <a:schemeClr val="lt1"/>
              </a:solidFill>
            </a:endParaRPr>
          </a:p>
        </p:txBody>
      </p:sp>
      <p:sp>
        <p:nvSpPr>
          <p:cNvPr id="2301" name="Google Shape;2301;p17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1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07" name="Google Shape;2307;p17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1200"/>
              </a:spcBef>
              <a:spcAft>
                <a:spcPts val="0"/>
              </a:spcAft>
              <a:buClr>
                <a:schemeClr val="lt1"/>
              </a:buClr>
              <a:buSzPts val="1600"/>
              <a:buChar char="●"/>
            </a:pPr>
            <a:r>
              <a:rPr b="1" lang="en" sz="1600">
                <a:solidFill>
                  <a:schemeClr val="lt1"/>
                </a:solidFill>
              </a:rPr>
              <a:t>Definition</a:t>
            </a:r>
            <a:r>
              <a:rPr lang="en" sz="1600">
                <a:solidFill>
                  <a:schemeClr val="lt1"/>
                </a:solidFill>
              </a:rPr>
              <a:t>: Events A and B are independent if the occurrence of one does not affect the probability of the other</a:t>
            </a:r>
            <a:endParaRPr sz="1600">
              <a:solidFill>
                <a:schemeClr val="lt1"/>
              </a:solidFill>
            </a:endParaRPr>
          </a:p>
          <a:p>
            <a:pPr indent="-330200" lvl="0" marL="457200" rtl="0" algn="l">
              <a:lnSpc>
                <a:spcPct val="150000"/>
              </a:lnSpc>
              <a:spcBef>
                <a:spcPts val="0"/>
              </a:spcBef>
              <a:spcAft>
                <a:spcPts val="0"/>
              </a:spcAft>
              <a:buClr>
                <a:schemeClr val="lt1"/>
              </a:buClr>
              <a:buSzPts val="1600"/>
              <a:buChar char="●"/>
            </a:pPr>
            <a:r>
              <a:rPr lang="en" sz="1600">
                <a:solidFill>
                  <a:schemeClr val="lt1"/>
                </a:solidFill>
              </a:rPr>
              <a:t>Two events A and B are </a:t>
            </a:r>
            <a:r>
              <a:rPr b="1" i="1" lang="en" sz="1600">
                <a:solidFill>
                  <a:srgbClr val="00FFFF"/>
                </a:solidFill>
              </a:rPr>
              <a:t>independent</a:t>
            </a:r>
            <a:r>
              <a:rPr lang="en" sz="1600">
                <a:solidFill>
                  <a:schemeClr val="lt1"/>
                </a:solidFill>
              </a:rPr>
              <a:t> if </a:t>
            </a:r>
            <a:endParaRPr sz="1600">
              <a:solidFill>
                <a:schemeClr val="lt1"/>
              </a:solidFill>
            </a:endParaRPr>
          </a:p>
          <a:p>
            <a:pPr indent="0" lvl="0" marL="457200" rtl="0" algn="l">
              <a:lnSpc>
                <a:spcPct val="150000"/>
              </a:lnSpc>
              <a:spcBef>
                <a:spcPts val="1200"/>
              </a:spcBef>
              <a:spcAft>
                <a:spcPts val="0"/>
              </a:spcAft>
              <a:buSzPts val="1800"/>
              <a:buNone/>
            </a:pPr>
            <a:r>
              <a:rPr lang="en" sz="1600">
                <a:solidFill>
                  <a:schemeClr val="lt1"/>
                </a:solidFill>
              </a:rPr>
              <a:t>                                 P(A and B) = P(A)P(B)</a:t>
            </a:r>
            <a:endParaRPr b="1" sz="1600">
              <a:solidFill>
                <a:schemeClr val="lt1"/>
              </a:solidFill>
            </a:endParaRPr>
          </a:p>
        </p:txBody>
      </p:sp>
      <p:sp>
        <p:nvSpPr>
          <p:cNvPr id="2308" name="Google Shape;2308;p17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2" name="Shape 2312"/>
        <p:cNvGrpSpPr/>
        <p:nvPr/>
      </p:nvGrpSpPr>
      <p:grpSpPr>
        <a:xfrm>
          <a:off x="0" y="0"/>
          <a:ext cx="0" cy="0"/>
          <a:chOff x="0" y="0"/>
          <a:chExt cx="0" cy="0"/>
        </a:xfrm>
      </p:grpSpPr>
      <p:sp>
        <p:nvSpPr>
          <p:cNvPr id="2313" name="Google Shape;2313;p1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14" name="Google Shape;2314;p1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Anna chooses a genre to watch each day of the week. She decides the genre for each day independently. Are the events of watching a drama on Monday and a comedy on Tuesday independent?</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Anna watches a drama on Monday.</a:t>
            </a:r>
            <a:endParaRPr sz="1600">
              <a:solidFill>
                <a:schemeClr val="lt1"/>
              </a:solidFill>
            </a:endParaRPr>
          </a:p>
          <a:p>
            <a:pPr indent="0" lvl="0" marL="45720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315" name="Google Shape;2315;p17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316" name="Google Shape;2316;p174"/>
          <p:cNvSpPr/>
          <p:nvPr/>
        </p:nvSpPr>
        <p:spPr>
          <a:xfrm>
            <a:off x="5803800" y="2449225"/>
            <a:ext cx="2791500" cy="192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317" name="Google Shape;2317;p174"/>
          <p:cNvSpPr/>
          <p:nvPr/>
        </p:nvSpPr>
        <p:spPr>
          <a:xfrm>
            <a:off x="6191250" y="2977075"/>
            <a:ext cx="872100" cy="87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
        <p:nvSpPr>
          <p:cNvPr id="2318" name="Google Shape;2318;p174"/>
          <p:cNvSpPr/>
          <p:nvPr/>
        </p:nvSpPr>
        <p:spPr>
          <a:xfrm>
            <a:off x="6763500" y="2977075"/>
            <a:ext cx="872100" cy="87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2" name="Shape 2322"/>
        <p:cNvGrpSpPr/>
        <p:nvPr/>
      </p:nvGrpSpPr>
      <p:grpSpPr>
        <a:xfrm>
          <a:off x="0" y="0"/>
          <a:ext cx="0" cy="0"/>
          <a:chOff x="0" y="0"/>
          <a:chExt cx="0" cy="0"/>
        </a:xfrm>
      </p:grpSpPr>
      <p:sp>
        <p:nvSpPr>
          <p:cNvPr id="2323" name="Google Shape;2323;p1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24" name="Google Shape;2324;p1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To determine if the events A and B are independent, we need to check if the probability of both events occurring together (P(A∩B)) is equal to the product of their individual probabilities (P(A)×P(B))</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Explanation:</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Anna's decision to watch a drama on Monday does not influence her decision to watch a comedy on Tuesday, and vice versa.</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Probability Interpretation:</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lang="en" sz="1600">
                <a:solidFill>
                  <a:schemeClr val="lt1"/>
                </a:solidFill>
              </a:rPr>
              <a:t>P(A)=0.3: There is a 30% chance that Anna will watch a drama on Monday.</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lang="en" sz="1600">
                <a:solidFill>
                  <a:schemeClr val="lt1"/>
                </a:solidFill>
              </a:rPr>
              <a:t>P(B)=0.4: There is a 40% chance that Anna will watch a comedy on Tuesday.</a:t>
            </a:r>
            <a:endParaRPr sz="1600">
              <a:solidFill>
                <a:schemeClr val="lt1"/>
              </a:solidFill>
            </a:endParaRPr>
          </a:p>
          <a:p>
            <a:pPr indent="-330200" lvl="1" marL="914400" rtl="0" algn="l">
              <a:lnSpc>
                <a:spcPct val="115000"/>
              </a:lnSpc>
              <a:spcBef>
                <a:spcPts val="0"/>
              </a:spcBef>
              <a:spcAft>
                <a:spcPts val="0"/>
              </a:spcAft>
              <a:buClr>
                <a:schemeClr val="lt1"/>
              </a:buClr>
              <a:buSzPts val="1600"/>
              <a:buChar char="○"/>
            </a:pPr>
            <a:r>
              <a:rPr lang="en" sz="1600">
                <a:solidFill>
                  <a:schemeClr val="lt1"/>
                </a:solidFill>
              </a:rPr>
              <a:t>P(A∩B)= 0.3 * 0.4 = 0.12: There is a 12% chance that Anna will watch a drama on Monday and a comedy on Tuesday</a:t>
            </a:r>
            <a:endParaRPr sz="1600">
              <a:solidFill>
                <a:schemeClr val="lt1"/>
              </a:solidFil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325" name="Google Shape;2325;p17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sp>
        <p:nvSpPr>
          <p:cNvPr id="2330" name="Google Shape;2330;p1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Independent </a:t>
            </a:r>
            <a:r>
              <a:rPr lang="en">
                <a:solidFill>
                  <a:srgbClr val="3896D2"/>
                </a:solidFill>
              </a:rPr>
              <a:t>vs</a:t>
            </a:r>
            <a:r>
              <a:rPr lang="en">
                <a:solidFill>
                  <a:srgbClr val="3896D2"/>
                </a:solidFill>
                <a:latin typeface="Fira Sans"/>
                <a:ea typeface="Fira Sans"/>
                <a:cs typeface="Fira Sans"/>
                <a:sym typeface="Fira Sans"/>
              </a:rPr>
              <a:t> </a:t>
            </a:r>
            <a:r>
              <a:rPr lang="en">
                <a:solidFill>
                  <a:srgbClr val="3896D2"/>
                </a:solidFill>
              </a:rPr>
              <a:t>Mutually</a:t>
            </a:r>
            <a:r>
              <a:rPr lang="en">
                <a:solidFill>
                  <a:srgbClr val="3896D2"/>
                </a:solidFill>
                <a:latin typeface="Fira Sans"/>
                <a:ea typeface="Fira Sans"/>
                <a:cs typeface="Fira Sans"/>
                <a:sym typeface="Fira Sans"/>
              </a:rPr>
              <a:t> </a:t>
            </a:r>
            <a:r>
              <a:rPr lang="en">
                <a:solidFill>
                  <a:srgbClr val="3896D2"/>
                </a:solidFill>
              </a:rPr>
              <a:t>E</a:t>
            </a:r>
            <a:r>
              <a:rPr lang="en">
                <a:solidFill>
                  <a:srgbClr val="3896D2"/>
                </a:solidFill>
                <a:latin typeface="Fira Sans"/>
                <a:ea typeface="Fira Sans"/>
                <a:cs typeface="Fira Sans"/>
                <a:sym typeface="Fira Sans"/>
              </a:rPr>
              <a:t>xclusive </a:t>
            </a:r>
            <a:r>
              <a:rPr lang="en"/>
              <a:t>E</a:t>
            </a:r>
            <a:r>
              <a:rPr lang="en">
                <a:solidFill>
                  <a:srgbClr val="3896D2"/>
                </a:solidFill>
                <a:latin typeface="Fira Sans"/>
                <a:ea typeface="Fira Sans"/>
                <a:cs typeface="Fira Sans"/>
                <a:sym typeface="Fira Sans"/>
              </a:rPr>
              <a:t>vents</a:t>
            </a:r>
            <a:endParaRPr>
              <a:solidFill>
                <a:srgbClr val="3896D2"/>
              </a:solidFill>
              <a:latin typeface="Fira Sans"/>
              <a:ea typeface="Fira Sans"/>
              <a:cs typeface="Fira Sans"/>
              <a:sym typeface="Fira Sans"/>
            </a:endParaRPr>
          </a:p>
        </p:txBody>
      </p:sp>
      <p:sp>
        <p:nvSpPr>
          <p:cNvPr id="2331" name="Google Shape;2331;p1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b="0" i="0" lang="en">
                <a:solidFill>
                  <a:srgbClr val="00FFFF"/>
                </a:solidFill>
                <a:latin typeface="Fira Sans"/>
                <a:ea typeface="Fira Sans"/>
                <a:cs typeface="Fira Sans"/>
                <a:sym typeface="Fira Sans"/>
              </a:rPr>
              <a:t>Independent events</a:t>
            </a:r>
            <a:r>
              <a:rPr b="0" i="0" lang="en">
                <a:solidFill>
                  <a:srgbClr val="ECECEC"/>
                </a:solidFill>
                <a:latin typeface="Fira Sans"/>
                <a:ea typeface="Fira Sans"/>
                <a:cs typeface="Fira Sans"/>
                <a:sym typeface="Fira Sans"/>
              </a:rPr>
              <a:t> and </a:t>
            </a:r>
            <a:r>
              <a:rPr b="0" i="0" lang="en">
                <a:solidFill>
                  <a:srgbClr val="00FFFF"/>
                </a:solidFill>
                <a:latin typeface="Fira Sans"/>
                <a:ea typeface="Fira Sans"/>
                <a:cs typeface="Fira Sans"/>
                <a:sym typeface="Fira Sans"/>
              </a:rPr>
              <a:t>mutually exclusive</a:t>
            </a:r>
            <a:r>
              <a:rPr b="0" i="0" lang="en">
                <a:solidFill>
                  <a:srgbClr val="ECECEC"/>
                </a:solidFill>
                <a:latin typeface="Fira Sans"/>
                <a:ea typeface="Fira Sans"/>
                <a:cs typeface="Fira Sans"/>
                <a:sym typeface="Fira Sans"/>
              </a:rPr>
              <a:t> events are two fundamental concepts in probability theory, each describing different relationships between events.</a:t>
            </a:r>
            <a:endParaRPr>
              <a:solidFill>
                <a:schemeClr val="lt1"/>
              </a:solidFill>
              <a:latin typeface="Fira Sans"/>
              <a:ea typeface="Fira Sans"/>
              <a:cs typeface="Fira Sans"/>
              <a:sym typeface="Fira Sans"/>
            </a:endParaRPr>
          </a:p>
        </p:txBody>
      </p:sp>
      <p:sp>
        <p:nvSpPr>
          <p:cNvPr id="2332" name="Google Shape;2332;p17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6" name="Shape 2336"/>
        <p:cNvGrpSpPr/>
        <p:nvPr/>
      </p:nvGrpSpPr>
      <p:grpSpPr>
        <a:xfrm>
          <a:off x="0" y="0"/>
          <a:ext cx="0" cy="0"/>
          <a:chOff x="0" y="0"/>
          <a:chExt cx="0" cy="0"/>
        </a:xfrm>
      </p:grpSpPr>
      <p:sp>
        <p:nvSpPr>
          <p:cNvPr id="2337" name="Google Shape;2337;p1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Independent Events</a:t>
            </a:r>
            <a:endParaRPr>
              <a:solidFill>
                <a:srgbClr val="3896D2"/>
              </a:solidFill>
              <a:latin typeface="Fira Sans"/>
              <a:ea typeface="Fira Sans"/>
              <a:cs typeface="Fira Sans"/>
              <a:sym typeface="Fira Sans"/>
            </a:endParaRPr>
          </a:p>
        </p:txBody>
      </p:sp>
      <p:sp>
        <p:nvSpPr>
          <p:cNvPr id="2338" name="Google Shape;2338;p177"/>
          <p:cNvSpPr txBox="1"/>
          <p:nvPr>
            <p:ph idx="1" type="body"/>
          </p:nvPr>
        </p:nvSpPr>
        <p:spPr>
          <a:xfrm>
            <a:off x="311700" y="1152475"/>
            <a:ext cx="80733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Independent events are events where the occurrence of one event does not affect the occurrence of the other event.</a:t>
            </a:r>
            <a:endParaRPr sz="1600"/>
          </a:p>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Mathematically, two events A and B are independent if and only if the probability of both events occurring is the product of the probabilities of each event occurring separately. In other words, if </a:t>
            </a:r>
            <a:r>
              <a:rPr b="0" i="1" lang="en" sz="1600">
                <a:solidFill>
                  <a:srgbClr val="ECECEC"/>
                </a:solidFill>
                <a:latin typeface="Fira Sans"/>
                <a:ea typeface="Fira Sans"/>
                <a:cs typeface="Fira Sans"/>
                <a:sym typeface="Fira Sans"/>
              </a:rPr>
              <a:t>P</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A</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B</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P</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A</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P</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B</a:t>
            </a:r>
            <a:r>
              <a:rPr b="0" i="0" lang="en" sz="1600">
                <a:solidFill>
                  <a:srgbClr val="ECECEC"/>
                </a:solidFill>
                <a:latin typeface="Fira Sans"/>
                <a:ea typeface="Fira Sans"/>
                <a:cs typeface="Fira Sans"/>
                <a:sym typeface="Fira Sans"/>
              </a:rPr>
              <a:t>)</a:t>
            </a:r>
            <a:endParaRPr sz="1600"/>
          </a:p>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In practical terms, if the outcome of one event has no influence on the outcome of another, those events are considered independent.</a:t>
            </a:r>
            <a:endParaRPr sz="1600"/>
          </a:p>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For example, flipping a fair coin twice: the outcome of the first flip doesn't affect the outcome of the second flip. So, the events "getting heads on the first flip" and "getting tails on the second flip" are independent.</a:t>
            </a:r>
            <a:endParaRPr sz="1600"/>
          </a:p>
        </p:txBody>
      </p:sp>
      <p:sp>
        <p:nvSpPr>
          <p:cNvPr id="2339" name="Google Shape;2339;p17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1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45" name="Google Shape;2345;p1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In a high school class of 100 students, some students opt for basketball and some opt for a history course. Determine if these events are independent.</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 student opts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B: A student opts for a history course.</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346" name="Google Shape;2346;p17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0" name="Shape 2350"/>
        <p:cNvGrpSpPr/>
        <p:nvPr/>
      </p:nvGrpSpPr>
      <p:grpSpPr>
        <a:xfrm>
          <a:off x="0" y="0"/>
          <a:ext cx="0" cy="0"/>
          <a:chOff x="0" y="0"/>
          <a:chExt cx="0" cy="0"/>
        </a:xfrm>
      </p:grpSpPr>
      <p:sp>
        <p:nvSpPr>
          <p:cNvPr id="2351" name="Google Shape;2351;p1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52" name="Google Shape;2352;p17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353" name="Google Shape;2353;p179"/>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354" name="Google Shape;2354;p179"/>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355" name="Google Shape;2355;p179"/>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356" name="Google Shape;2356;p179"/>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357" name="Google Shape;2357;p179"/>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358" name="Google Shape;2358;p179"/>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359" name="Google Shape;2359;p179"/>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360" name="Google Shape;2360;p179"/>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361" name="Google Shape;2361;p17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In a high school class of 100 students, some students opt for basketball and some opt for a history course. Determine if these events are independent.</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 student opts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B: A student opts for a history course.</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5" name="Shape 2365"/>
        <p:cNvGrpSpPr/>
        <p:nvPr/>
      </p:nvGrpSpPr>
      <p:grpSpPr>
        <a:xfrm>
          <a:off x="0" y="0"/>
          <a:ext cx="0" cy="0"/>
          <a:chOff x="0" y="0"/>
          <a:chExt cx="0" cy="0"/>
        </a:xfrm>
      </p:grpSpPr>
      <p:sp>
        <p:nvSpPr>
          <p:cNvPr id="2366" name="Google Shape;2366;p180"/>
          <p:cNvSpPr txBox="1"/>
          <p:nvPr>
            <p:ph idx="1" type="body"/>
          </p:nvPr>
        </p:nvSpPr>
        <p:spPr>
          <a:xfrm>
            <a:off x="311700" y="10691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Probabilities:</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12 students opt for both basketball and a history course</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Probability of a student opting for basketball P(A) = 0.4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(40 students out of 100 opt for basketball) Only A = 40 - 12 = 28</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Probability of a student opting for a history course P(B) = 0.3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(30 students out of 100 opt for history)</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Only B = 30 - 12 = 18</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Probability student opting for both 0.12</a:t>
            </a:r>
            <a:endParaRPr sz="1600">
              <a:solidFill>
                <a:schemeClr val="lt1"/>
              </a:solidFill>
            </a:endParaRPr>
          </a:p>
          <a:p>
            <a:pPr indent="0" lvl="0" marL="45720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367" name="Google Shape;2367;p1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68" name="Google Shape;2368;p18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369" name="Google Shape;2369;p180"/>
          <p:cNvPicPr preferRelativeResize="0"/>
          <p:nvPr/>
        </p:nvPicPr>
        <p:blipFill rotWithShape="1">
          <a:blip r:embed="rId3">
            <a:alphaModFix/>
          </a:blip>
          <a:srcRect b="0" l="0" r="0" t="0"/>
          <a:stretch/>
        </p:blipFill>
        <p:spPr>
          <a:xfrm>
            <a:off x="5130300" y="2775375"/>
            <a:ext cx="3702000" cy="2056187"/>
          </a:xfrm>
          <a:prstGeom prst="rect">
            <a:avLst/>
          </a:prstGeom>
          <a:noFill/>
          <a:ln>
            <a:noFill/>
          </a:ln>
        </p:spPr>
      </p:pic>
      <p:sp>
        <p:nvSpPr>
          <p:cNvPr id="2370" name="Google Shape;2370;p180"/>
          <p:cNvSpPr txBox="1"/>
          <p:nvPr/>
        </p:nvSpPr>
        <p:spPr>
          <a:xfrm>
            <a:off x="5717876" y="3673090"/>
            <a:ext cx="597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Lobster"/>
                <a:ea typeface="Lobster"/>
                <a:cs typeface="Lobster"/>
                <a:sym typeface="Lobster"/>
              </a:rPr>
              <a:t>(28)</a:t>
            </a:r>
            <a:endParaRPr b="1" i="0" sz="1500" u="none" cap="none" strike="noStrike">
              <a:solidFill>
                <a:schemeClr val="dk1"/>
              </a:solidFill>
              <a:latin typeface="Lobster"/>
              <a:ea typeface="Lobster"/>
              <a:cs typeface="Lobster"/>
              <a:sym typeface="Lobster"/>
            </a:endParaRPr>
          </a:p>
        </p:txBody>
      </p:sp>
      <p:sp>
        <p:nvSpPr>
          <p:cNvPr id="2371" name="Google Shape;2371;p180"/>
          <p:cNvSpPr txBox="1"/>
          <p:nvPr/>
        </p:nvSpPr>
        <p:spPr>
          <a:xfrm>
            <a:off x="6682251" y="3673090"/>
            <a:ext cx="597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Lobster"/>
                <a:ea typeface="Lobster"/>
                <a:cs typeface="Lobster"/>
                <a:sym typeface="Lobster"/>
              </a:rPr>
              <a:t>(12)</a:t>
            </a:r>
            <a:endParaRPr b="1" i="0" sz="1500" u="none" cap="none" strike="noStrike">
              <a:solidFill>
                <a:schemeClr val="dk1"/>
              </a:solidFill>
              <a:latin typeface="Lobster"/>
              <a:ea typeface="Lobster"/>
              <a:cs typeface="Lobster"/>
              <a:sym typeface="Lobster"/>
            </a:endParaRPr>
          </a:p>
        </p:txBody>
      </p:sp>
      <p:sp>
        <p:nvSpPr>
          <p:cNvPr id="2372" name="Google Shape;2372;p180"/>
          <p:cNvSpPr txBox="1"/>
          <p:nvPr/>
        </p:nvSpPr>
        <p:spPr>
          <a:xfrm>
            <a:off x="7646625" y="3673090"/>
            <a:ext cx="597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Lobster"/>
                <a:ea typeface="Lobster"/>
                <a:cs typeface="Lobster"/>
                <a:sym typeface="Lobster"/>
              </a:rPr>
              <a:t>(18)</a:t>
            </a:r>
            <a:endParaRPr b="1" i="0" sz="1500" u="none" cap="none" strike="noStrike">
              <a:solidFill>
                <a:schemeClr val="dk1"/>
              </a:solidFill>
              <a:latin typeface="Lobster"/>
              <a:ea typeface="Lobster"/>
              <a:cs typeface="Lobster"/>
              <a:sym typeface="Lobster"/>
            </a:endParaRPr>
          </a:p>
        </p:txBody>
      </p:sp>
      <p:sp>
        <p:nvSpPr>
          <p:cNvPr id="2373" name="Google Shape;2373;p180"/>
          <p:cNvSpPr txBox="1"/>
          <p:nvPr/>
        </p:nvSpPr>
        <p:spPr>
          <a:xfrm>
            <a:off x="8184252" y="4440393"/>
            <a:ext cx="597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lt1"/>
                </a:solidFill>
                <a:latin typeface="Lobster"/>
                <a:ea typeface="Lobster"/>
                <a:cs typeface="Lobster"/>
                <a:sym typeface="Lobster"/>
              </a:rPr>
              <a:t>(30)</a:t>
            </a:r>
            <a:endParaRPr b="1" i="0" sz="1500" u="none" cap="none" strike="noStrike">
              <a:solidFill>
                <a:schemeClr val="lt1"/>
              </a:solidFill>
              <a:latin typeface="Lobster"/>
              <a:ea typeface="Lobster"/>
              <a:cs typeface="Lobster"/>
              <a:sym typeface="Lobster"/>
            </a:endParaRPr>
          </a:p>
        </p:txBody>
      </p:sp>
      <p:sp>
        <p:nvSpPr>
          <p:cNvPr id="2374" name="Google Shape;2374;p180"/>
          <p:cNvSpPr txBox="1"/>
          <p:nvPr/>
        </p:nvSpPr>
        <p:spPr>
          <a:xfrm>
            <a:off x="5890315" y="3305070"/>
            <a:ext cx="597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Arial"/>
                <a:ea typeface="Arial"/>
                <a:cs typeface="Arial"/>
                <a:sym typeface="Arial"/>
              </a:rPr>
              <a:t>A</a:t>
            </a:r>
            <a:endParaRPr b="1" i="0" sz="1500" u="none" cap="none" strike="noStrike">
              <a:solidFill>
                <a:schemeClr val="dk1"/>
              </a:solidFill>
              <a:latin typeface="Arial"/>
              <a:ea typeface="Arial"/>
              <a:cs typeface="Arial"/>
              <a:sym typeface="Arial"/>
            </a:endParaRPr>
          </a:p>
        </p:txBody>
      </p:sp>
      <p:sp>
        <p:nvSpPr>
          <p:cNvPr id="2375" name="Google Shape;2375;p180"/>
          <p:cNvSpPr txBox="1"/>
          <p:nvPr/>
        </p:nvSpPr>
        <p:spPr>
          <a:xfrm>
            <a:off x="7646625" y="3305070"/>
            <a:ext cx="305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Arial"/>
                <a:ea typeface="Arial"/>
                <a:cs typeface="Arial"/>
                <a:sym typeface="Arial"/>
              </a:rPr>
              <a:t>B</a:t>
            </a:r>
            <a:endParaRPr b="1" i="0" sz="1500" u="none" cap="none" strike="noStrike">
              <a:solidFill>
                <a:schemeClr val="dk1"/>
              </a:solidFill>
              <a:latin typeface="Arial"/>
              <a:ea typeface="Arial"/>
              <a:cs typeface="Arial"/>
              <a:sym typeface="Arial"/>
            </a:endParaRPr>
          </a:p>
        </p:txBody>
      </p:sp>
      <p:sp>
        <p:nvSpPr>
          <p:cNvPr id="2376" name="Google Shape;2376;p180"/>
          <p:cNvSpPr txBox="1"/>
          <p:nvPr/>
        </p:nvSpPr>
        <p:spPr>
          <a:xfrm>
            <a:off x="6650046" y="3305070"/>
            <a:ext cx="774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500" u="none" cap="none" strike="noStrike">
                <a:solidFill>
                  <a:schemeClr val="dk1"/>
                </a:solidFill>
                <a:latin typeface="Arial"/>
                <a:ea typeface="Arial"/>
                <a:cs typeface="Arial"/>
                <a:sym typeface="Arial"/>
              </a:rPr>
              <a:t>(A∩B)</a:t>
            </a:r>
            <a:endParaRPr b="1" i="0" sz="1500" u="none" cap="none" strike="noStrike">
              <a:solidFill>
                <a:schemeClr val="dk1"/>
              </a:solidFill>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0" name="Shape 2380"/>
        <p:cNvGrpSpPr/>
        <p:nvPr/>
      </p:nvGrpSpPr>
      <p:grpSpPr>
        <a:xfrm>
          <a:off x="0" y="0"/>
          <a:ext cx="0" cy="0"/>
          <a:chOff x="0" y="0"/>
          <a:chExt cx="0" cy="0"/>
        </a:xfrm>
      </p:grpSpPr>
      <p:sp>
        <p:nvSpPr>
          <p:cNvPr id="2381" name="Google Shape;2381;p181"/>
          <p:cNvSpPr txBox="1"/>
          <p:nvPr>
            <p:ph idx="1" type="body"/>
          </p:nvPr>
        </p:nvSpPr>
        <p:spPr>
          <a:xfrm>
            <a:off x="311700" y="1069150"/>
            <a:ext cx="8520600" cy="34164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Clr>
                <a:schemeClr val="lt1"/>
              </a:buClr>
              <a:buSzPts val="2100"/>
              <a:buChar char="●"/>
            </a:pPr>
            <a:r>
              <a:rPr lang="en" sz="1600">
                <a:solidFill>
                  <a:schemeClr val="lt1"/>
                </a:solidFill>
              </a:rPr>
              <a:t>Independence Check: To determine if the events A and B are independent, we need to check if the probability of both events occurring together (P(A∩B) is equal to the product of their individual probabilities P(A)×P(B)</a:t>
            </a:r>
            <a:endParaRPr sz="2100">
              <a:solidFill>
                <a:schemeClr val="lt1"/>
              </a:solidFill>
              <a:latin typeface="Fira Sans Medium"/>
              <a:ea typeface="Fira Sans Medium"/>
              <a:cs typeface="Fira Sans Medium"/>
              <a:sym typeface="Fira Sans Medium"/>
            </a:endParaRPr>
          </a:p>
          <a:p>
            <a:pPr indent="0" lvl="0" marL="45720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382" name="Google Shape;2382;p1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Independence of events</a:t>
            </a:r>
            <a:endParaRPr/>
          </a:p>
        </p:txBody>
      </p:sp>
      <p:sp>
        <p:nvSpPr>
          <p:cNvPr id="2383" name="Google Shape;2383;p18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384" name="Google Shape;2384;p181"/>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385" name="Google Shape;2385;p181"/>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386" name="Google Shape;2386;p181"/>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387" name="Google Shape;2387;p181"/>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388" name="Google Shape;2388;p181"/>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389" name="Google Shape;2389;p181"/>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390" name="Google Shape;2390;p181"/>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391" name="Google Shape;2391;p181"/>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392" name="Google Shape;2392;p181"/>
          <p:cNvSpPr txBox="1"/>
          <p:nvPr/>
        </p:nvSpPr>
        <p:spPr>
          <a:xfrm>
            <a:off x="69275" y="2448600"/>
            <a:ext cx="4506900" cy="257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12 students opt for both basketball and history.</a:t>
            </a:r>
            <a:endParaRPr b="0" i="0" sz="1600" u="none" cap="none" strike="noStrike">
              <a:solidFill>
                <a:schemeClr val="lt1"/>
              </a:solidFill>
              <a:latin typeface="Fira Sans"/>
              <a:ea typeface="Fira Sans"/>
              <a:cs typeface="Fira Sans"/>
              <a:sym typeface="Fira Sans"/>
            </a:endParaRPr>
          </a:p>
          <a:p>
            <a:pPr indent="457200" lvl="0" marL="457200" marR="0" rtl="0" algn="l">
              <a:lnSpc>
                <a:spcPct val="115000"/>
              </a:lnSpc>
              <a:spcBef>
                <a:spcPts val="120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P(A∩B) = 0.12</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1200"/>
              </a:spcBef>
              <a:spcAft>
                <a:spcPts val="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Product of Individual Probabilities:</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600"/>
              <a:buFont typeface="Arial"/>
              <a:buNone/>
            </a:pPr>
            <a:br>
              <a:rPr b="0" i="0" lang="en" sz="1600" u="none" cap="none" strike="noStrike">
                <a:solidFill>
                  <a:schemeClr val="lt1"/>
                </a:solidFill>
                <a:latin typeface="Fira Sans"/>
                <a:ea typeface="Fira Sans"/>
                <a:cs typeface="Fira Sans"/>
                <a:sym typeface="Fira Sans"/>
              </a:rPr>
            </a:br>
            <a:r>
              <a:rPr b="0" i="0" lang="en" sz="1600" u="none" cap="none" strike="noStrike">
                <a:solidFill>
                  <a:schemeClr val="lt1"/>
                </a:solidFill>
                <a:latin typeface="Fira Sans"/>
                <a:ea typeface="Fira Sans"/>
                <a:cs typeface="Fira Sans"/>
                <a:sym typeface="Fira Sans"/>
              </a:rPr>
              <a:t>	P(A)×P(B)=0.4×0.3=0.12</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Fira Sans"/>
              <a:ea typeface="Fira Sans"/>
              <a:cs typeface="Fira Sans"/>
              <a:sym typeface="Fira San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182"/>
          <p:cNvSpPr txBox="1"/>
          <p:nvPr>
            <p:ph type="title"/>
          </p:nvPr>
        </p:nvSpPr>
        <p:spPr>
          <a:xfrm>
            <a:off x="311700" y="1783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Mutually Exclusive Events</a:t>
            </a:r>
            <a:endParaRPr>
              <a:solidFill>
                <a:srgbClr val="3896D2"/>
              </a:solidFill>
              <a:latin typeface="Fira Sans"/>
              <a:ea typeface="Fira Sans"/>
              <a:cs typeface="Fira Sans"/>
              <a:sym typeface="Fira Sans"/>
            </a:endParaRPr>
          </a:p>
        </p:txBody>
      </p:sp>
      <p:sp>
        <p:nvSpPr>
          <p:cNvPr id="2398" name="Google Shape;2398;p182"/>
          <p:cNvSpPr txBox="1"/>
          <p:nvPr>
            <p:ph idx="1" type="body"/>
          </p:nvPr>
        </p:nvSpPr>
        <p:spPr>
          <a:xfrm>
            <a:off x="177750" y="907500"/>
            <a:ext cx="5474700" cy="36480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Mutually exclusive events are events that cannot occur at the same time. If one event happens, the other cannot.</a:t>
            </a:r>
            <a:endParaRPr sz="1600"/>
          </a:p>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Mathematically, two events A and B are mutually exclusive if and only if their intersection is empty, meaning they have no outcomes in common: </a:t>
            </a:r>
            <a:endParaRPr sz="1600"/>
          </a:p>
          <a:p>
            <a:pPr indent="-330200" lvl="0" marL="457200" rtl="0" algn="l">
              <a:lnSpc>
                <a:spcPct val="150000"/>
              </a:lnSpc>
              <a:spcBef>
                <a:spcPts val="0"/>
              </a:spcBef>
              <a:spcAft>
                <a:spcPts val="0"/>
              </a:spcAft>
              <a:buClr>
                <a:schemeClr val="lt1"/>
              </a:buClr>
              <a:buSzPts val="1600"/>
              <a:buFont typeface="Arial"/>
              <a:buChar char="•"/>
            </a:pPr>
            <a:r>
              <a:rPr b="0" i="1" lang="en" sz="1600">
                <a:solidFill>
                  <a:srgbClr val="ECECEC"/>
                </a:solidFill>
                <a:latin typeface="Fira Sans"/>
                <a:ea typeface="Fira Sans"/>
                <a:cs typeface="Fira Sans"/>
                <a:sym typeface="Fira Sans"/>
              </a:rPr>
              <a:t>P</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A</a:t>
            </a:r>
            <a:r>
              <a:rPr b="0" i="0" lang="en" sz="1600">
                <a:solidFill>
                  <a:srgbClr val="ECECEC"/>
                </a:solidFill>
                <a:latin typeface="Fira Sans"/>
                <a:ea typeface="Fira Sans"/>
                <a:cs typeface="Fira Sans"/>
                <a:sym typeface="Fira Sans"/>
              </a:rPr>
              <a:t>∩</a:t>
            </a:r>
            <a:r>
              <a:rPr b="0" i="1" lang="en" sz="1600">
                <a:solidFill>
                  <a:srgbClr val="ECECEC"/>
                </a:solidFill>
                <a:latin typeface="Fira Sans"/>
                <a:ea typeface="Fira Sans"/>
                <a:cs typeface="Fira Sans"/>
                <a:sym typeface="Fira Sans"/>
              </a:rPr>
              <a:t>B</a:t>
            </a:r>
            <a:r>
              <a:rPr b="0" i="0" lang="en" sz="1600">
                <a:solidFill>
                  <a:srgbClr val="ECECEC"/>
                </a:solidFill>
                <a:latin typeface="Fira Sans"/>
                <a:ea typeface="Fira Sans"/>
                <a:cs typeface="Fira Sans"/>
                <a:sym typeface="Fira Sans"/>
              </a:rPr>
              <a:t>)=0</a:t>
            </a:r>
            <a:endParaRPr sz="1600"/>
          </a:p>
          <a:p>
            <a:pPr indent="-330200" lvl="0" marL="457200" rtl="0" algn="l">
              <a:lnSpc>
                <a:spcPct val="150000"/>
              </a:lnSpc>
              <a:spcBef>
                <a:spcPts val="0"/>
              </a:spcBef>
              <a:spcAft>
                <a:spcPts val="0"/>
              </a:spcAft>
              <a:buClr>
                <a:schemeClr val="lt1"/>
              </a:buClr>
              <a:buSzPts val="1600"/>
              <a:buFont typeface="Arial"/>
              <a:buChar char="•"/>
            </a:pPr>
            <a:r>
              <a:rPr b="0" i="0" lang="en" sz="1600">
                <a:solidFill>
                  <a:srgbClr val="ECECEC"/>
                </a:solidFill>
                <a:latin typeface="Fira Sans"/>
                <a:ea typeface="Fira Sans"/>
                <a:cs typeface="Fira Sans"/>
                <a:sym typeface="Fira Sans"/>
              </a:rPr>
              <a:t>For example, when rolling a six-sided die, the events "rolling a 1" and "rolling a 2" are mutually exclusive because it's impossible for both events to happen simultaneously.</a:t>
            </a:r>
            <a:endParaRPr sz="1600"/>
          </a:p>
        </p:txBody>
      </p:sp>
      <p:sp>
        <p:nvSpPr>
          <p:cNvPr id="2399" name="Google Shape;2399;p18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400" name="Google Shape;2400;p182"/>
          <p:cNvPicPr preferRelativeResize="0"/>
          <p:nvPr/>
        </p:nvPicPr>
        <p:blipFill rotWithShape="1">
          <a:blip r:embed="rId3">
            <a:alphaModFix/>
          </a:blip>
          <a:srcRect b="0" l="0" r="0" t="0"/>
          <a:stretch/>
        </p:blipFill>
        <p:spPr>
          <a:xfrm>
            <a:off x="6014150" y="1670400"/>
            <a:ext cx="2290476" cy="1410950"/>
          </a:xfrm>
          <a:prstGeom prst="rect">
            <a:avLst/>
          </a:prstGeom>
          <a:noFill/>
          <a:ln>
            <a:noFill/>
          </a:ln>
        </p:spPr>
      </p:pic>
      <p:sp>
        <p:nvSpPr>
          <p:cNvPr id="2401" name="Google Shape;2401;p182"/>
          <p:cNvSpPr txBox="1"/>
          <p:nvPr/>
        </p:nvSpPr>
        <p:spPr>
          <a:xfrm>
            <a:off x="6241850" y="3245600"/>
            <a:ext cx="18753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Fira Sans"/>
                <a:ea typeface="Fira Sans"/>
                <a:cs typeface="Fira Sans"/>
                <a:sym typeface="Fira Sans"/>
              </a:rPr>
              <a:t>Not possible to have a head and tail together unless the coin is balanced</a:t>
            </a:r>
            <a:endParaRPr b="0" i="0" sz="1200" u="none" cap="none" strike="noStrike">
              <a:solidFill>
                <a:srgbClr val="FFFFFF"/>
              </a:solidFill>
              <a:latin typeface="Fira Sans"/>
              <a:ea typeface="Fira Sans"/>
              <a:cs typeface="Fira Sans"/>
              <a:sym typeface="Fira San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18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In a high school class of 100 students, some students opt for cricket and some opt for basketball. Determine if these events are mutually exclusive</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 student opts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B: A student opts for a history course.</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pic>
        <p:nvPicPr>
          <p:cNvPr id="2407" name="Google Shape;2407;p183"/>
          <p:cNvPicPr preferRelativeResize="0"/>
          <p:nvPr/>
        </p:nvPicPr>
        <p:blipFill rotWithShape="1">
          <a:blip r:embed="rId3">
            <a:alphaModFix/>
          </a:blip>
          <a:srcRect b="0" l="0" r="0" t="0"/>
          <a:stretch/>
        </p:blipFill>
        <p:spPr>
          <a:xfrm>
            <a:off x="4576209" y="2401819"/>
            <a:ext cx="4256059" cy="2426925"/>
          </a:xfrm>
          <a:prstGeom prst="rect">
            <a:avLst/>
          </a:prstGeom>
          <a:noFill/>
          <a:ln>
            <a:noFill/>
          </a:ln>
        </p:spPr>
      </p:pic>
      <p:sp>
        <p:nvSpPr>
          <p:cNvPr id="2408" name="Google Shape;2408;p18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409" name="Google Shape;2409;p183"/>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(50)</a:t>
            </a:r>
            <a:endParaRPr b="1" i="0" sz="1800" u="none" cap="none" strike="noStrike">
              <a:solidFill>
                <a:schemeClr val="dk1"/>
              </a:solidFill>
              <a:latin typeface="Lobster"/>
              <a:ea typeface="Lobster"/>
              <a:cs typeface="Lobster"/>
              <a:sym typeface="Lobster"/>
            </a:endParaRPr>
          </a:p>
        </p:txBody>
      </p:sp>
      <p:sp>
        <p:nvSpPr>
          <p:cNvPr id="2410" name="Google Shape;2410;p183"/>
          <p:cNvSpPr txBox="1"/>
          <p:nvPr/>
        </p:nvSpPr>
        <p:spPr>
          <a:xfrm>
            <a:off x="64248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(0)</a:t>
            </a:r>
            <a:endParaRPr b="1" i="0" sz="1800" u="none" cap="none" strike="noStrike">
              <a:solidFill>
                <a:schemeClr val="dk1"/>
              </a:solidFill>
              <a:latin typeface="Lobster"/>
              <a:ea typeface="Lobster"/>
              <a:cs typeface="Lobster"/>
              <a:sym typeface="Lobster"/>
            </a:endParaRPr>
          </a:p>
        </p:txBody>
      </p:sp>
      <p:sp>
        <p:nvSpPr>
          <p:cNvPr id="2411" name="Google Shape;2411;p183"/>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(40)</a:t>
            </a:r>
            <a:endParaRPr b="1" i="0" sz="1800" u="none" cap="none" strike="noStrike">
              <a:solidFill>
                <a:schemeClr val="dk1"/>
              </a:solidFill>
              <a:latin typeface="Lobster"/>
              <a:ea typeface="Lobster"/>
              <a:cs typeface="Lobster"/>
              <a:sym typeface="Lobster"/>
            </a:endParaRPr>
          </a:p>
        </p:txBody>
      </p:sp>
      <p:sp>
        <p:nvSpPr>
          <p:cNvPr id="2412" name="Google Shape;2412;p183"/>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(10)</a:t>
            </a:r>
            <a:endParaRPr b="1" i="0" sz="1800" u="none" cap="none" strike="noStrike">
              <a:solidFill>
                <a:schemeClr val="lt1"/>
              </a:solidFill>
              <a:latin typeface="Lobster"/>
              <a:ea typeface="Lobster"/>
              <a:cs typeface="Lobster"/>
              <a:sym typeface="Lobster"/>
            </a:endParaRPr>
          </a:p>
        </p:txBody>
      </p:sp>
      <p:sp>
        <p:nvSpPr>
          <p:cNvPr id="2413" name="Google Shape;2413;p183"/>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14" name="Google Shape;2414;p183"/>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415" name="Google Shape;2415;p183"/>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416" name="Google Shape;2416;p183"/>
          <p:cNvSpPr txBox="1"/>
          <p:nvPr>
            <p:ph type="title"/>
          </p:nvPr>
        </p:nvSpPr>
        <p:spPr>
          <a:xfrm>
            <a:off x="311700" y="1783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Mutually Exclusive Events</a:t>
            </a:r>
            <a:endParaRPr>
              <a:solidFill>
                <a:srgbClr val="3896D2"/>
              </a:solidFill>
              <a:latin typeface="Fira Sans"/>
              <a:ea typeface="Fira Sans"/>
              <a:cs typeface="Fira Sans"/>
              <a:sym typeface="Fira San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184"/>
          <p:cNvSpPr txBox="1"/>
          <p:nvPr>
            <p:ph idx="1" type="body"/>
          </p:nvPr>
        </p:nvSpPr>
        <p:spPr>
          <a:xfrm>
            <a:off x="311700" y="10691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Probabilities: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Probability of a student opting for cricket P(A) = 0.5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(50 students out of 100 opt for cricket)</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Probability of a student opting for basketball P(B) = 0.4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(40 out of 100 opt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Probability student opting for both 0</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0 students do both</a:t>
            </a:r>
            <a:endParaRPr sz="1600">
              <a:solidFill>
                <a:schemeClr val="lt1"/>
              </a:solidFill>
            </a:endParaRPr>
          </a:p>
          <a:p>
            <a:pPr indent="0" lvl="0" marL="45720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422" name="Google Shape;2422;p18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423" name="Google Shape;2423;p184"/>
          <p:cNvSpPr txBox="1"/>
          <p:nvPr>
            <p:ph type="title"/>
          </p:nvPr>
        </p:nvSpPr>
        <p:spPr>
          <a:xfrm>
            <a:off x="311700" y="1783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Mutually Exclusive Events</a:t>
            </a:r>
            <a:endParaRPr>
              <a:solidFill>
                <a:srgbClr val="3896D2"/>
              </a:solidFill>
              <a:latin typeface="Fira Sans"/>
              <a:ea typeface="Fira Sans"/>
              <a:cs typeface="Fira Sans"/>
              <a:sym typeface="Fira Sans"/>
            </a:endParaRPr>
          </a:p>
        </p:txBody>
      </p:sp>
      <p:pic>
        <p:nvPicPr>
          <p:cNvPr id="2424" name="Google Shape;2424;p184"/>
          <p:cNvPicPr preferRelativeResize="0"/>
          <p:nvPr/>
        </p:nvPicPr>
        <p:blipFill rotWithShape="1">
          <a:blip r:embed="rId3">
            <a:alphaModFix/>
          </a:blip>
          <a:srcRect b="0" l="0" r="0" t="0"/>
          <a:stretch/>
        </p:blipFill>
        <p:spPr>
          <a:xfrm>
            <a:off x="4576209" y="2401819"/>
            <a:ext cx="4256059" cy="2426925"/>
          </a:xfrm>
          <a:prstGeom prst="rect">
            <a:avLst/>
          </a:prstGeom>
          <a:noFill/>
          <a:ln>
            <a:noFill/>
          </a:ln>
        </p:spPr>
      </p:pic>
      <p:sp>
        <p:nvSpPr>
          <p:cNvPr id="2425" name="Google Shape;2425;p184"/>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(50)</a:t>
            </a:r>
            <a:endParaRPr b="1" i="0" sz="1800" u="none" cap="none" strike="noStrike">
              <a:solidFill>
                <a:schemeClr val="dk1"/>
              </a:solidFill>
              <a:latin typeface="Lobster"/>
              <a:ea typeface="Lobster"/>
              <a:cs typeface="Lobster"/>
              <a:sym typeface="Lobster"/>
            </a:endParaRPr>
          </a:p>
        </p:txBody>
      </p:sp>
      <p:sp>
        <p:nvSpPr>
          <p:cNvPr id="2426" name="Google Shape;2426;p184"/>
          <p:cNvSpPr txBox="1"/>
          <p:nvPr/>
        </p:nvSpPr>
        <p:spPr>
          <a:xfrm>
            <a:off x="64248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(0)</a:t>
            </a:r>
            <a:endParaRPr b="1" i="0" sz="1800" u="none" cap="none" strike="noStrike">
              <a:solidFill>
                <a:schemeClr val="dk1"/>
              </a:solidFill>
              <a:latin typeface="Lobster"/>
              <a:ea typeface="Lobster"/>
              <a:cs typeface="Lobster"/>
              <a:sym typeface="Lobster"/>
            </a:endParaRPr>
          </a:p>
        </p:txBody>
      </p:sp>
      <p:sp>
        <p:nvSpPr>
          <p:cNvPr id="2427" name="Google Shape;2427;p184"/>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(40)</a:t>
            </a:r>
            <a:endParaRPr b="1" i="0" sz="1800" u="none" cap="none" strike="noStrike">
              <a:solidFill>
                <a:schemeClr val="dk1"/>
              </a:solidFill>
              <a:latin typeface="Lobster"/>
              <a:ea typeface="Lobster"/>
              <a:cs typeface="Lobster"/>
              <a:sym typeface="Lobster"/>
            </a:endParaRPr>
          </a:p>
        </p:txBody>
      </p:sp>
      <p:sp>
        <p:nvSpPr>
          <p:cNvPr id="2428" name="Google Shape;2428;p184"/>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(10)</a:t>
            </a:r>
            <a:endParaRPr b="1" i="0" sz="1800" u="none" cap="none" strike="noStrike">
              <a:solidFill>
                <a:schemeClr val="lt1"/>
              </a:solidFill>
              <a:latin typeface="Lobster"/>
              <a:ea typeface="Lobster"/>
              <a:cs typeface="Lobster"/>
              <a:sym typeface="Lobster"/>
            </a:endParaRPr>
          </a:p>
        </p:txBody>
      </p:sp>
      <p:sp>
        <p:nvSpPr>
          <p:cNvPr id="2429" name="Google Shape;2429;p184"/>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30" name="Google Shape;2430;p184"/>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431" name="Google Shape;2431;p184"/>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sp>
        <p:nvSpPr>
          <p:cNvPr id="2436" name="Google Shape;2436;p185"/>
          <p:cNvSpPr txBox="1"/>
          <p:nvPr>
            <p:ph idx="1" type="body"/>
          </p:nvPr>
        </p:nvSpPr>
        <p:spPr>
          <a:xfrm>
            <a:off x="311700" y="1069150"/>
            <a:ext cx="8520600" cy="34164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Clr>
                <a:schemeClr val="lt1"/>
              </a:buClr>
              <a:buSzPts val="2100"/>
              <a:buChar char="●"/>
            </a:pPr>
            <a:r>
              <a:rPr lang="en" sz="1600">
                <a:solidFill>
                  <a:schemeClr val="lt1"/>
                </a:solidFill>
              </a:rPr>
              <a:t>Since cricket and basketball are scheduled at the same time, a student cannot opt for both. Therefore, P(A∩B) = 0</a:t>
            </a:r>
            <a:endParaRPr sz="2100">
              <a:solidFill>
                <a:schemeClr val="lt1"/>
              </a:solidFill>
              <a:latin typeface="Fira Sans Medium"/>
              <a:ea typeface="Fira Sans Medium"/>
              <a:cs typeface="Fira Sans Medium"/>
              <a:sym typeface="Fira Sans Medium"/>
            </a:endParaRPr>
          </a:p>
          <a:p>
            <a:pPr indent="0" lvl="0" marL="45720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437" name="Google Shape;2437;p18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438" name="Google Shape;2438;p185"/>
          <p:cNvSpPr txBox="1"/>
          <p:nvPr/>
        </p:nvSpPr>
        <p:spPr>
          <a:xfrm>
            <a:off x="69275" y="2448600"/>
            <a:ext cx="4506900" cy="128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600"/>
              <a:buFont typeface="Arial"/>
              <a:buNone/>
            </a:pPr>
            <a:r>
              <a:rPr b="0" i="0" lang="en" sz="1600" u="none" cap="none" strike="noStrike">
                <a:solidFill>
                  <a:schemeClr val="lt1"/>
                </a:solidFill>
                <a:latin typeface="Fira Sans"/>
                <a:ea typeface="Fira Sans"/>
                <a:cs typeface="Fira Sans"/>
                <a:sym typeface="Fira Sans"/>
              </a:rPr>
              <a:t>The events are mutually exclusive because a student can only choose one activity at a time. Hence, the probability of choosing both cricket and basketball simultaneously is zero</a:t>
            </a:r>
            <a:endParaRPr b="0" i="0" sz="1600" u="none" cap="none" strike="noStrike">
              <a:solidFill>
                <a:schemeClr val="lt1"/>
              </a:solidFill>
              <a:latin typeface="Fira Sans"/>
              <a:ea typeface="Fira Sans"/>
              <a:cs typeface="Fira Sans"/>
              <a:sym typeface="Fira Sans"/>
            </a:endParaRPr>
          </a:p>
        </p:txBody>
      </p:sp>
      <p:sp>
        <p:nvSpPr>
          <p:cNvPr id="2439" name="Google Shape;2439;p185"/>
          <p:cNvSpPr txBox="1"/>
          <p:nvPr>
            <p:ph type="title"/>
          </p:nvPr>
        </p:nvSpPr>
        <p:spPr>
          <a:xfrm>
            <a:off x="311700" y="1783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Mutually Exclusive Events</a:t>
            </a:r>
            <a:endParaRPr>
              <a:solidFill>
                <a:srgbClr val="3896D2"/>
              </a:solidFill>
              <a:latin typeface="Fira Sans"/>
              <a:ea typeface="Fira Sans"/>
              <a:cs typeface="Fira Sans"/>
              <a:sym typeface="Fira Sans"/>
            </a:endParaRPr>
          </a:p>
        </p:txBody>
      </p:sp>
      <p:pic>
        <p:nvPicPr>
          <p:cNvPr id="2440" name="Google Shape;2440;p185"/>
          <p:cNvPicPr preferRelativeResize="0"/>
          <p:nvPr/>
        </p:nvPicPr>
        <p:blipFill rotWithShape="1">
          <a:blip r:embed="rId3">
            <a:alphaModFix/>
          </a:blip>
          <a:srcRect b="0" l="0" r="0" t="0"/>
          <a:stretch/>
        </p:blipFill>
        <p:spPr>
          <a:xfrm>
            <a:off x="4576209" y="2401819"/>
            <a:ext cx="4256059" cy="2426925"/>
          </a:xfrm>
          <a:prstGeom prst="rect">
            <a:avLst/>
          </a:prstGeom>
          <a:noFill/>
          <a:ln>
            <a:noFill/>
          </a:ln>
        </p:spPr>
      </p:pic>
      <p:sp>
        <p:nvSpPr>
          <p:cNvPr id="2441" name="Google Shape;2441;p185"/>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(50)</a:t>
            </a:r>
            <a:endParaRPr b="1" i="0" sz="1800" u="none" cap="none" strike="noStrike">
              <a:solidFill>
                <a:schemeClr val="dk1"/>
              </a:solidFill>
              <a:latin typeface="Lobster"/>
              <a:ea typeface="Lobster"/>
              <a:cs typeface="Lobster"/>
              <a:sym typeface="Lobster"/>
            </a:endParaRPr>
          </a:p>
        </p:txBody>
      </p:sp>
      <p:sp>
        <p:nvSpPr>
          <p:cNvPr id="2442" name="Google Shape;2442;p185"/>
          <p:cNvSpPr txBox="1"/>
          <p:nvPr/>
        </p:nvSpPr>
        <p:spPr>
          <a:xfrm>
            <a:off x="64248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(0)</a:t>
            </a:r>
            <a:endParaRPr b="1" i="0" sz="1800" u="none" cap="none" strike="noStrike">
              <a:solidFill>
                <a:schemeClr val="dk1"/>
              </a:solidFill>
              <a:latin typeface="Lobster"/>
              <a:ea typeface="Lobster"/>
              <a:cs typeface="Lobster"/>
              <a:sym typeface="Lobster"/>
            </a:endParaRPr>
          </a:p>
        </p:txBody>
      </p:sp>
      <p:sp>
        <p:nvSpPr>
          <p:cNvPr id="2443" name="Google Shape;2443;p185"/>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(40)</a:t>
            </a:r>
            <a:endParaRPr b="1" i="0" sz="1800" u="none" cap="none" strike="noStrike">
              <a:solidFill>
                <a:schemeClr val="dk1"/>
              </a:solidFill>
              <a:latin typeface="Lobster"/>
              <a:ea typeface="Lobster"/>
              <a:cs typeface="Lobster"/>
              <a:sym typeface="Lobster"/>
            </a:endParaRPr>
          </a:p>
        </p:txBody>
      </p:sp>
      <p:sp>
        <p:nvSpPr>
          <p:cNvPr id="2444" name="Google Shape;2444;p185"/>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(10)</a:t>
            </a:r>
            <a:endParaRPr b="1" i="0" sz="1800" u="none" cap="none" strike="noStrike">
              <a:solidFill>
                <a:schemeClr val="lt1"/>
              </a:solidFill>
              <a:latin typeface="Lobster"/>
              <a:ea typeface="Lobster"/>
              <a:cs typeface="Lobster"/>
              <a:sym typeface="Lobster"/>
            </a:endParaRPr>
          </a:p>
        </p:txBody>
      </p:sp>
      <p:sp>
        <p:nvSpPr>
          <p:cNvPr id="2445" name="Google Shape;2445;p185"/>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46" name="Google Shape;2446;p185"/>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447" name="Google Shape;2447;p185"/>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1" name="Shape 2451"/>
        <p:cNvGrpSpPr/>
        <p:nvPr/>
      </p:nvGrpSpPr>
      <p:grpSpPr>
        <a:xfrm>
          <a:off x="0" y="0"/>
          <a:ext cx="0" cy="0"/>
          <a:chOff x="0" y="0"/>
          <a:chExt cx="0" cy="0"/>
        </a:xfrm>
      </p:grpSpPr>
      <p:sp>
        <p:nvSpPr>
          <p:cNvPr id="2452" name="Google Shape;2452;p1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Conditional Probability</a:t>
            </a:r>
            <a:endParaRPr>
              <a:solidFill>
                <a:srgbClr val="3896D2"/>
              </a:solidFill>
              <a:latin typeface="Fira Sans"/>
              <a:ea typeface="Fira Sans"/>
              <a:cs typeface="Fira Sans"/>
              <a:sym typeface="Fira Sans"/>
            </a:endParaRPr>
          </a:p>
        </p:txBody>
      </p:sp>
      <p:sp>
        <p:nvSpPr>
          <p:cNvPr id="2453" name="Google Shape;2453;p18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latin typeface="Fira Sans"/>
                <a:ea typeface="Fira Sans"/>
                <a:cs typeface="Fira Sans"/>
                <a:sym typeface="Fira Sans"/>
              </a:rPr>
              <a:t>The likelihood of an event or outcome occurring, based on the occurrence of a previous event or outcome is called conditional probability.</a:t>
            </a:r>
            <a:endParaRPr sz="1600">
              <a:solidFill>
                <a:schemeClr val="lt1"/>
              </a:solidFill>
              <a:latin typeface="Fira Sans"/>
              <a:ea typeface="Fira Sans"/>
              <a:cs typeface="Fira Sans"/>
              <a:sym typeface="Fira Sans"/>
            </a:endParaRPr>
          </a:p>
          <a:p>
            <a:pPr indent="0" lvl="0" marL="0" rtl="0" algn="l">
              <a:lnSpc>
                <a:spcPct val="150000"/>
              </a:lnSpc>
              <a:spcBef>
                <a:spcPts val="1200"/>
              </a:spcBef>
              <a:spcAft>
                <a:spcPts val="0"/>
              </a:spcAft>
              <a:buSzPts val="1800"/>
              <a:buNone/>
            </a:pPr>
            <a:r>
              <a:rPr lang="en" sz="1600">
                <a:solidFill>
                  <a:schemeClr val="lt1"/>
                </a:solidFill>
                <a:latin typeface="Fira Sans"/>
                <a:ea typeface="Fira Sans"/>
                <a:cs typeface="Fira Sans"/>
                <a:sym typeface="Fira Sans"/>
              </a:rPr>
              <a:t>The formula is given as follows</a:t>
            </a:r>
            <a:endParaRPr sz="1600">
              <a:solidFill>
                <a:schemeClr val="lt1"/>
              </a:solidFill>
              <a:latin typeface="Fira Sans"/>
              <a:ea typeface="Fira Sans"/>
              <a:cs typeface="Fira Sans"/>
              <a:sym typeface="Fira Sans"/>
            </a:endParaRPr>
          </a:p>
          <a:p>
            <a:pPr indent="0" lvl="0" marL="0" rtl="0" algn="l">
              <a:lnSpc>
                <a:spcPct val="150000"/>
              </a:lnSpc>
              <a:spcBef>
                <a:spcPts val="1200"/>
              </a:spcBef>
              <a:spcAft>
                <a:spcPts val="1200"/>
              </a:spcAft>
              <a:buSzPts val="1800"/>
              <a:buNone/>
            </a:pPr>
            <a:r>
              <a:t/>
            </a:r>
            <a:endParaRPr sz="1600">
              <a:latin typeface="Arial"/>
              <a:ea typeface="Arial"/>
              <a:cs typeface="Arial"/>
              <a:sym typeface="Arial"/>
            </a:endParaRPr>
          </a:p>
        </p:txBody>
      </p:sp>
      <p:pic>
        <p:nvPicPr>
          <p:cNvPr id="2454" name="Google Shape;2454;p186"/>
          <p:cNvPicPr preferRelativeResize="0"/>
          <p:nvPr/>
        </p:nvPicPr>
        <p:blipFill rotWithShape="1">
          <a:blip r:embed="rId3">
            <a:alphaModFix/>
          </a:blip>
          <a:srcRect b="0" l="0" r="0" t="0"/>
          <a:stretch/>
        </p:blipFill>
        <p:spPr>
          <a:xfrm>
            <a:off x="3045200" y="3299937"/>
            <a:ext cx="3053600" cy="158247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2455" name="Google Shape;2455;p18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456" name="Google Shape;2456;p186"/>
          <p:cNvSpPr txBox="1"/>
          <p:nvPr/>
        </p:nvSpPr>
        <p:spPr>
          <a:xfrm>
            <a:off x="5036850" y="2354350"/>
            <a:ext cx="412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FFFF"/>
                </a:solidFill>
                <a:latin typeface="Average"/>
                <a:ea typeface="Average"/>
                <a:cs typeface="Average"/>
                <a:sym typeface="Average"/>
              </a:rPr>
              <a:t>P(A and B) = P(B)*P(A|B) = P(A)*P(B|A)</a:t>
            </a:r>
            <a:endParaRPr b="1" i="0" sz="1400" u="none" cap="none" strike="noStrike">
              <a:solidFill>
                <a:srgbClr val="00FFFF"/>
              </a:solidFill>
              <a:latin typeface="Average"/>
              <a:ea typeface="Average"/>
              <a:cs typeface="Average"/>
              <a:sym typeface="Average"/>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1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462" name="Google Shape;2462;p18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463" name="Google Shape;2463;p187"/>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464" name="Google Shape;2464;p187"/>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465" name="Google Shape;2465;p187"/>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466" name="Google Shape;2466;p187"/>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467" name="Google Shape;2467;p187"/>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468" name="Google Shape;2468;p187"/>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69" name="Google Shape;2469;p187"/>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470" name="Google Shape;2470;p187"/>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471" name="Google Shape;2471;p18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In a high school class of 100 students, 30 students are enrolled in a history course, and 12 of those students are also enrolled in basketball. Determine the probability that a student is enrolled in basketball given that they are enrolled in a history course</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 student opts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B: A student opts for a history course.</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5" name="Shape 2475"/>
        <p:cNvGrpSpPr/>
        <p:nvPr/>
      </p:nvGrpSpPr>
      <p:grpSpPr>
        <a:xfrm>
          <a:off x="0" y="0"/>
          <a:ext cx="0" cy="0"/>
          <a:chOff x="0" y="0"/>
          <a:chExt cx="0" cy="0"/>
        </a:xfrm>
      </p:grpSpPr>
      <p:sp>
        <p:nvSpPr>
          <p:cNvPr id="2476" name="Google Shape;2476;p1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477" name="Google Shape;2477;p18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478" name="Google Shape;2478;p188"/>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479" name="Google Shape;2479;p188"/>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480" name="Google Shape;2480;p188"/>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481" name="Google Shape;2481;p188"/>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482" name="Google Shape;2482;p188"/>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483" name="Google Shape;2483;p188"/>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84" name="Google Shape;2484;p188"/>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485" name="Google Shape;2485;p188"/>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486" name="Google Shape;2486;p18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800"/>
              <a:buNone/>
            </a:pPr>
            <a:r>
              <a:rPr lang="en" sz="1600">
                <a:solidFill>
                  <a:schemeClr val="lt1"/>
                </a:solidFill>
              </a:rPr>
              <a:t>Scenario: In a high school class of 100 students, 30 students are enrolled in a history course, and 12 of those students are also enrolled in basketball. Determine the probability that a student is enrolled in basketball given that they are enrolled in a history course</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Define the Events:</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A: A student opts for basketball</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B: A student opts for a history course.</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Data:</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students enrolled in a history course (∣B∣) = 30</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Number of students enrolled in both  (∣A∩B∣) = 12</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0" name="Shape 2490"/>
        <p:cNvGrpSpPr/>
        <p:nvPr/>
      </p:nvGrpSpPr>
      <p:grpSpPr>
        <a:xfrm>
          <a:off x="0" y="0"/>
          <a:ext cx="0" cy="0"/>
          <a:chOff x="0" y="0"/>
          <a:chExt cx="0" cy="0"/>
        </a:xfrm>
      </p:grpSpPr>
      <p:sp>
        <p:nvSpPr>
          <p:cNvPr id="2491" name="Google Shape;2491;p1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492" name="Google Shape;2492;p18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493" name="Google Shape;2493;p189"/>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494" name="Google Shape;2494;p189"/>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495" name="Google Shape;2495;p189"/>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496" name="Google Shape;2496;p189"/>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497" name="Google Shape;2497;p189"/>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498" name="Google Shape;2498;p189"/>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499" name="Google Shape;2499;p189"/>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500" name="Google Shape;2500;p189"/>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501" name="Google Shape;2501;p18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Data:</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students enrolled in a history course (∣B∣) = 30</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Number of students enrolled in both  (∣A∩B∣) = 12</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pic>
        <p:nvPicPr>
          <p:cNvPr id="2502" name="Google Shape;2502;p189"/>
          <p:cNvPicPr preferRelativeResize="0"/>
          <p:nvPr/>
        </p:nvPicPr>
        <p:blipFill rotWithShape="1">
          <a:blip r:embed="rId4">
            <a:alphaModFix/>
          </a:blip>
          <a:srcRect b="0" l="0" r="0" t="0"/>
          <a:stretch/>
        </p:blipFill>
        <p:spPr>
          <a:xfrm>
            <a:off x="1612899" y="2401821"/>
            <a:ext cx="1803676" cy="5727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6" name="Shape 2506"/>
        <p:cNvGrpSpPr/>
        <p:nvPr/>
      </p:nvGrpSpPr>
      <p:grpSpPr>
        <a:xfrm>
          <a:off x="0" y="0"/>
          <a:ext cx="0" cy="0"/>
          <a:chOff x="0" y="0"/>
          <a:chExt cx="0" cy="0"/>
        </a:xfrm>
      </p:grpSpPr>
      <p:sp>
        <p:nvSpPr>
          <p:cNvPr id="2507" name="Google Shape;2507;p1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508" name="Google Shape;2508;p19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09" name="Google Shape;2509;p190"/>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510" name="Google Shape;2510;p190"/>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511" name="Google Shape;2511;p190"/>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512" name="Google Shape;2512;p190"/>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513" name="Google Shape;2513;p190"/>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514" name="Google Shape;2514;p190"/>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515" name="Google Shape;2515;p190"/>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516" name="Google Shape;2516;p190"/>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517" name="Google Shape;2517;p1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Data:</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students enrolled in a history course (∣B∣) = 30</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Number of students enrolled in both  (∣A∩B∣) = 12</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pic>
        <p:nvPicPr>
          <p:cNvPr id="2518" name="Google Shape;2518;p190"/>
          <p:cNvPicPr preferRelativeResize="0"/>
          <p:nvPr/>
        </p:nvPicPr>
        <p:blipFill rotWithShape="1">
          <a:blip r:embed="rId4">
            <a:alphaModFix/>
          </a:blip>
          <a:srcRect b="0" l="0" r="0" t="0"/>
          <a:stretch/>
        </p:blipFill>
        <p:spPr>
          <a:xfrm>
            <a:off x="1612899" y="2401821"/>
            <a:ext cx="1803676" cy="572700"/>
          </a:xfrm>
          <a:prstGeom prst="rect">
            <a:avLst/>
          </a:prstGeom>
          <a:noFill/>
          <a:ln>
            <a:noFill/>
          </a:ln>
        </p:spPr>
      </p:pic>
      <p:pic>
        <p:nvPicPr>
          <p:cNvPr id="2519" name="Google Shape;2519;p190"/>
          <p:cNvPicPr preferRelativeResize="0"/>
          <p:nvPr/>
        </p:nvPicPr>
        <p:blipFill rotWithShape="1">
          <a:blip r:embed="rId5">
            <a:alphaModFix/>
          </a:blip>
          <a:srcRect b="0" l="0" r="0" t="0"/>
          <a:stretch/>
        </p:blipFill>
        <p:spPr>
          <a:xfrm>
            <a:off x="551661" y="3027023"/>
            <a:ext cx="3566689" cy="572700"/>
          </a:xfrm>
          <a:prstGeom prst="rect">
            <a:avLst/>
          </a:prstGeom>
          <a:noFill/>
          <a:ln>
            <a:noFill/>
          </a:ln>
        </p:spPr>
      </p:pic>
      <p:pic>
        <p:nvPicPr>
          <p:cNvPr id="2520" name="Google Shape;2520;p190"/>
          <p:cNvPicPr preferRelativeResize="0"/>
          <p:nvPr/>
        </p:nvPicPr>
        <p:blipFill rotWithShape="1">
          <a:blip r:embed="rId6">
            <a:alphaModFix/>
          </a:blip>
          <a:srcRect b="0" l="0" r="0" t="0"/>
          <a:stretch/>
        </p:blipFill>
        <p:spPr>
          <a:xfrm>
            <a:off x="312506" y="3599725"/>
            <a:ext cx="4044982" cy="5727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4" name="Shape 2524"/>
        <p:cNvGrpSpPr/>
        <p:nvPr/>
      </p:nvGrpSpPr>
      <p:grpSpPr>
        <a:xfrm>
          <a:off x="0" y="0"/>
          <a:ext cx="0" cy="0"/>
          <a:chOff x="0" y="0"/>
          <a:chExt cx="0" cy="0"/>
        </a:xfrm>
      </p:grpSpPr>
      <p:sp>
        <p:nvSpPr>
          <p:cNvPr id="2525" name="Google Shape;2525;p1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526" name="Google Shape;2526;p19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27" name="Google Shape;2527;p191"/>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528" name="Google Shape;2528;p191"/>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529" name="Google Shape;2529;p191"/>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530" name="Google Shape;2530;p191"/>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531" name="Google Shape;2531;p191"/>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532" name="Google Shape;2532;p191"/>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533" name="Google Shape;2533;p191"/>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534" name="Google Shape;2534;p191"/>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535" name="Google Shape;2535;p19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Data:</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rPr>
              <a:t>students enrolled in a history course (∣B∣) = 30</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Number of students enrolled in both  (∣A∩B∣) = 12</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pic>
        <p:nvPicPr>
          <p:cNvPr id="2536" name="Google Shape;2536;p191"/>
          <p:cNvPicPr preferRelativeResize="0"/>
          <p:nvPr/>
        </p:nvPicPr>
        <p:blipFill rotWithShape="1">
          <a:blip r:embed="rId4">
            <a:alphaModFix/>
          </a:blip>
          <a:srcRect b="0" l="0" r="0" t="0"/>
          <a:stretch/>
        </p:blipFill>
        <p:spPr>
          <a:xfrm>
            <a:off x="1612899" y="2401821"/>
            <a:ext cx="1803676" cy="572700"/>
          </a:xfrm>
          <a:prstGeom prst="rect">
            <a:avLst/>
          </a:prstGeom>
          <a:noFill/>
          <a:ln>
            <a:noFill/>
          </a:ln>
        </p:spPr>
      </p:pic>
      <p:pic>
        <p:nvPicPr>
          <p:cNvPr id="2537" name="Google Shape;2537;p191"/>
          <p:cNvPicPr preferRelativeResize="0"/>
          <p:nvPr/>
        </p:nvPicPr>
        <p:blipFill rotWithShape="1">
          <a:blip r:embed="rId5">
            <a:alphaModFix/>
          </a:blip>
          <a:srcRect b="0" l="0" r="0" t="0"/>
          <a:stretch/>
        </p:blipFill>
        <p:spPr>
          <a:xfrm>
            <a:off x="551661" y="3027023"/>
            <a:ext cx="3566689" cy="572700"/>
          </a:xfrm>
          <a:prstGeom prst="rect">
            <a:avLst/>
          </a:prstGeom>
          <a:noFill/>
          <a:ln>
            <a:noFill/>
          </a:ln>
        </p:spPr>
      </p:pic>
      <p:pic>
        <p:nvPicPr>
          <p:cNvPr id="2538" name="Google Shape;2538;p191"/>
          <p:cNvPicPr preferRelativeResize="0"/>
          <p:nvPr/>
        </p:nvPicPr>
        <p:blipFill rotWithShape="1">
          <a:blip r:embed="rId6">
            <a:alphaModFix/>
          </a:blip>
          <a:srcRect b="0" l="0" r="0" t="0"/>
          <a:stretch/>
        </p:blipFill>
        <p:spPr>
          <a:xfrm>
            <a:off x="312506" y="3599725"/>
            <a:ext cx="4044982" cy="572700"/>
          </a:xfrm>
          <a:prstGeom prst="rect">
            <a:avLst/>
          </a:prstGeom>
          <a:noFill/>
          <a:ln>
            <a:noFill/>
          </a:ln>
        </p:spPr>
      </p:pic>
      <p:pic>
        <p:nvPicPr>
          <p:cNvPr id="2539" name="Google Shape;2539;p191"/>
          <p:cNvPicPr preferRelativeResize="0"/>
          <p:nvPr/>
        </p:nvPicPr>
        <p:blipFill rotWithShape="1">
          <a:blip r:embed="rId7">
            <a:alphaModFix/>
          </a:blip>
          <a:srcRect b="0" l="0" r="0" t="0"/>
          <a:stretch/>
        </p:blipFill>
        <p:spPr>
          <a:xfrm>
            <a:off x="669997" y="4280597"/>
            <a:ext cx="3245850" cy="6346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3" name="Shape 2543"/>
        <p:cNvGrpSpPr/>
        <p:nvPr/>
      </p:nvGrpSpPr>
      <p:grpSpPr>
        <a:xfrm>
          <a:off x="0" y="0"/>
          <a:ext cx="0" cy="0"/>
          <a:chOff x="0" y="0"/>
          <a:chExt cx="0" cy="0"/>
        </a:xfrm>
      </p:grpSpPr>
      <p:sp>
        <p:nvSpPr>
          <p:cNvPr id="2544" name="Google Shape;2544;p1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Conditional Probability</a:t>
            </a:r>
            <a:endParaRPr/>
          </a:p>
          <a:p>
            <a:pPr indent="0" lvl="0" marL="0" rtl="0" algn="l">
              <a:lnSpc>
                <a:spcPct val="100000"/>
              </a:lnSpc>
              <a:spcBef>
                <a:spcPts val="0"/>
              </a:spcBef>
              <a:spcAft>
                <a:spcPts val="0"/>
              </a:spcAft>
              <a:buSzPts val="990"/>
              <a:buNone/>
            </a:pPr>
            <a:r>
              <a:t/>
            </a:r>
            <a:endParaRPr/>
          </a:p>
        </p:txBody>
      </p:sp>
      <p:sp>
        <p:nvSpPr>
          <p:cNvPr id="2545" name="Google Shape;2545;p19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46" name="Google Shape;2546;p192"/>
          <p:cNvPicPr preferRelativeResize="0"/>
          <p:nvPr/>
        </p:nvPicPr>
        <p:blipFill rotWithShape="1">
          <a:blip r:embed="rId3">
            <a:alphaModFix/>
          </a:blip>
          <a:srcRect b="0" l="0" r="0" t="0"/>
          <a:stretch/>
        </p:blipFill>
        <p:spPr>
          <a:xfrm>
            <a:off x="4576174" y="2401824"/>
            <a:ext cx="4256126" cy="2426925"/>
          </a:xfrm>
          <a:prstGeom prst="rect">
            <a:avLst/>
          </a:prstGeom>
          <a:noFill/>
          <a:ln>
            <a:noFill/>
          </a:ln>
        </p:spPr>
      </p:pic>
      <p:sp>
        <p:nvSpPr>
          <p:cNvPr id="2547" name="Google Shape;2547;p192"/>
          <p:cNvSpPr txBox="1"/>
          <p:nvPr/>
        </p:nvSpPr>
        <p:spPr>
          <a:xfrm>
            <a:off x="525170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(28)</a:t>
            </a:r>
            <a:endParaRPr b="1" i="0" sz="1800" u="none" cap="none" strike="noStrike">
              <a:solidFill>
                <a:schemeClr val="dk1"/>
              </a:solidFill>
              <a:latin typeface="Lobster"/>
              <a:ea typeface="Lobster"/>
              <a:cs typeface="Lobster"/>
              <a:sym typeface="Lobster"/>
            </a:endParaRPr>
          </a:p>
        </p:txBody>
      </p:sp>
      <p:sp>
        <p:nvSpPr>
          <p:cNvPr id="2548" name="Google Shape;2548;p192"/>
          <p:cNvSpPr txBox="1"/>
          <p:nvPr/>
        </p:nvSpPr>
        <p:spPr>
          <a:xfrm>
            <a:off x="6360425"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(12)</a:t>
            </a:r>
            <a:endParaRPr b="1" i="0" sz="1800" u="none" cap="none" strike="noStrike">
              <a:solidFill>
                <a:schemeClr val="dk1"/>
              </a:solidFill>
              <a:latin typeface="Lobster"/>
              <a:ea typeface="Lobster"/>
              <a:cs typeface="Lobster"/>
              <a:sym typeface="Lobster"/>
            </a:endParaRPr>
          </a:p>
        </p:txBody>
      </p:sp>
      <p:sp>
        <p:nvSpPr>
          <p:cNvPr id="2549" name="Google Shape;2549;p192"/>
          <p:cNvSpPr txBox="1"/>
          <p:nvPr/>
        </p:nvSpPr>
        <p:spPr>
          <a:xfrm>
            <a:off x="7469150" y="346140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Lobster"/>
                <a:ea typeface="Lobster"/>
                <a:cs typeface="Lobster"/>
                <a:sym typeface="Lobster"/>
              </a:rPr>
              <a:t>(18)</a:t>
            </a:r>
            <a:endParaRPr b="1" i="0" sz="1800" u="none" cap="none" strike="noStrike">
              <a:solidFill>
                <a:schemeClr val="dk1"/>
              </a:solidFill>
              <a:latin typeface="Lobster"/>
              <a:ea typeface="Lobster"/>
              <a:cs typeface="Lobster"/>
              <a:sym typeface="Lobster"/>
            </a:endParaRPr>
          </a:p>
        </p:txBody>
      </p:sp>
      <p:sp>
        <p:nvSpPr>
          <p:cNvPr id="2550" name="Google Shape;2550;p192"/>
          <p:cNvSpPr txBox="1"/>
          <p:nvPr/>
        </p:nvSpPr>
        <p:spPr>
          <a:xfrm>
            <a:off x="8087250" y="4367050"/>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Lobster"/>
                <a:ea typeface="Lobster"/>
                <a:cs typeface="Lobster"/>
                <a:sym typeface="Lobster"/>
              </a:rPr>
              <a:t>(30)</a:t>
            </a:r>
            <a:endParaRPr b="1" i="0" sz="1800" u="none" cap="none" strike="noStrike">
              <a:solidFill>
                <a:schemeClr val="lt1"/>
              </a:solidFill>
              <a:latin typeface="Lobster"/>
              <a:ea typeface="Lobster"/>
              <a:cs typeface="Lobster"/>
              <a:sym typeface="Lobster"/>
            </a:endParaRPr>
          </a:p>
        </p:txBody>
      </p:sp>
      <p:sp>
        <p:nvSpPr>
          <p:cNvPr id="2551" name="Google Shape;2551;p192"/>
          <p:cNvSpPr txBox="1"/>
          <p:nvPr/>
        </p:nvSpPr>
        <p:spPr>
          <a:xfrm>
            <a:off x="5449950" y="3027025"/>
            <a:ext cx="68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a:t>
            </a:r>
            <a:endParaRPr b="1" i="0" sz="1800" u="none" cap="none" strike="noStrike">
              <a:solidFill>
                <a:schemeClr val="dk1"/>
              </a:solidFill>
              <a:latin typeface="Arial"/>
              <a:ea typeface="Arial"/>
              <a:cs typeface="Arial"/>
              <a:sym typeface="Arial"/>
            </a:endParaRPr>
          </a:p>
        </p:txBody>
      </p:sp>
      <p:sp>
        <p:nvSpPr>
          <p:cNvPr id="2552" name="Google Shape;2552;p192"/>
          <p:cNvSpPr txBox="1"/>
          <p:nvPr/>
        </p:nvSpPr>
        <p:spPr>
          <a:xfrm>
            <a:off x="7469150" y="3027025"/>
            <a:ext cx="35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B</a:t>
            </a:r>
            <a:endParaRPr b="1" i="0" sz="1800" u="none" cap="none" strike="noStrike">
              <a:solidFill>
                <a:schemeClr val="dk1"/>
              </a:solidFill>
              <a:latin typeface="Arial"/>
              <a:ea typeface="Arial"/>
              <a:cs typeface="Arial"/>
              <a:sym typeface="Arial"/>
            </a:endParaRPr>
          </a:p>
        </p:txBody>
      </p:sp>
      <p:sp>
        <p:nvSpPr>
          <p:cNvPr id="2553" name="Google Shape;2553;p192"/>
          <p:cNvSpPr txBox="1"/>
          <p:nvPr/>
        </p:nvSpPr>
        <p:spPr>
          <a:xfrm>
            <a:off x="6323400" y="3027025"/>
            <a:ext cx="890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(A∩B)</a:t>
            </a:r>
            <a:endParaRPr b="1" i="0" sz="1800" u="none" cap="none" strike="noStrike">
              <a:solidFill>
                <a:schemeClr val="dk1"/>
              </a:solidFill>
              <a:latin typeface="Arial"/>
              <a:ea typeface="Arial"/>
              <a:cs typeface="Arial"/>
              <a:sym typeface="Arial"/>
            </a:endParaRPr>
          </a:p>
        </p:txBody>
      </p:sp>
      <p:sp>
        <p:nvSpPr>
          <p:cNvPr id="2554" name="Google Shape;2554;p1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The probability that a student is enrolled in basketball given that they are enrolled in a history course is 0.4 or 40%.</a:t>
            </a:r>
            <a:endParaRPr sz="1600">
              <a:solidFill>
                <a:schemeClr val="lt1"/>
              </a:solidFill>
            </a:endParaRPr>
          </a:p>
          <a:p>
            <a:pPr indent="0" lvl="0" marL="0" rtl="0" algn="l">
              <a:lnSpc>
                <a:spcPct val="115000"/>
              </a:lnSpc>
              <a:spcBef>
                <a:spcPts val="1200"/>
              </a:spcBef>
              <a:spcAft>
                <a:spcPts val="0"/>
              </a:spcAft>
              <a:buSzPts val="1800"/>
              <a:buNone/>
            </a:pPr>
            <a:r>
              <a:t/>
            </a:r>
            <a:endParaRPr sz="1600">
              <a:solidFill>
                <a:schemeClr val="lt1"/>
              </a:solidFill>
            </a:endParaRPr>
          </a:p>
          <a:p>
            <a:pPr indent="0" lvl="0" marL="0" rtl="0" algn="l">
              <a:lnSpc>
                <a:spcPct val="115000"/>
              </a:lnSpc>
              <a:spcBef>
                <a:spcPts val="1200"/>
              </a:spcBef>
              <a:spcAft>
                <a:spcPts val="0"/>
              </a:spcAft>
              <a:buSzPts val="1800"/>
              <a:buNone/>
            </a:pPr>
            <a:r>
              <a:t/>
            </a:r>
            <a:endParaRPr sz="1600">
              <a:latin typeface="Arial"/>
              <a:ea typeface="Arial"/>
              <a:cs typeface="Arial"/>
              <a:sym typeface="Arial"/>
            </a:endParaRPr>
          </a:p>
          <a:p>
            <a:pPr indent="0" lvl="0" marL="457200" rtl="0" algn="l">
              <a:lnSpc>
                <a:spcPct val="150000"/>
              </a:lnSpc>
              <a:spcBef>
                <a:spcPts val="1200"/>
              </a:spcBef>
              <a:spcAft>
                <a:spcPts val="0"/>
              </a:spcAft>
              <a:buSzPts val="1800"/>
              <a:buNone/>
            </a:pPr>
            <a:r>
              <a:t/>
            </a:r>
            <a:endParaRPr sz="1100">
              <a:solidFill>
                <a:schemeClr val="lt1"/>
              </a:solidFill>
            </a:endParaRPr>
          </a:p>
        </p:txBody>
      </p:sp>
      <p:sp>
        <p:nvSpPr>
          <p:cNvPr id="2555" name="Google Shape;2555;p192"/>
          <p:cNvSpPr/>
          <p:nvPr/>
        </p:nvSpPr>
        <p:spPr>
          <a:xfrm>
            <a:off x="621550" y="4168500"/>
            <a:ext cx="3399900" cy="794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Fira Sans"/>
              <a:ea typeface="Fira Sans"/>
              <a:cs typeface="Fira Sans"/>
              <a:sym typeface="Fira Sans"/>
            </a:endParaRPr>
          </a:p>
        </p:txBody>
      </p:sp>
      <p:pic>
        <p:nvPicPr>
          <p:cNvPr id="2556" name="Google Shape;2556;p192"/>
          <p:cNvPicPr preferRelativeResize="0"/>
          <p:nvPr/>
        </p:nvPicPr>
        <p:blipFill rotWithShape="1">
          <a:blip r:embed="rId4">
            <a:alphaModFix/>
          </a:blip>
          <a:srcRect b="0" l="0" r="0" t="0"/>
          <a:stretch/>
        </p:blipFill>
        <p:spPr>
          <a:xfrm>
            <a:off x="669997" y="4280597"/>
            <a:ext cx="3245850" cy="6346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0" name="Shape 2560"/>
        <p:cNvGrpSpPr/>
        <p:nvPr/>
      </p:nvGrpSpPr>
      <p:grpSpPr>
        <a:xfrm>
          <a:off x="0" y="0"/>
          <a:ext cx="0" cy="0"/>
          <a:chOff x="0" y="0"/>
          <a:chExt cx="0" cy="0"/>
        </a:xfrm>
      </p:grpSpPr>
      <p:sp>
        <p:nvSpPr>
          <p:cNvPr id="2561" name="Google Shape;2561;p193"/>
          <p:cNvSpPr txBox="1"/>
          <p:nvPr>
            <p:ph type="title"/>
          </p:nvPr>
        </p:nvSpPr>
        <p:spPr>
          <a:xfrm>
            <a:off x="493325" y="253625"/>
            <a:ext cx="7852200" cy="861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6000"/>
              <a:buNone/>
            </a:pPr>
            <a:r>
              <a:rPr b="1" lang="en" sz="3200">
                <a:solidFill>
                  <a:srgbClr val="3896D2"/>
                </a:solidFill>
                <a:latin typeface="Fira Sans"/>
                <a:ea typeface="Fira Sans"/>
                <a:cs typeface="Fira Sans"/>
                <a:sym typeface="Fira Sans"/>
              </a:rPr>
              <a:t>Independent assumption and Financial crisis!</a:t>
            </a:r>
            <a:endParaRPr b="1" sz="3200">
              <a:solidFill>
                <a:srgbClr val="3896D2"/>
              </a:solidFill>
              <a:latin typeface="Fira Sans"/>
              <a:ea typeface="Fira Sans"/>
              <a:cs typeface="Fira Sans"/>
              <a:sym typeface="Fira Sans"/>
            </a:endParaRPr>
          </a:p>
        </p:txBody>
      </p:sp>
      <p:sp>
        <p:nvSpPr>
          <p:cNvPr id="2562" name="Google Shape;2562;p193"/>
          <p:cNvSpPr txBox="1"/>
          <p:nvPr/>
        </p:nvSpPr>
        <p:spPr>
          <a:xfrm>
            <a:off x="457200" y="1174850"/>
            <a:ext cx="8479200" cy="412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Post big financial crisis in the United States in 1987 companies started to compute a measure of the risk to their company, which is called Value at Risk (VaR).</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Using VaR, companies try to measure the risk of their activities to guide their key investment decisions, inform customer and regulators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For example there’s a 5% probability that we will lose $10 million in a year.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This was done using a Probabilistic model which were implicitly making assumptions about independence of other companies.</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But when one bank/financial institution started failing - due to investment of other bank in that institution, there was a cascading effect.</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rPr b="0" i="0" lang="en" sz="1600" u="none" cap="none" strike="noStrike">
                <a:solidFill>
                  <a:schemeClr val="lt1"/>
                </a:solidFill>
                <a:latin typeface="Fira Sans"/>
                <a:ea typeface="Fira Sans"/>
                <a:cs typeface="Fira Sans"/>
                <a:sym typeface="Fira Sans"/>
              </a:rPr>
              <a:t>Same thing happened between SBV and Credit Suisse in 2023.</a:t>
            </a:r>
            <a:endParaRPr b="0" i="0" sz="1600" u="none" cap="none" strike="noStrike">
              <a:solidFill>
                <a:schemeClr val="lt1"/>
              </a:solidFill>
              <a:latin typeface="Fira Sans"/>
              <a:ea typeface="Fira Sans"/>
              <a:cs typeface="Fira Sans"/>
              <a:sym typeface="Fira Sans"/>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dk1"/>
              </a:solidFill>
              <a:latin typeface="Fira Sans"/>
              <a:ea typeface="Fira Sans"/>
              <a:cs typeface="Fira Sans"/>
              <a:sym typeface="Fira Sans"/>
            </a:endParaRPr>
          </a:p>
        </p:txBody>
      </p:sp>
      <p:sp>
        <p:nvSpPr>
          <p:cNvPr id="2563" name="Google Shape;2563;p19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7" name="Shape 2567"/>
        <p:cNvGrpSpPr/>
        <p:nvPr/>
      </p:nvGrpSpPr>
      <p:grpSpPr>
        <a:xfrm>
          <a:off x="0" y="0"/>
          <a:ext cx="0" cy="0"/>
          <a:chOff x="0" y="0"/>
          <a:chExt cx="0" cy="0"/>
        </a:xfrm>
      </p:grpSpPr>
      <p:sp>
        <p:nvSpPr>
          <p:cNvPr id="2568" name="Google Shape;2568;p1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Partition</a:t>
            </a:r>
            <a:endParaRPr/>
          </a:p>
        </p:txBody>
      </p:sp>
      <p:sp>
        <p:nvSpPr>
          <p:cNvPr id="2569" name="Google Shape;2569;p1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If we have a collection of mutually exclusive events that cover all possible outcomes, we call that a </a:t>
            </a:r>
            <a:r>
              <a:rPr i="1" lang="en" sz="1600">
                <a:solidFill>
                  <a:schemeClr val="lt1"/>
                </a:solidFill>
              </a:rPr>
              <a:t>partition</a:t>
            </a:r>
            <a:r>
              <a:rPr lang="en" sz="1600">
                <a:solidFill>
                  <a:schemeClr val="lt1"/>
                </a:solidFill>
              </a:rPr>
              <a:t> of the sample space. </a:t>
            </a:r>
            <a:endParaRPr sz="1600">
              <a:solidFill>
                <a:schemeClr val="lt1"/>
              </a:solidFill>
            </a:endParaRPr>
          </a:p>
          <a:p>
            <a:pPr indent="0" lvl="0" marL="0" rtl="0" algn="l">
              <a:lnSpc>
                <a:spcPct val="150000"/>
              </a:lnSpc>
              <a:spcBef>
                <a:spcPts val="1200"/>
              </a:spcBef>
              <a:spcAft>
                <a:spcPts val="0"/>
              </a:spcAft>
              <a:buSzPts val="1800"/>
              <a:buNone/>
            </a:pPr>
            <a:r>
              <a:rPr lang="en" sz="1600">
                <a:solidFill>
                  <a:schemeClr val="lt1"/>
                </a:solidFill>
              </a:rPr>
              <a:t>For example, any event E and the complementary event (not E) form a partition. </a:t>
            </a:r>
            <a:endParaRPr sz="1600">
              <a:solidFill>
                <a:schemeClr val="lt1"/>
              </a:solidFill>
            </a:endParaRPr>
          </a:p>
          <a:p>
            <a:pPr indent="0" lvl="0" marL="0" rtl="0" algn="l">
              <a:lnSpc>
                <a:spcPct val="150000"/>
              </a:lnSpc>
              <a:spcBef>
                <a:spcPts val="1200"/>
              </a:spcBef>
              <a:spcAft>
                <a:spcPts val="0"/>
              </a:spcAft>
              <a:buSzPts val="1800"/>
              <a:buNone/>
            </a:pPr>
            <a:r>
              <a:rPr b="1" lang="en" sz="1600">
                <a:solidFill>
                  <a:srgbClr val="00FFFF"/>
                </a:solidFill>
              </a:rPr>
              <a:t>MECE</a:t>
            </a:r>
            <a:r>
              <a:rPr lang="en" sz="1600">
                <a:solidFill>
                  <a:srgbClr val="00FFFF"/>
                </a:solidFill>
              </a:rPr>
              <a:t>: </a:t>
            </a:r>
            <a:endParaRPr sz="1600">
              <a:solidFill>
                <a:srgbClr val="00FFFF"/>
              </a:solidFill>
            </a:endParaRPr>
          </a:p>
          <a:p>
            <a:pPr indent="0" lvl="0" marL="0" rtl="0" algn="l">
              <a:lnSpc>
                <a:spcPct val="150000"/>
              </a:lnSpc>
              <a:spcBef>
                <a:spcPts val="1200"/>
              </a:spcBef>
              <a:spcAft>
                <a:spcPts val="0"/>
              </a:spcAft>
              <a:buSzPts val="1800"/>
              <a:buNone/>
            </a:pPr>
            <a:r>
              <a:rPr b="1" lang="en" sz="1600">
                <a:solidFill>
                  <a:srgbClr val="00FFFF"/>
                </a:solidFill>
              </a:rPr>
              <a:t>M</a:t>
            </a:r>
            <a:r>
              <a:rPr lang="en" sz="1600">
                <a:solidFill>
                  <a:schemeClr val="lt1"/>
                </a:solidFill>
              </a:rPr>
              <a:t>utually </a:t>
            </a:r>
            <a:r>
              <a:rPr b="1" lang="en" sz="1600">
                <a:solidFill>
                  <a:srgbClr val="00FFFF"/>
                </a:solidFill>
              </a:rPr>
              <a:t>E</a:t>
            </a:r>
            <a:r>
              <a:rPr lang="en" sz="1600">
                <a:solidFill>
                  <a:schemeClr val="lt1"/>
                </a:solidFill>
              </a:rPr>
              <a:t>xclusive, </a:t>
            </a:r>
            <a:r>
              <a:rPr b="1" lang="en" sz="1600">
                <a:solidFill>
                  <a:srgbClr val="00FFFF"/>
                </a:solidFill>
              </a:rPr>
              <a:t>C</a:t>
            </a:r>
            <a:r>
              <a:rPr lang="en" sz="1600">
                <a:solidFill>
                  <a:schemeClr val="lt1"/>
                </a:solidFill>
              </a:rPr>
              <a:t>ollectively </a:t>
            </a:r>
            <a:r>
              <a:rPr b="1" lang="en" sz="1600">
                <a:solidFill>
                  <a:srgbClr val="00FFFF"/>
                </a:solidFill>
              </a:rPr>
              <a:t>E</a:t>
            </a:r>
            <a:r>
              <a:rPr lang="en" sz="1600">
                <a:solidFill>
                  <a:schemeClr val="lt1"/>
                </a:solidFill>
              </a:rPr>
              <a:t>xhaustive</a:t>
            </a:r>
            <a:endParaRPr sz="1600">
              <a:solidFill>
                <a:schemeClr val="lt1"/>
              </a:solidFill>
            </a:endParaRPr>
          </a:p>
          <a:p>
            <a:pPr indent="0" lvl="0" marL="0" rtl="0" algn="l">
              <a:lnSpc>
                <a:spcPct val="150000"/>
              </a:lnSpc>
              <a:spcBef>
                <a:spcPts val="1200"/>
              </a:spcBef>
              <a:spcAft>
                <a:spcPts val="1200"/>
              </a:spcAft>
              <a:buSzPts val="1800"/>
              <a:buNone/>
            </a:pPr>
            <a:r>
              <a:t/>
            </a:r>
            <a:endParaRPr sz="1600"/>
          </a:p>
        </p:txBody>
      </p:sp>
      <p:sp>
        <p:nvSpPr>
          <p:cNvPr id="2570" name="Google Shape;2570;p19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571" name="Google Shape;2571;p194"/>
          <p:cNvPicPr preferRelativeResize="0"/>
          <p:nvPr/>
        </p:nvPicPr>
        <p:blipFill rotWithShape="1">
          <a:blip r:embed="rId3">
            <a:alphaModFix/>
          </a:blip>
          <a:srcRect b="0" l="0" r="0" t="0"/>
          <a:stretch/>
        </p:blipFill>
        <p:spPr>
          <a:xfrm>
            <a:off x="5488950" y="2677300"/>
            <a:ext cx="2895600" cy="14859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1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Total Probability</a:t>
            </a:r>
            <a:endParaRPr/>
          </a:p>
        </p:txBody>
      </p:sp>
      <p:sp>
        <p:nvSpPr>
          <p:cNvPr id="2577" name="Google Shape;2577;p19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solidFill>
                  <a:schemeClr val="lt1"/>
                </a:solidFill>
              </a:rPr>
              <a:t>Let A and B be events. Then the events (A and B) and (A and not B) are mutually exclusive. Why?</a:t>
            </a:r>
            <a:endParaRPr sz="1600">
              <a:solidFill>
                <a:schemeClr val="lt1"/>
              </a:solidFill>
            </a:endParaRPr>
          </a:p>
          <a:p>
            <a:pPr indent="-330200" lvl="0" marL="457200" rtl="0" algn="l">
              <a:lnSpc>
                <a:spcPct val="150000"/>
              </a:lnSpc>
              <a:spcBef>
                <a:spcPts val="1000"/>
              </a:spcBef>
              <a:spcAft>
                <a:spcPts val="0"/>
              </a:spcAft>
              <a:buSzPts val="1600"/>
              <a:buChar char="●"/>
            </a:pPr>
            <a:r>
              <a:rPr lang="en" sz="1600">
                <a:solidFill>
                  <a:schemeClr val="lt1"/>
                </a:solidFill>
              </a:rPr>
              <a:t>Therefore, P((A and B) or (A and not B)) = P(A and B) + P(A and not B)</a:t>
            </a:r>
            <a:endParaRPr sz="1600">
              <a:solidFill>
                <a:schemeClr val="lt1"/>
              </a:solidFill>
            </a:endParaRPr>
          </a:p>
          <a:p>
            <a:pPr indent="-330200" lvl="0" marL="457200" rtl="0" algn="l">
              <a:lnSpc>
                <a:spcPct val="150000"/>
              </a:lnSpc>
              <a:spcBef>
                <a:spcPts val="1000"/>
              </a:spcBef>
              <a:spcAft>
                <a:spcPts val="0"/>
              </a:spcAft>
              <a:buSzPts val="1600"/>
              <a:buChar char="●"/>
            </a:pPr>
            <a:r>
              <a:rPr lang="en" sz="1600">
                <a:solidFill>
                  <a:schemeClr val="lt1"/>
                </a:solidFill>
              </a:rPr>
              <a:t>Why is the event ((A and B) or (A and not B)) = A?</a:t>
            </a:r>
            <a:endParaRPr sz="1600">
              <a:solidFill>
                <a:schemeClr val="lt1"/>
              </a:solidFill>
            </a:endParaRPr>
          </a:p>
          <a:p>
            <a:pPr indent="-330200" lvl="0" marL="457200" rtl="0" algn="l">
              <a:lnSpc>
                <a:spcPct val="150000"/>
              </a:lnSpc>
              <a:spcBef>
                <a:spcPts val="1000"/>
              </a:spcBef>
              <a:spcAft>
                <a:spcPts val="0"/>
              </a:spcAft>
              <a:buSzPts val="1600"/>
              <a:buChar char="●"/>
            </a:pPr>
            <a:r>
              <a:rPr lang="en" sz="1600">
                <a:solidFill>
                  <a:schemeClr val="lt1"/>
                </a:solidFill>
              </a:rPr>
              <a:t>Using conditional probability, we have</a:t>
            </a:r>
            <a:endParaRPr sz="1600">
              <a:solidFill>
                <a:schemeClr val="lt1"/>
              </a:solidFill>
            </a:endParaRPr>
          </a:p>
          <a:p>
            <a:pPr indent="0" lvl="0" marL="914400" rtl="0" algn="l">
              <a:lnSpc>
                <a:spcPct val="150000"/>
              </a:lnSpc>
              <a:spcBef>
                <a:spcPts val="1000"/>
              </a:spcBef>
              <a:spcAft>
                <a:spcPts val="1000"/>
              </a:spcAft>
              <a:buSzPts val="1800"/>
              <a:buNone/>
            </a:pPr>
            <a:r>
              <a:rPr lang="en" sz="1600">
                <a:solidFill>
                  <a:schemeClr val="lt1"/>
                </a:solidFill>
              </a:rPr>
              <a:t>P(A) = P(A|B)*P(B) + P(A|not B)*P(notB)</a:t>
            </a:r>
            <a:endParaRPr sz="1600">
              <a:solidFill>
                <a:schemeClr val="lt1"/>
              </a:solidFill>
            </a:endParaRPr>
          </a:p>
        </p:txBody>
      </p:sp>
      <p:sp>
        <p:nvSpPr>
          <p:cNvPr id="2578" name="Google Shape;2578;p19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2" name="Shape 2582"/>
        <p:cNvGrpSpPr/>
        <p:nvPr/>
      </p:nvGrpSpPr>
      <p:grpSpPr>
        <a:xfrm>
          <a:off x="0" y="0"/>
          <a:ext cx="0" cy="0"/>
          <a:chOff x="0" y="0"/>
          <a:chExt cx="0" cy="0"/>
        </a:xfrm>
      </p:grpSpPr>
      <p:sp>
        <p:nvSpPr>
          <p:cNvPr id="2583" name="Google Shape;2583;p19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 Solution</a:t>
            </a:r>
            <a:endParaRPr b="0" i="0" sz="2800" u="none" cap="none" strike="noStrike">
              <a:solidFill>
                <a:srgbClr val="3896D2"/>
              </a:solidFill>
              <a:latin typeface="Fira Sans"/>
              <a:ea typeface="Fira Sans"/>
              <a:cs typeface="Fira Sans"/>
              <a:sym typeface="Fira Sans"/>
            </a:endParaRPr>
          </a:p>
        </p:txBody>
      </p:sp>
      <p:sp>
        <p:nvSpPr>
          <p:cNvPr id="2584" name="Google Shape;2584;p196"/>
          <p:cNvSpPr txBox="1"/>
          <p:nvPr/>
        </p:nvSpPr>
        <p:spPr>
          <a:xfrm>
            <a:off x="432350" y="890600"/>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In a survey conducted among students, 60% of them like pizza, 40% like burgers, and 25% like both pizza and burgers. If a student is chosen at random from the survey participants, what is the probability that the student likes pizza given that the student likes burgers?</a:t>
            </a:r>
            <a:endParaRPr b="1" i="0" sz="1800" u="none" cap="none" strike="noStrike">
              <a:solidFill>
                <a:srgbClr val="FFAB40"/>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FFAB40"/>
              </a:solidFill>
              <a:latin typeface="Fira Sans"/>
              <a:ea typeface="Fira Sans"/>
              <a:cs typeface="Fira Sans"/>
              <a:sym typeface="Fira Sans"/>
            </a:endParaRPr>
          </a:p>
        </p:txBody>
      </p:sp>
      <p:sp>
        <p:nvSpPr>
          <p:cNvPr id="2585" name="Google Shape;2585;p196"/>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2586" name="Google Shape;2586;p196"/>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2587" name="Google Shape;2587;p196"/>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2588" name="Google Shape;2588;p196"/>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2589" name="Google Shape;2589;p196"/>
          <p:cNvSpPr txBox="1"/>
          <p:nvPr/>
        </p:nvSpPr>
        <p:spPr>
          <a:xfrm>
            <a:off x="1080350" y="2205525"/>
            <a:ext cx="4896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0.15</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2590" name="Google Shape;2590;p196"/>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0.25</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2591" name="Google Shape;2591;p196"/>
          <p:cNvSpPr txBox="1"/>
          <p:nvPr/>
        </p:nvSpPr>
        <p:spPr>
          <a:xfrm>
            <a:off x="1080350" y="3388225"/>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0.375</a:t>
            </a:r>
            <a:endParaRPr b="0" i="0" sz="1800" u="none" cap="none" strike="noStrike">
              <a:solidFill>
                <a:srgbClr val="FFFFFF"/>
              </a:solidFill>
              <a:latin typeface="Fira Sans"/>
              <a:ea typeface="Fira Sans"/>
              <a:cs typeface="Fira Sans"/>
              <a:sym typeface="Fira Sans"/>
            </a:endParaRPr>
          </a:p>
        </p:txBody>
      </p:sp>
      <p:sp>
        <p:nvSpPr>
          <p:cNvPr id="2592" name="Google Shape;2592;p196"/>
          <p:cNvSpPr txBox="1"/>
          <p:nvPr/>
        </p:nvSpPr>
        <p:spPr>
          <a:xfrm>
            <a:off x="1080350" y="3917250"/>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0.625</a:t>
            </a:r>
            <a:endParaRPr b="0" i="0" sz="1800" u="none" cap="none" strike="noStrike">
              <a:solidFill>
                <a:srgbClr val="FFFFFF"/>
              </a:solidFill>
              <a:latin typeface="Fira Sans"/>
              <a:ea typeface="Fira Sans"/>
              <a:cs typeface="Fira Sans"/>
              <a:sym typeface="Fira Sans"/>
            </a:endParaRPr>
          </a:p>
        </p:txBody>
      </p:sp>
      <p:sp>
        <p:nvSpPr>
          <p:cNvPr id="2593" name="Google Shape;2593;p196"/>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sp>
        <p:nvSpPr>
          <p:cNvPr id="2594" name="Google Shape;2594;p196"/>
          <p:cNvSpPr txBox="1"/>
          <p:nvPr/>
        </p:nvSpPr>
        <p:spPr>
          <a:xfrm>
            <a:off x="4718304" y="2414016"/>
            <a:ext cx="4006200" cy="13854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Calculate the probability of liking pizza (0.6)</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Probability of Liking Burgers (0.4)</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Probability of Liking Burgers and Pizza (0.25)</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Substitute into the Bayesian Formula 0.25/0.4 = 0.625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8" name="Shape 2598"/>
        <p:cNvGrpSpPr/>
        <p:nvPr/>
      </p:nvGrpSpPr>
      <p:grpSpPr>
        <a:xfrm>
          <a:off x="0" y="0"/>
          <a:ext cx="0" cy="0"/>
          <a:chOff x="0" y="0"/>
          <a:chExt cx="0" cy="0"/>
        </a:xfrm>
      </p:grpSpPr>
      <p:sp>
        <p:nvSpPr>
          <p:cNvPr id="2599" name="Google Shape;2599;p19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3896D2"/>
                </a:solidFill>
                <a:latin typeface="Fira Sans"/>
                <a:ea typeface="Fira Sans"/>
                <a:cs typeface="Fira Sans"/>
                <a:sym typeface="Fira Sans"/>
              </a:rPr>
              <a:t>Recap Quiz - Solution</a:t>
            </a:r>
            <a:endParaRPr b="0" i="0" sz="2800" u="none" cap="none" strike="noStrike">
              <a:solidFill>
                <a:srgbClr val="3896D2"/>
              </a:solidFill>
              <a:latin typeface="Fira Sans"/>
              <a:ea typeface="Fira Sans"/>
              <a:cs typeface="Fira Sans"/>
              <a:sym typeface="Fira Sans"/>
            </a:endParaRPr>
          </a:p>
        </p:txBody>
      </p:sp>
      <p:sp>
        <p:nvSpPr>
          <p:cNvPr id="2600" name="Google Shape;2600;p197"/>
          <p:cNvSpPr txBox="1"/>
          <p:nvPr/>
        </p:nvSpPr>
        <p:spPr>
          <a:xfrm>
            <a:off x="432350" y="890600"/>
            <a:ext cx="8520600" cy="91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n" sz="1800" u="none" cap="none" strike="noStrike">
                <a:solidFill>
                  <a:srgbClr val="FFAB40"/>
                </a:solidFill>
                <a:latin typeface="Fira Sans"/>
                <a:ea typeface="Fira Sans"/>
                <a:cs typeface="Fira Sans"/>
                <a:sym typeface="Fira Sans"/>
              </a:rPr>
              <a:t>In a survey conducted among students, 60% of them like pizza, 40% like burgers, and 25% like both pizza and burgers. If a student is chosen at random from the survey participants, what is the probability that the student likes pizza given that the student likes burgers?</a:t>
            </a:r>
            <a:endParaRPr b="1" i="0" sz="1800" u="none" cap="none" strike="noStrike">
              <a:solidFill>
                <a:srgbClr val="FFAB40"/>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rgbClr val="FFAB40"/>
              </a:solidFill>
              <a:latin typeface="Fira Sans"/>
              <a:ea typeface="Fira Sans"/>
              <a:cs typeface="Fira Sans"/>
              <a:sym typeface="Fira Sans"/>
            </a:endParaRPr>
          </a:p>
        </p:txBody>
      </p:sp>
      <p:sp>
        <p:nvSpPr>
          <p:cNvPr id="2601" name="Google Shape;2601;p197"/>
          <p:cNvSpPr txBox="1"/>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FFFFFF"/>
                </a:solidFill>
                <a:latin typeface="Calibri"/>
                <a:ea typeface="Calibri"/>
                <a:cs typeface="Calibri"/>
                <a:sym typeface="Calibri"/>
              </a:rPr>
              <a:t>‹#›</a:t>
            </a:fld>
            <a:endParaRPr b="0" i="0" sz="1400" u="none" cap="none" strike="noStrike">
              <a:solidFill>
                <a:srgbClr val="FFFFFF"/>
              </a:solidFill>
              <a:latin typeface="Calibri"/>
              <a:ea typeface="Calibri"/>
              <a:cs typeface="Calibri"/>
              <a:sym typeface="Calibri"/>
            </a:endParaRPr>
          </a:p>
        </p:txBody>
      </p:sp>
      <p:sp>
        <p:nvSpPr>
          <p:cNvPr id="2602" name="Google Shape;2602;p197"/>
          <p:cNvSpPr/>
          <p:nvPr/>
        </p:nvSpPr>
        <p:spPr>
          <a:xfrm>
            <a:off x="642375" y="22393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A</a:t>
            </a:r>
            <a:endParaRPr b="1" i="0" sz="2000" u="none" cap="none" strike="noStrike">
              <a:solidFill>
                <a:srgbClr val="000000"/>
              </a:solidFill>
              <a:latin typeface="Fira Sans"/>
              <a:ea typeface="Fira Sans"/>
              <a:cs typeface="Fira Sans"/>
              <a:sym typeface="Fira Sans"/>
            </a:endParaRPr>
          </a:p>
        </p:txBody>
      </p:sp>
      <p:sp>
        <p:nvSpPr>
          <p:cNvPr id="2603" name="Google Shape;2603;p197"/>
          <p:cNvSpPr/>
          <p:nvPr/>
        </p:nvSpPr>
        <p:spPr>
          <a:xfrm>
            <a:off x="642375" y="282090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B</a:t>
            </a:r>
            <a:endParaRPr b="1" i="0" sz="2000" u="none" cap="none" strike="noStrike">
              <a:solidFill>
                <a:srgbClr val="000000"/>
              </a:solidFill>
              <a:latin typeface="Fira Sans"/>
              <a:ea typeface="Fira Sans"/>
              <a:cs typeface="Fira Sans"/>
              <a:sym typeface="Fira Sans"/>
            </a:endParaRPr>
          </a:p>
        </p:txBody>
      </p:sp>
      <p:sp>
        <p:nvSpPr>
          <p:cNvPr id="2604" name="Google Shape;2604;p197"/>
          <p:cNvSpPr/>
          <p:nvPr/>
        </p:nvSpPr>
        <p:spPr>
          <a:xfrm>
            <a:off x="642375" y="3948750"/>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D</a:t>
            </a:r>
            <a:endParaRPr b="1" i="0" sz="2000" u="none" cap="none" strike="noStrike">
              <a:solidFill>
                <a:srgbClr val="000000"/>
              </a:solidFill>
              <a:latin typeface="Fira Sans"/>
              <a:ea typeface="Fira Sans"/>
              <a:cs typeface="Fira Sans"/>
              <a:sym typeface="Fira Sans"/>
            </a:endParaRPr>
          </a:p>
        </p:txBody>
      </p:sp>
      <p:sp>
        <p:nvSpPr>
          <p:cNvPr id="2605" name="Google Shape;2605;p197"/>
          <p:cNvSpPr txBox="1"/>
          <p:nvPr/>
        </p:nvSpPr>
        <p:spPr>
          <a:xfrm>
            <a:off x="1080350" y="2205525"/>
            <a:ext cx="4896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0.15</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2606" name="Google Shape;2606;p197"/>
          <p:cNvSpPr txBox="1"/>
          <p:nvPr/>
        </p:nvSpPr>
        <p:spPr>
          <a:xfrm>
            <a:off x="1080350" y="2796875"/>
            <a:ext cx="76443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0.25</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2607" name="Google Shape;2607;p197"/>
          <p:cNvSpPr txBox="1"/>
          <p:nvPr/>
        </p:nvSpPr>
        <p:spPr>
          <a:xfrm>
            <a:off x="1080350" y="3388225"/>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0.375</a:t>
            </a:r>
            <a:endParaRPr b="0" i="0" sz="1800" u="none" cap="none" strike="noStrike">
              <a:solidFill>
                <a:srgbClr val="FFFFFF"/>
              </a:solidFill>
              <a:latin typeface="Fira Sans"/>
              <a:ea typeface="Fira Sans"/>
              <a:cs typeface="Fira Sans"/>
              <a:sym typeface="Fira Sans"/>
            </a:endParaRPr>
          </a:p>
        </p:txBody>
      </p:sp>
      <p:sp>
        <p:nvSpPr>
          <p:cNvPr id="2608" name="Google Shape;2608;p197"/>
          <p:cNvSpPr txBox="1"/>
          <p:nvPr/>
        </p:nvSpPr>
        <p:spPr>
          <a:xfrm>
            <a:off x="1080350" y="3917250"/>
            <a:ext cx="7872600" cy="4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Fira Sans"/>
                <a:ea typeface="Fira Sans"/>
                <a:cs typeface="Fira Sans"/>
                <a:sym typeface="Fira Sans"/>
              </a:rPr>
              <a:t>0.625</a:t>
            </a:r>
            <a:endParaRPr b="0" i="0" sz="1800" u="none" cap="none" strike="noStrike">
              <a:solidFill>
                <a:srgbClr val="FFFFFF"/>
              </a:solidFill>
              <a:latin typeface="Fira Sans"/>
              <a:ea typeface="Fira Sans"/>
              <a:cs typeface="Fira Sans"/>
              <a:sym typeface="Fira Sans"/>
            </a:endParaRPr>
          </a:p>
        </p:txBody>
      </p:sp>
      <p:sp>
        <p:nvSpPr>
          <p:cNvPr id="2609" name="Google Shape;2609;p197"/>
          <p:cNvSpPr/>
          <p:nvPr/>
        </p:nvSpPr>
        <p:spPr>
          <a:xfrm>
            <a:off x="642375" y="3384825"/>
            <a:ext cx="370500" cy="393600"/>
          </a:xfrm>
          <a:prstGeom prst="roundRect">
            <a:avLst>
              <a:gd fmla="val 16667" name="adj"/>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Fira Sans"/>
                <a:ea typeface="Fira Sans"/>
                <a:cs typeface="Fira Sans"/>
                <a:sym typeface="Fira Sans"/>
              </a:rPr>
              <a:t>C</a:t>
            </a:r>
            <a:endParaRPr b="1" i="0" sz="2000" u="none" cap="none" strike="noStrike">
              <a:solidFill>
                <a:srgbClr val="000000"/>
              </a:solidFill>
              <a:latin typeface="Fira Sans"/>
              <a:ea typeface="Fira Sans"/>
              <a:cs typeface="Fira Sans"/>
              <a:sym typeface="Fira Sans"/>
            </a:endParaRPr>
          </a:p>
        </p:txBody>
      </p:sp>
      <p:pic>
        <p:nvPicPr>
          <p:cNvPr descr="Badge Tick1 outline" id="2610" name="Google Shape;2610;p197"/>
          <p:cNvPicPr preferRelativeResize="0"/>
          <p:nvPr/>
        </p:nvPicPr>
        <p:blipFill rotWithShape="1">
          <a:blip r:embed="rId3">
            <a:alphaModFix/>
          </a:blip>
          <a:srcRect b="0" l="0" r="0" t="0"/>
          <a:stretch/>
        </p:blipFill>
        <p:spPr>
          <a:xfrm>
            <a:off x="391973" y="3715189"/>
            <a:ext cx="914400" cy="914400"/>
          </a:xfrm>
          <a:prstGeom prst="rect">
            <a:avLst/>
          </a:prstGeom>
          <a:noFill/>
          <a:ln>
            <a:noFill/>
          </a:ln>
        </p:spPr>
      </p:pic>
      <p:sp>
        <p:nvSpPr>
          <p:cNvPr id="2611" name="Google Shape;2611;p197"/>
          <p:cNvSpPr txBox="1"/>
          <p:nvPr/>
        </p:nvSpPr>
        <p:spPr>
          <a:xfrm>
            <a:off x="4718304" y="2414016"/>
            <a:ext cx="4006346" cy="13849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Calculate the probability of liking pizza (0.6)</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Probability of Liking Burgers (0.4)</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Probability of Liking Burgers and Pizza (0.25)</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Substitute into the Bayesian Formula 0.25/0.4 = 0.625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5" name="Shape 2615"/>
        <p:cNvGrpSpPr/>
        <p:nvPr/>
      </p:nvGrpSpPr>
      <p:grpSpPr>
        <a:xfrm>
          <a:off x="0" y="0"/>
          <a:ext cx="0" cy="0"/>
          <a:chOff x="0" y="0"/>
          <a:chExt cx="0" cy="0"/>
        </a:xfrm>
      </p:grpSpPr>
      <p:sp>
        <p:nvSpPr>
          <p:cNvPr id="2616" name="Google Shape;2616;p198"/>
          <p:cNvSpPr txBox="1"/>
          <p:nvPr>
            <p:ph idx="12" type="sldNum"/>
          </p:nvPr>
        </p:nvSpPr>
        <p:spPr>
          <a:xfrm>
            <a:off x="62459" y="47079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 sz="1300">
                <a:latin typeface="Fira Sans"/>
                <a:ea typeface="Fira Sans"/>
                <a:cs typeface="Fira Sans"/>
                <a:sym typeface="Fira Sans"/>
              </a:rPr>
              <a:t>‹#›</a:t>
            </a:fld>
            <a:endParaRPr sz="1300">
              <a:latin typeface="Fira Sans"/>
              <a:ea typeface="Fira Sans"/>
              <a:cs typeface="Fira Sans"/>
              <a:sym typeface="Fira Sans"/>
            </a:endParaRPr>
          </a:p>
        </p:txBody>
      </p:sp>
      <p:pic>
        <p:nvPicPr>
          <p:cNvPr id="2617" name="Google Shape;2617;p198"/>
          <p:cNvPicPr preferRelativeResize="0"/>
          <p:nvPr/>
        </p:nvPicPr>
        <p:blipFill rotWithShape="1">
          <a:blip r:embed="rId3">
            <a:alphaModFix/>
          </a:blip>
          <a:srcRect b="0" l="0" r="0" t="0"/>
          <a:stretch/>
        </p:blipFill>
        <p:spPr>
          <a:xfrm>
            <a:off x="1518450" y="476250"/>
            <a:ext cx="5962800" cy="4191000"/>
          </a:xfrm>
          <a:prstGeom prst="cloud">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sp>
        <p:nvSpPr>
          <p:cNvPr id="2622" name="Google Shape;2622;p199"/>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b="1" lang="en" sz="5000">
                <a:solidFill>
                  <a:srgbClr val="3896D2"/>
                </a:solidFill>
                <a:latin typeface="Fira Sans"/>
                <a:ea typeface="Fira Sans"/>
                <a:cs typeface="Fira Sans"/>
                <a:sym typeface="Fira Sans"/>
              </a:rPr>
              <a:t>Bayes' Theorem</a:t>
            </a:r>
            <a:endParaRPr b="1" sz="5000">
              <a:solidFill>
                <a:srgbClr val="3896D2"/>
              </a:solidFill>
              <a:latin typeface="Fira Sans"/>
              <a:ea typeface="Fira Sans"/>
              <a:cs typeface="Fira Sans"/>
              <a:sym typeface="Fira Sans"/>
            </a:endParaRPr>
          </a:p>
        </p:txBody>
      </p:sp>
      <p:sp>
        <p:nvSpPr>
          <p:cNvPr id="2623" name="Google Shape;2623;p19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7" name="Shape 2627"/>
        <p:cNvGrpSpPr/>
        <p:nvPr/>
      </p:nvGrpSpPr>
      <p:grpSpPr>
        <a:xfrm>
          <a:off x="0" y="0"/>
          <a:ext cx="0" cy="0"/>
          <a:chOff x="0" y="0"/>
          <a:chExt cx="0" cy="0"/>
        </a:xfrm>
      </p:grpSpPr>
      <p:sp>
        <p:nvSpPr>
          <p:cNvPr id="2628" name="Google Shape;2628;p2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rPr>
              <a:t>Lineup</a:t>
            </a:r>
            <a:endParaRPr>
              <a:solidFill>
                <a:srgbClr val="3896D2"/>
              </a:solidFill>
              <a:latin typeface="Fira Sans"/>
              <a:ea typeface="Fira Sans"/>
              <a:cs typeface="Fira Sans"/>
              <a:sym typeface="Fira Sans"/>
            </a:endParaRPr>
          </a:p>
        </p:txBody>
      </p:sp>
      <p:sp>
        <p:nvSpPr>
          <p:cNvPr id="2629" name="Google Shape;2629;p20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From conditional Probability to Bayes'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Likelihood and Prior</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Business Case examples</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Difference between Frequentist and Bayesian Probability</a:t>
            </a:r>
            <a:endParaRPr sz="1600">
              <a:solidFill>
                <a:schemeClr val="lt1"/>
              </a:solidFill>
              <a:latin typeface="Fira Sans"/>
              <a:ea typeface="Fira Sans"/>
              <a:cs typeface="Fira Sans"/>
              <a:sym typeface="Fira Sans"/>
            </a:endParaRPr>
          </a:p>
          <a:p>
            <a:pPr indent="-330200" lvl="0" marL="457200" rtl="0" algn="l">
              <a:lnSpc>
                <a:spcPct val="150000"/>
              </a:lnSpc>
              <a:spcBef>
                <a:spcPts val="0"/>
              </a:spcBef>
              <a:spcAft>
                <a:spcPts val="0"/>
              </a:spcAft>
              <a:buClr>
                <a:schemeClr val="lt1"/>
              </a:buClr>
              <a:buSzPts val="1600"/>
              <a:buFont typeface="Fira Sans"/>
              <a:buChar char="●"/>
            </a:pPr>
            <a:r>
              <a:rPr lang="en" sz="1600">
                <a:solidFill>
                  <a:schemeClr val="lt1"/>
                </a:solidFill>
                <a:latin typeface="Fira Sans"/>
                <a:ea typeface="Fira Sans"/>
                <a:cs typeface="Fira Sans"/>
                <a:sym typeface="Fira Sans"/>
              </a:rPr>
              <a:t>Naive Bayes</a:t>
            </a:r>
            <a:endParaRPr sz="1600">
              <a:solidFill>
                <a:schemeClr val="lt1"/>
              </a:solidFill>
              <a:latin typeface="Fira Sans"/>
              <a:ea typeface="Fira Sans"/>
              <a:cs typeface="Fira Sans"/>
              <a:sym typeface="Fira Sans"/>
            </a:endParaRPr>
          </a:p>
        </p:txBody>
      </p:sp>
      <p:sp>
        <p:nvSpPr>
          <p:cNvPr id="2630" name="Google Shape;2630;p20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4" name="Shape 2634"/>
        <p:cNvGrpSpPr/>
        <p:nvPr/>
      </p:nvGrpSpPr>
      <p:grpSpPr>
        <a:xfrm>
          <a:off x="0" y="0"/>
          <a:ext cx="0" cy="0"/>
          <a:chOff x="0" y="0"/>
          <a:chExt cx="0" cy="0"/>
        </a:xfrm>
      </p:grpSpPr>
      <p:sp>
        <p:nvSpPr>
          <p:cNvPr id="2635" name="Google Shape;2635;p20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Bayes Formula</a:t>
            </a:r>
            <a:endParaRPr/>
          </a:p>
        </p:txBody>
      </p:sp>
      <p:sp>
        <p:nvSpPr>
          <p:cNvPr id="2636" name="Google Shape;2636;p20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1200"/>
              </a:spcAft>
              <a:buSzPts val="1800"/>
              <a:buNone/>
            </a:pPr>
            <a:r>
              <a:rPr lang="en" sz="1600">
                <a:solidFill>
                  <a:schemeClr val="lt1"/>
                </a:solidFill>
              </a:rPr>
              <a:t>Starting from our conditional probability definition, we can quickly arrive at an intriguing formula:</a:t>
            </a:r>
            <a:endParaRPr sz="1600">
              <a:solidFill>
                <a:schemeClr val="lt1"/>
              </a:solidFill>
            </a:endParaRPr>
          </a:p>
        </p:txBody>
      </p:sp>
      <p:sp>
        <p:nvSpPr>
          <p:cNvPr id="2637" name="Google Shape;2637;p20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38" name="Google Shape;2638;p201"/>
          <p:cNvPicPr preferRelativeResize="0"/>
          <p:nvPr/>
        </p:nvPicPr>
        <p:blipFill rotWithShape="1">
          <a:blip r:embed="rId3">
            <a:alphaModFix/>
          </a:blip>
          <a:srcRect b="0" l="0" r="0" t="0"/>
          <a:stretch/>
        </p:blipFill>
        <p:spPr>
          <a:xfrm>
            <a:off x="2300488" y="2231463"/>
            <a:ext cx="4181475" cy="1800225"/>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2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Derivation</a:t>
            </a:r>
            <a:endParaRPr/>
          </a:p>
        </p:txBody>
      </p:sp>
      <p:sp>
        <p:nvSpPr>
          <p:cNvPr id="2644" name="Google Shape;2644;p20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645" name="Google Shape;2645;p202"/>
          <p:cNvSpPr txBox="1"/>
          <p:nvPr/>
        </p:nvSpPr>
        <p:spPr>
          <a:xfrm>
            <a:off x="2015025" y="2987000"/>
            <a:ext cx="48729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chemeClr val="lt1"/>
              </a:buClr>
              <a:buSzPts val="1600"/>
              <a:buFont typeface="Average"/>
              <a:buChar char="●"/>
            </a:pPr>
            <a:r>
              <a:rPr b="0" i="0" lang="en" sz="1600" u="none" cap="none" strike="noStrike">
                <a:solidFill>
                  <a:schemeClr val="lt1"/>
                </a:solidFill>
                <a:latin typeface="Average"/>
                <a:ea typeface="Average"/>
                <a:cs typeface="Average"/>
                <a:sym typeface="Average"/>
              </a:rPr>
              <a:t>P(A and B) = P(A|B)P(B) = P(B|A)P(A)</a:t>
            </a:r>
            <a:endParaRPr b="0" i="0" sz="1600" u="none" cap="none" strike="noStrike">
              <a:solidFill>
                <a:schemeClr val="lt1"/>
              </a:solidFill>
              <a:latin typeface="Average"/>
              <a:ea typeface="Average"/>
              <a:cs typeface="Average"/>
              <a:sym typeface="Average"/>
            </a:endParaRPr>
          </a:p>
          <a:p>
            <a:pPr indent="-330200" lvl="0" marL="457200" marR="0" rtl="0" algn="l">
              <a:lnSpc>
                <a:spcPct val="100000"/>
              </a:lnSpc>
              <a:spcBef>
                <a:spcPts val="0"/>
              </a:spcBef>
              <a:spcAft>
                <a:spcPts val="0"/>
              </a:spcAft>
              <a:buClr>
                <a:schemeClr val="lt1"/>
              </a:buClr>
              <a:buSzPts val="1600"/>
              <a:buFont typeface="Average"/>
              <a:buChar char="●"/>
            </a:pPr>
            <a:r>
              <a:rPr b="0" i="0" lang="en" sz="1600" u="none" cap="none" strike="noStrike">
                <a:solidFill>
                  <a:schemeClr val="lt1"/>
                </a:solidFill>
                <a:latin typeface="Average"/>
                <a:ea typeface="Average"/>
                <a:cs typeface="Average"/>
                <a:sym typeface="Average"/>
              </a:rPr>
              <a:t>P(B|A) = P(A|B)P(B) / P(A)</a:t>
            </a:r>
            <a:endParaRPr b="0" i="0" sz="1600" u="none" cap="none" strike="noStrike">
              <a:solidFill>
                <a:schemeClr val="lt1"/>
              </a:solidFill>
              <a:latin typeface="Average"/>
              <a:ea typeface="Average"/>
              <a:cs typeface="Average"/>
              <a:sym typeface="Average"/>
            </a:endParaRPr>
          </a:p>
        </p:txBody>
      </p:sp>
      <p:sp>
        <p:nvSpPr>
          <p:cNvPr id="2646" name="Google Shape;2646;p202"/>
          <p:cNvSpPr txBox="1"/>
          <p:nvPr>
            <p:ph idx="1" type="body"/>
          </p:nvPr>
        </p:nvSpPr>
        <p:spPr>
          <a:xfrm>
            <a:off x="311700" y="12047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As seen in the previous slides we can calculate each of the elements in the function above using the below formula. We will see a detailed working explanation of the same</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chemeClr val="lt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0" name="Shape 2650"/>
        <p:cNvGrpSpPr/>
        <p:nvPr/>
      </p:nvGrpSpPr>
      <p:grpSpPr>
        <a:xfrm>
          <a:off x="0" y="0"/>
          <a:ext cx="0" cy="0"/>
          <a:chOff x="0" y="0"/>
          <a:chExt cx="0" cy="0"/>
        </a:xfrm>
      </p:grpSpPr>
      <p:sp>
        <p:nvSpPr>
          <p:cNvPr id="2651" name="Google Shape;2651;p20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Bayes Terms</a:t>
            </a:r>
            <a:endParaRPr/>
          </a:p>
        </p:txBody>
      </p:sp>
      <p:sp>
        <p:nvSpPr>
          <p:cNvPr id="2652" name="Google Shape;2652;p20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800"/>
              <a:buNone/>
            </a:pPr>
            <a:r>
              <a:rPr lang="en" sz="1600">
                <a:solidFill>
                  <a:schemeClr val="lt1"/>
                </a:solidFill>
              </a:rPr>
              <a:t>You will frequently hear reference to</a:t>
            </a:r>
            <a:r>
              <a:rPr lang="en" sz="1600">
                <a:solidFill>
                  <a:srgbClr val="00FFFF"/>
                </a:solidFill>
              </a:rPr>
              <a:t> </a:t>
            </a:r>
            <a:r>
              <a:rPr i="1" lang="en" sz="1600">
                <a:solidFill>
                  <a:srgbClr val="00FFFF"/>
                </a:solidFill>
              </a:rPr>
              <a:t>prior</a:t>
            </a:r>
            <a:r>
              <a:rPr i="1" lang="en" sz="1600">
                <a:solidFill>
                  <a:schemeClr val="lt1"/>
                </a:solidFill>
              </a:rPr>
              <a:t> </a:t>
            </a:r>
            <a:r>
              <a:rPr lang="en" sz="1600">
                <a:solidFill>
                  <a:schemeClr val="lt1"/>
                </a:solidFill>
              </a:rPr>
              <a:t>and </a:t>
            </a:r>
            <a:r>
              <a:rPr i="1" lang="en" sz="1600">
                <a:solidFill>
                  <a:srgbClr val="00FFFF"/>
                </a:solidFill>
              </a:rPr>
              <a:t>posterior.</a:t>
            </a:r>
            <a:endParaRPr i="1" sz="1600">
              <a:solidFill>
                <a:srgbClr val="00FFFF"/>
              </a:solidFill>
            </a:endParaRPr>
          </a:p>
          <a:p>
            <a:pPr indent="0" lvl="0" marL="0" rtl="0" algn="l">
              <a:lnSpc>
                <a:spcPct val="150000"/>
              </a:lnSpc>
              <a:spcBef>
                <a:spcPts val="1200"/>
              </a:spcBef>
              <a:spcAft>
                <a:spcPts val="0"/>
              </a:spcAft>
              <a:buSzPts val="1800"/>
              <a:buNone/>
            </a:pPr>
            <a:r>
              <a:rPr lang="en" sz="1600">
                <a:solidFill>
                  <a:schemeClr val="lt1"/>
                </a:solidFill>
              </a:rPr>
              <a:t>P(A) depends on our knowledge of A. If we then observe event B, this might provide information about A, so we need to </a:t>
            </a:r>
            <a:r>
              <a:rPr i="1" lang="en" sz="1600">
                <a:solidFill>
                  <a:schemeClr val="lt1"/>
                </a:solidFill>
              </a:rPr>
              <a:t>update</a:t>
            </a:r>
            <a:r>
              <a:rPr lang="en" sz="1600">
                <a:solidFill>
                  <a:schemeClr val="lt1"/>
                </a:solidFill>
              </a:rPr>
              <a:t> our probability to P(A|B).</a:t>
            </a:r>
            <a:endParaRPr sz="1600">
              <a:solidFill>
                <a:schemeClr val="lt1"/>
              </a:solidFill>
            </a:endParaRPr>
          </a:p>
          <a:p>
            <a:pPr indent="0" lvl="0" marL="0" rtl="0" algn="l">
              <a:lnSpc>
                <a:spcPct val="150000"/>
              </a:lnSpc>
              <a:spcBef>
                <a:spcPts val="1200"/>
              </a:spcBef>
              <a:spcAft>
                <a:spcPts val="1200"/>
              </a:spcAft>
              <a:buSzPts val="1800"/>
              <a:buNone/>
            </a:pPr>
            <a:r>
              <a:t/>
            </a:r>
            <a:endParaRPr sz="1600"/>
          </a:p>
        </p:txBody>
      </p:sp>
      <p:sp>
        <p:nvSpPr>
          <p:cNvPr id="2653" name="Google Shape;2653;p20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54" name="Google Shape;2654;p203"/>
          <p:cNvPicPr preferRelativeResize="0"/>
          <p:nvPr/>
        </p:nvPicPr>
        <p:blipFill rotWithShape="1">
          <a:blip r:embed="rId3">
            <a:alphaModFix/>
          </a:blip>
          <a:srcRect b="0" l="0" r="0" t="0"/>
          <a:stretch/>
        </p:blipFill>
        <p:spPr>
          <a:xfrm>
            <a:off x="3696363" y="2838763"/>
            <a:ext cx="4943475" cy="1495425"/>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id="2659" name="Google Shape;2659;p204"/>
          <p:cNvSpPr txBox="1"/>
          <p:nvPr>
            <p:ph type="title"/>
          </p:nvPr>
        </p:nvSpPr>
        <p:spPr>
          <a:xfrm>
            <a:off x="311700" y="445025"/>
            <a:ext cx="8520600" cy="103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What is prior probability in Bayes’ Theorem </a:t>
            </a:r>
            <a:r>
              <a:rPr i="1" lang="en" sz="2500">
                <a:solidFill>
                  <a:srgbClr val="3896D2"/>
                </a:solidFill>
                <a:latin typeface="Fira Sans"/>
                <a:ea typeface="Fira Sans"/>
                <a:cs typeface="Fira Sans"/>
                <a:sym typeface="Fira Sans"/>
              </a:rPr>
              <a:t>and why do we need it?</a:t>
            </a:r>
            <a:endParaRPr i="1" sz="2500">
              <a:solidFill>
                <a:srgbClr val="3896D2"/>
              </a:solidFill>
              <a:latin typeface="Fira Sans"/>
              <a:ea typeface="Fira Sans"/>
              <a:cs typeface="Fira Sans"/>
              <a:sym typeface="Fira Sans"/>
            </a:endParaRPr>
          </a:p>
        </p:txBody>
      </p:sp>
      <p:sp>
        <p:nvSpPr>
          <p:cNvPr id="2660" name="Google Shape;2660;p204"/>
          <p:cNvSpPr txBox="1"/>
          <p:nvPr>
            <p:ph idx="1" type="body"/>
          </p:nvPr>
        </p:nvSpPr>
        <p:spPr>
          <a:xfrm>
            <a:off x="311700" y="1526650"/>
            <a:ext cx="8520600" cy="3423300"/>
          </a:xfrm>
          <a:prstGeom prst="rect">
            <a:avLst/>
          </a:prstGeom>
          <a:noFill/>
          <a:ln>
            <a:noFill/>
          </a:ln>
        </p:spPr>
        <p:txBody>
          <a:bodyPr anchorCtr="0" anchor="t" bIns="91425" lIns="91425" spcFirstLastPara="1" rIns="91425" wrap="square" tIns="91425">
            <a:noAutofit/>
          </a:bodyPr>
          <a:lstStyle/>
          <a:p>
            <a:pPr indent="-330200" lvl="0" marL="457200" marR="215900" rtl="0" algn="l">
              <a:lnSpc>
                <a:spcPct val="160000"/>
              </a:lnSpc>
              <a:spcBef>
                <a:spcPts val="0"/>
              </a:spcBef>
              <a:spcAft>
                <a:spcPts val="0"/>
              </a:spcAft>
              <a:buClr>
                <a:schemeClr val="lt1"/>
              </a:buClr>
              <a:buSzPts val="1600"/>
              <a:buFont typeface="Lato"/>
              <a:buAutoNum type="arabicPeriod"/>
            </a:pPr>
            <a:r>
              <a:rPr b="1" lang="en" sz="1600">
                <a:solidFill>
                  <a:srgbClr val="00FFFF"/>
                </a:solidFill>
                <a:latin typeface="Fira Sans"/>
                <a:ea typeface="Fira Sans"/>
                <a:cs typeface="Fira Sans"/>
                <a:sym typeface="Fira Sans"/>
              </a:rPr>
              <a:t>Posterior probability</a:t>
            </a:r>
            <a:r>
              <a:rPr lang="en" sz="1600">
                <a:solidFill>
                  <a:srgbClr val="00FFFF"/>
                </a:solidFill>
                <a:latin typeface="Fira Sans"/>
                <a:ea typeface="Fira Sans"/>
                <a:cs typeface="Fira Sans"/>
                <a:sym typeface="Fira Sans"/>
              </a:rPr>
              <a:t> </a:t>
            </a:r>
            <a:r>
              <a:rPr lang="en" sz="1600">
                <a:solidFill>
                  <a:schemeClr val="lt1"/>
                </a:solidFill>
                <a:latin typeface="Fira Sans"/>
                <a:ea typeface="Fira Sans"/>
                <a:cs typeface="Fira Sans"/>
                <a:sym typeface="Fira Sans"/>
              </a:rPr>
              <a:t>(updated probability after the evidence is considered)</a:t>
            </a:r>
            <a:endParaRPr sz="1600">
              <a:solidFill>
                <a:schemeClr val="lt1"/>
              </a:solidFill>
              <a:latin typeface="Fira Sans"/>
              <a:ea typeface="Fira Sans"/>
              <a:cs typeface="Fira Sans"/>
              <a:sym typeface="Fira Sans"/>
            </a:endParaRPr>
          </a:p>
          <a:p>
            <a:pPr indent="-330200" lvl="0" marL="457200" marR="215900" rtl="0" algn="l">
              <a:lnSpc>
                <a:spcPct val="160000"/>
              </a:lnSpc>
              <a:spcBef>
                <a:spcPts val="0"/>
              </a:spcBef>
              <a:spcAft>
                <a:spcPts val="0"/>
              </a:spcAft>
              <a:buClr>
                <a:schemeClr val="lt1"/>
              </a:buClr>
              <a:buSzPts val="1600"/>
              <a:buFont typeface="Lato"/>
              <a:buAutoNum type="arabicPeriod"/>
            </a:pPr>
            <a:r>
              <a:rPr b="1" lang="en" sz="1600">
                <a:solidFill>
                  <a:srgbClr val="00FFFF"/>
                </a:solidFill>
                <a:latin typeface="Fira Sans"/>
                <a:ea typeface="Fira Sans"/>
                <a:cs typeface="Fira Sans"/>
                <a:sym typeface="Fira Sans"/>
              </a:rPr>
              <a:t>Prior probability</a:t>
            </a:r>
            <a:r>
              <a:rPr lang="en" sz="1600">
                <a:solidFill>
                  <a:schemeClr val="lt1"/>
                </a:solidFill>
                <a:latin typeface="Fira Sans"/>
                <a:ea typeface="Fira Sans"/>
                <a:cs typeface="Fira Sans"/>
                <a:sym typeface="Fira Sans"/>
              </a:rPr>
              <a:t> (the probability before the evidence is considered)Prior probability, in Bayesian statistics, is the probability of an event before new data is collected. This is the best rational assessment of the probability of an outcome based on the current knowledge before an experiment is performed.</a:t>
            </a:r>
            <a:endParaRPr sz="1600">
              <a:solidFill>
                <a:schemeClr val="lt1"/>
              </a:solidFill>
              <a:latin typeface="Fira Sans"/>
              <a:ea typeface="Fira Sans"/>
              <a:cs typeface="Fira Sans"/>
              <a:sym typeface="Fira Sans"/>
            </a:endParaRPr>
          </a:p>
          <a:p>
            <a:pPr indent="0" lvl="0" marL="457200" marR="215900" rtl="0" algn="l">
              <a:lnSpc>
                <a:spcPct val="160000"/>
              </a:lnSpc>
              <a:spcBef>
                <a:spcPts val="800"/>
              </a:spcBef>
              <a:spcAft>
                <a:spcPts val="0"/>
              </a:spcAft>
              <a:buSzPts val="1800"/>
              <a:buNone/>
            </a:pPr>
            <a:r>
              <a:t/>
            </a:r>
            <a:endParaRPr b="1" i="1" sz="1600">
              <a:solidFill>
                <a:schemeClr val="lt1"/>
              </a:solidFill>
            </a:endParaRPr>
          </a:p>
          <a:p>
            <a:pPr indent="0" lvl="0" marL="0" rtl="0" algn="l">
              <a:lnSpc>
                <a:spcPct val="150000"/>
              </a:lnSpc>
              <a:spcBef>
                <a:spcPts val="3300"/>
              </a:spcBef>
              <a:spcAft>
                <a:spcPts val="1200"/>
              </a:spcAft>
              <a:buSzPts val="1800"/>
              <a:buNone/>
            </a:pPr>
            <a:r>
              <a:t/>
            </a:r>
            <a:endParaRPr sz="1600"/>
          </a:p>
        </p:txBody>
      </p:sp>
      <p:sp>
        <p:nvSpPr>
          <p:cNvPr id="2661" name="Google Shape;2661;p20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5" name="Shape 2665"/>
        <p:cNvGrpSpPr/>
        <p:nvPr/>
      </p:nvGrpSpPr>
      <p:grpSpPr>
        <a:xfrm>
          <a:off x="0" y="0"/>
          <a:ext cx="0" cy="0"/>
          <a:chOff x="0" y="0"/>
          <a:chExt cx="0" cy="0"/>
        </a:xfrm>
      </p:grpSpPr>
      <p:sp>
        <p:nvSpPr>
          <p:cNvPr id="2666" name="Google Shape;2666;p205"/>
          <p:cNvSpPr txBox="1"/>
          <p:nvPr>
            <p:ph type="title"/>
          </p:nvPr>
        </p:nvSpPr>
        <p:spPr>
          <a:xfrm>
            <a:off x="311700" y="445025"/>
            <a:ext cx="8520600" cy="103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What is prior probability in Bayes’ Theorem </a:t>
            </a:r>
            <a:r>
              <a:rPr i="1" lang="en" sz="2500">
                <a:solidFill>
                  <a:srgbClr val="3896D2"/>
                </a:solidFill>
                <a:latin typeface="Fira Sans"/>
                <a:ea typeface="Fira Sans"/>
                <a:cs typeface="Fira Sans"/>
                <a:sym typeface="Fira Sans"/>
              </a:rPr>
              <a:t>and why do we need it? (</a:t>
            </a:r>
            <a:r>
              <a:rPr i="1" lang="en" sz="2500"/>
              <a:t>contd)</a:t>
            </a:r>
            <a:endParaRPr i="1" sz="2500">
              <a:solidFill>
                <a:srgbClr val="3896D2"/>
              </a:solidFill>
              <a:latin typeface="Fira Sans"/>
              <a:ea typeface="Fira Sans"/>
              <a:cs typeface="Fira Sans"/>
              <a:sym typeface="Fira Sans"/>
            </a:endParaRPr>
          </a:p>
        </p:txBody>
      </p:sp>
      <p:sp>
        <p:nvSpPr>
          <p:cNvPr id="2667" name="Google Shape;2667;p205"/>
          <p:cNvSpPr txBox="1"/>
          <p:nvPr>
            <p:ph idx="1" type="body"/>
          </p:nvPr>
        </p:nvSpPr>
        <p:spPr>
          <a:xfrm>
            <a:off x="311700" y="1526650"/>
            <a:ext cx="8520600" cy="3423300"/>
          </a:xfrm>
          <a:prstGeom prst="rect">
            <a:avLst/>
          </a:prstGeom>
          <a:noFill/>
          <a:ln>
            <a:noFill/>
          </a:ln>
        </p:spPr>
        <p:txBody>
          <a:bodyPr anchorCtr="0" anchor="t" bIns="91425" lIns="91425" spcFirstLastPara="1" rIns="91425" wrap="square" tIns="91425">
            <a:noAutofit/>
          </a:bodyPr>
          <a:lstStyle/>
          <a:p>
            <a:pPr indent="-330200" lvl="0" marL="457200" marR="215900" rtl="0" algn="l">
              <a:lnSpc>
                <a:spcPct val="160000"/>
              </a:lnSpc>
              <a:spcBef>
                <a:spcPts val="800"/>
              </a:spcBef>
              <a:spcAft>
                <a:spcPts val="0"/>
              </a:spcAft>
              <a:buClr>
                <a:schemeClr val="lt1"/>
              </a:buClr>
              <a:buSzPts val="1600"/>
              <a:buFont typeface="Lato"/>
              <a:buAutoNum type="arabicPeriod" startAt="3"/>
            </a:pPr>
            <a:r>
              <a:rPr b="1" lang="en" sz="1600">
                <a:solidFill>
                  <a:srgbClr val="00FFFF"/>
                </a:solidFill>
              </a:rPr>
              <a:t>Likelihood</a:t>
            </a:r>
            <a:r>
              <a:rPr lang="en" sz="1600">
                <a:solidFill>
                  <a:srgbClr val="00FFFF"/>
                </a:solidFill>
              </a:rPr>
              <a:t> </a:t>
            </a:r>
            <a:r>
              <a:rPr lang="en" sz="1600">
                <a:solidFill>
                  <a:schemeClr val="lt1"/>
                </a:solidFill>
              </a:rPr>
              <a:t>(probability of the evidence, given the belief is true)</a:t>
            </a:r>
            <a:endParaRPr sz="1600">
              <a:solidFill>
                <a:schemeClr val="lt1"/>
              </a:solidFill>
            </a:endParaRPr>
          </a:p>
          <a:p>
            <a:pPr indent="0" lvl="0" marL="457200" marR="215900" rtl="0" algn="l">
              <a:lnSpc>
                <a:spcPct val="160000"/>
              </a:lnSpc>
              <a:spcBef>
                <a:spcPts val="800"/>
              </a:spcBef>
              <a:spcAft>
                <a:spcPts val="0"/>
              </a:spcAft>
              <a:buClr>
                <a:schemeClr val="dk1"/>
              </a:buClr>
              <a:buSzPts val="1800"/>
              <a:buFont typeface="Arial"/>
              <a:buNone/>
            </a:pPr>
            <a:r>
              <a:rPr b="1" i="1" lang="en" sz="1600">
                <a:solidFill>
                  <a:schemeClr val="lt1"/>
                </a:solidFill>
              </a:rPr>
              <a:t>We need prior probability the most because without that one we will not be able to go forward with our findings.</a:t>
            </a:r>
            <a:endParaRPr b="1" sz="1700">
              <a:solidFill>
                <a:schemeClr val="lt1"/>
              </a:solidFill>
            </a:endParaRPr>
          </a:p>
          <a:p>
            <a:pPr indent="0" lvl="0" marL="0" rtl="0" algn="l">
              <a:lnSpc>
                <a:spcPct val="150000"/>
              </a:lnSpc>
              <a:spcBef>
                <a:spcPts val="3300"/>
              </a:spcBef>
              <a:spcAft>
                <a:spcPts val="1200"/>
              </a:spcAft>
              <a:buSzPts val="1800"/>
              <a:buNone/>
            </a:pPr>
            <a:r>
              <a:t/>
            </a:r>
            <a:endParaRPr/>
          </a:p>
        </p:txBody>
      </p:sp>
      <p:sp>
        <p:nvSpPr>
          <p:cNvPr id="2668" name="Google Shape;2668;p20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2" name="Shape 2672"/>
        <p:cNvGrpSpPr/>
        <p:nvPr/>
      </p:nvGrpSpPr>
      <p:grpSpPr>
        <a:xfrm>
          <a:off x="0" y="0"/>
          <a:ext cx="0" cy="0"/>
          <a:chOff x="0" y="0"/>
          <a:chExt cx="0" cy="0"/>
        </a:xfrm>
      </p:grpSpPr>
      <p:sp>
        <p:nvSpPr>
          <p:cNvPr id="2673" name="Google Shape;2673;p20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Bayes Example- Covid Testing</a:t>
            </a:r>
            <a:endParaRPr/>
          </a:p>
        </p:txBody>
      </p:sp>
      <p:sp>
        <p:nvSpPr>
          <p:cNvPr id="2674" name="Google Shape;2674;p206"/>
          <p:cNvSpPr txBox="1"/>
          <p:nvPr>
            <p:ph idx="1" type="body"/>
          </p:nvPr>
        </p:nvSpPr>
        <p:spPr>
          <a:xfrm>
            <a:off x="311700" y="1152475"/>
            <a:ext cx="58230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946"/>
              <a:buNone/>
            </a:pPr>
            <a:r>
              <a:rPr lang="en" sz="1600">
                <a:solidFill>
                  <a:schemeClr val="lt1"/>
                </a:solidFill>
              </a:rPr>
              <a:t>Suppose 1/200 of your local population has Covid.</a:t>
            </a:r>
            <a:endParaRPr sz="1600">
              <a:solidFill>
                <a:schemeClr val="lt1"/>
              </a:solidFill>
            </a:endParaRPr>
          </a:p>
          <a:p>
            <a:pPr indent="0" lvl="0" marL="0" rtl="0" algn="l">
              <a:lnSpc>
                <a:spcPct val="150000"/>
              </a:lnSpc>
              <a:spcBef>
                <a:spcPts val="1200"/>
              </a:spcBef>
              <a:spcAft>
                <a:spcPts val="0"/>
              </a:spcAft>
              <a:buSzPts val="1946"/>
              <a:buNone/>
            </a:pPr>
            <a:r>
              <a:rPr lang="en" sz="1600">
                <a:solidFill>
                  <a:schemeClr val="lt1"/>
                </a:solidFill>
              </a:rPr>
              <a:t>Suppose you have a test that has a 99% chance of showing positive when you are sick, and a 2% of showing positive when you are not.</a:t>
            </a:r>
            <a:endParaRPr sz="1600">
              <a:solidFill>
                <a:schemeClr val="lt1"/>
              </a:solidFill>
            </a:endParaRPr>
          </a:p>
          <a:p>
            <a:pPr indent="0" lvl="0" marL="0" rtl="0" algn="l">
              <a:lnSpc>
                <a:spcPct val="150000"/>
              </a:lnSpc>
              <a:spcBef>
                <a:spcPts val="1200"/>
              </a:spcBef>
              <a:spcAft>
                <a:spcPts val="0"/>
              </a:spcAft>
              <a:buSzPts val="1946"/>
              <a:buNone/>
            </a:pPr>
            <a:r>
              <a:rPr lang="en" sz="1600">
                <a:solidFill>
                  <a:schemeClr val="lt1"/>
                </a:solidFill>
              </a:rPr>
              <a:t>If the test shows positive, what is the probability that you have Covid?</a:t>
            </a:r>
            <a:endParaRPr sz="1600">
              <a:solidFill>
                <a:schemeClr val="lt1"/>
              </a:solidFill>
            </a:endParaRPr>
          </a:p>
          <a:p>
            <a:pPr indent="0" lvl="0" marL="0" rtl="0" algn="l">
              <a:lnSpc>
                <a:spcPct val="150000"/>
              </a:lnSpc>
              <a:spcBef>
                <a:spcPts val="1200"/>
              </a:spcBef>
              <a:spcAft>
                <a:spcPts val="0"/>
              </a:spcAft>
              <a:buSzPts val="1946"/>
              <a:buNone/>
            </a:pPr>
            <a:r>
              <a:rPr lang="en" sz="1600">
                <a:solidFill>
                  <a:schemeClr val="lt1"/>
                </a:solidFill>
              </a:rPr>
              <a:t>P(C | +) is NOT the same as P(+ | C)!!</a:t>
            </a:r>
            <a:endParaRPr sz="1600">
              <a:solidFill>
                <a:schemeClr val="lt1"/>
              </a:solidFill>
            </a:endParaRPr>
          </a:p>
          <a:p>
            <a:pPr indent="0" lvl="0" marL="0" rtl="0" algn="l">
              <a:lnSpc>
                <a:spcPct val="150000"/>
              </a:lnSpc>
              <a:spcBef>
                <a:spcPts val="1200"/>
              </a:spcBef>
              <a:spcAft>
                <a:spcPts val="1200"/>
              </a:spcAft>
              <a:buSzPts val="1946"/>
              <a:buNone/>
            </a:pPr>
            <a:r>
              <a:rPr lang="en" sz="1600">
                <a:solidFill>
                  <a:schemeClr val="lt1"/>
                </a:solidFill>
              </a:rPr>
              <a:t>P(C | +) = P(C) * P(+ | C)/P(+) </a:t>
            </a:r>
            <a:endParaRPr sz="1600">
              <a:solidFill>
                <a:schemeClr val="lt1"/>
              </a:solidFill>
            </a:endParaRPr>
          </a:p>
        </p:txBody>
      </p:sp>
      <p:sp>
        <p:nvSpPr>
          <p:cNvPr id="2675" name="Google Shape;2675;p20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76" name="Google Shape;2676;p206"/>
          <p:cNvPicPr preferRelativeResize="0"/>
          <p:nvPr/>
        </p:nvPicPr>
        <p:blipFill rotWithShape="1">
          <a:blip r:embed="rId3">
            <a:alphaModFix/>
          </a:blip>
          <a:srcRect b="0" l="0" r="0" t="0"/>
          <a:stretch/>
        </p:blipFill>
        <p:spPr>
          <a:xfrm>
            <a:off x="6287100" y="1170125"/>
            <a:ext cx="2704500" cy="3606001"/>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0" name="Shape 2680"/>
        <p:cNvGrpSpPr/>
        <p:nvPr/>
      </p:nvGrpSpPr>
      <p:grpSpPr>
        <a:xfrm>
          <a:off x="0" y="0"/>
          <a:ext cx="0" cy="0"/>
          <a:chOff x="0" y="0"/>
          <a:chExt cx="0" cy="0"/>
        </a:xfrm>
      </p:grpSpPr>
      <p:sp>
        <p:nvSpPr>
          <p:cNvPr id="2681" name="Google Shape;2681;p2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Bayes Example- Covid Testing - Solution</a:t>
            </a:r>
            <a:endParaRPr/>
          </a:p>
        </p:txBody>
      </p:sp>
      <p:sp>
        <p:nvSpPr>
          <p:cNvPr id="2682" name="Google Shape;2682;p20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83" name="Google Shape;2683;p207"/>
          <p:cNvPicPr preferRelativeResize="0"/>
          <p:nvPr/>
        </p:nvPicPr>
        <p:blipFill>
          <a:blip r:embed="rId3">
            <a:alphaModFix/>
          </a:blip>
          <a:stretch>
            <a:fillRect/>
          </a:stretch>
        </p:blipFill>
        <p:spPr>
          <a:xfrm>
            <a:off x="152400" y="1170125"/>
            <a:ext cx="8839201" cy="2532123"/>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7" name="Shape 2687"/>
        <p:cNvGrpSpPr/>
        <p:nvPr/>
      </p:nvGrpSpPr>
      <p:grpSpPr>
        <a:xfrm>
          <a:off x="0" y="0"/>
          <a:ext cx="0" cy="0"/>
          <a:chOff x="0" y="0"/>
          <a:chExt cx="0" cy="0"/>
        </a:xfrm>
      </p:grpSpPr>
      <p:sp>
        <p:nvSpPr>
          <p:cNvPr id="2688" name="Google Shape;2688;p20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Bayes Example- Covid Testing - Solution</a:t>
            </a:r>
            <a:endParaRPr/>
          </a:p>
        </p:txBody>
      </p:sp>
      <p:sp>
        <p:nvSpPr>
          <p:cNvPr id="2689" name="Google Shape;2689;p20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90" name="Google Shape;2690;p208"/>
          <p:cNvPicPr preferRelativeResize="0"/>
          <p:nvPr/>
        </p:nvPicPr>
        <p:blipFill>
          <a:blip r:embed="rId3">
            <a:alphaModFix/>
          </a:blip>
          <a:stretch>
            <a:fillRect/>
          </a:stretch>
        </p:blipFill>
        <p:spPr>
          <a:xfrm>
            <a:off x="152400" y="1170125"/>
            <a:ext cx="8839202" cy="2908011"/>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4" name="Shape 2694"/>
        <p:cNvGrpSpPr/>
        <p:nvPr/>
      </p:nvGrpSpPr>
      <p:grpSpPr>
        <a:xfrm>
          <a:off x="0" y="0"/>
          <a:ext cx="0" cy="0"/>
          <a:chOff x="0" y="0"/>
          <a:chExt cx="0" cy="0"/>
        </a:xfrm>
      </p:grpSpPr>
      <p:sp>
        <p:nvSpPr>
          <p:cNvPr id="2695" name="Google Shape;2695;p2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lang="en"/>
              <a:t>Bayes Example- Covid Testing - Solution</a:t>
            </a:r>
            <a:endParaRPr/>
          </a:p>
        </p:txBody>
      </p:sp>
      <p:sp>
        <p:nvSpPr>
          <p:cNvPr id="2696" name="Google Shape;2696;p20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697" name="Google Shape;2697;p209"/>
          <p:cNvPicPr preferRelativeResize="0"/>
          <p:nvPr/>
        </p:nvPicPr>
        <p:blipFill>
          <a:blip r:embed="rId3">
            <a:alphaModFix/>
          </a:blip>
          <a:stretch>
            <a:fillRect/>
          </a:stretch>
        </p:blipFill>
        <p:spPr>
          <a:xfrm>
            <a:off x="152400" y="1170125"/>
            <a:ext cx="8328529" cy="382097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1" name="Shape 2701"/>
        <p:cNvGrpSpPr/>
        <p:nvPr/>
      </p:nvGrpSpPr>
      <p:grpSpPr>
        <a:xfrm>
          <a:off x="0" y="0"/>
          <a:ext cx="0" cy="0"/>
          <a:chOff x="0" y="0"/>
          <a:chExt cx="0" cy="0"/>
        </a:xfrm>
      </p:grpSpPr>
      <p:sp>
        <p:nvSpPr>
          <p:cNvPr id="2702" name="Google Shape;2702;p2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latin typeface="Fira Sans"/>
                <a:ea typeface="Fira Sans"/>
                <a:cs typeface="Fira Sans"/>
                <a:sym typeface="Fira Sans"/>
              </a:rPr>
              <a:t>Real life case</a:t>
            </a:r>
            <a:endParaRPr>
              <a:latin typeface="Fira Sans"/>
              <a:ea typeface="Fira Sans"/>
              <a:cs typeface="Fira Sans"/>
              <a:sym typeface="Fira Sans"/>
            </a:endParaRPr>
          </a:p>
        </p:txBody>
      </p:sp>
      <p:sp>
        <p:nvSpPr>
          <p:cNvPr id="2703" name="Google Shape;2703;p2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SzPts val="1800"/>
              <a:buNone/>
            </a:pPr>
            <a:r>
              <a:rPr lang="en" sz="1600">
                <a:solidFill>
                  <a:schemeClr val="lt1"/>
                </a:solidFill>
                <a:latin typeface="Fira Sans"/>
                <a:ea typeface="Fira Sans"/>
                <a:cs typeface="Fira Sans"/>
                <a:sym typeface="Fira Sans"/>
              </a:rPr>
              <a:t>In a bolt factory, three machines M₁, M₂, and M₃ manufacture 2000, 2500, and 4000 bolts every day. Of their output 3%, 4%, and 2.5% are defective bolts. One of the bolts is drawn very randomly from a day’s production and is found to be defective. What is the probability that it was produced by machine M₂?</a:t>
            </a:r>
            <a:endParaRPr sz="1600">
              <a:solidFill>
                <a:schemeClr val="lt1"/>
              </a:solidFill>
              <a:highlight>
                <a:srgbClr val="FFFFFF"/>
              </a:highlight>
              <a:latin typeface="Arial"/>
              <a:ea typeface="Arial"/>
              <a:cs typeface="Arial"/>
              <a:sym typeface="Arial"/>
            </a:endParaRPr>
          </a:p>
        </p:txBody>
      </p:sp>
      <p:sp>
        <p:nvSpPr>
          <p:cNvPr id="2704" name="Google Shape;2704;p21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705" name="Google Shape;2705;p210"/>
          <p:cNvPicPr preferRelativeResize="0"/>
          <p:nvPr/>
        </p:nvPicPr>
        <p:blipFill rotWithShape="1">
          <a:blip r:embed="rId3">
            <a:alphaModFix/>
          </a:blip>
          <a:srcRect b="0" l="0" r="0" t="0"/>
          <a:stretch/>
        </p:blipFill>
        <p:spPr>
          <a:xfrm>
            <a:off x="3192375" y="2826225"/>
            <a:ext cx="2594076" cy="2146401"/>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sp>
        <p:nvSpPr>
          <p:cNvPr id="2710" name="Google Shape;2710;p2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Solution</a:t>
            </a:r>
            <a:endParaRPr/>
          </a:p>
        </p:txBody>
      </p:sp>
      <p:sp>
        <p:nvSpPr>
          <p:cNvPr id="2711" name="Google Shape;2711;p21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12" name="Google Shape;2712;p2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600">
                <a:solidFill>
                  <a:schemeClr val="lt1"/>
                </a:solidFill>
              </a:rPr>
              <a:t>Here's how to calculate the probability that the defective bolt came from machine M₂:</a:t>
            </a:r>
            <a:endParaRPr sz="1600">
              <a:solidFill>
                <a:schemeClr val="lt1"/>
              </a:solidFill>
            </a:endParaRPr>
          </a:p>
          <a:p>
            <a:pPr indent="0" lvl="0" marL="0" rtl="0" algn="l">
              <a:lnSpc>
                <a:spcPct val="115000"/>
              </a:lnSpc>
              <a:spcBef>
                <a:spcPts val="1200"/>
              </a:spcBef>
              <a:spcAft>
                <a:spcPts val="0"/>
              </a:spcAft>
              <a:buSzPts val="1100"/>
              <a:buNone/>
            </a:pPr>
            <a:r>
              <a:rPr b="1" lang="en" sz="1600">
                <a:solidFill>
                  <a:schemeClr val="lt1"/>
                </a:solidFill>
              </a:rPr>
              <a:t>1. Define Events:</a:t>
            </a:r>
            <a:endParaRPr b="1" sz="1600">
              <a:solidFill>
                <a:schemeClr val="lt1"/>
              </a:solidFill>
            </a:endParaRPr>
          </a:p>
          <a:p>
            <a:pPr indent="-330200" lvl="0" marL="457200" rtl="0" algn="l">
              <a:lnSpc>
                <a:spcPct val="115000"/>
              </a:lnSpc>
              <a:spcBef>
                <a:spcPts val="1200"/>
              </a:spcBef>
              <a:spcAft>
                <a:spcPts val="0"/>
              </a:spcAft>
              <a:buClr>
                <a:schemeClr val="lt1"/>
              </a:buClr>
              <a:buSzPts val="1600"/>
              <a:buFont typeface="Arial"/>
              <a:buChar char="●"/>
            </a:pPr>
            <a:r>
              <a:rPr b="1" lang="en" sz="1600">
                <a:solidFill>
                  <a:schemeClr val="lt1"/>
                </a:solidFill>
              </a:rPr>
              <a:t>M₁:</a:t>
            </a:r>
            <a:r>
              <a:rPr lang="en" sz="1600">
                <a:solidFill>
                  <a:schemeClr val="lt1"/>
                </a:solidFill>
              </a:rPr>
              <a:t> Event that the bolt was produced by machine M₁.</a:t>
            </a:r>
            <a:endParaRPr sz="1600">
              <a:solidFill>
                <a:schemeClr val="lt1"/>
              </a:solidFill>
            </a:endParaRPr>
          </a:p>
          <a:p>
            <a:pPr indent="-330200" lvl="0" marL="457200" rtl="0" algn="l">
              <a:lnSpc>
                <a:spcPct val="115000"/>
              </a:lnSpc>
              <a:spcBef>
                <a:spcPts val="0"/>
              </a:spcBef>
              <a:spcAft>
                <a:spcPts val="0"/>
              </a:spcAft>
              <a:buClr>
                <a:schemeClr val="lt1"/>
              </a:buClr>
              <a:buSzPts val="1600"/>
              <a:buFont typeface="Arial"/>
              <a:buChar char="●"/>
            </a:pPr>
            <a:r>
              <a:rPr b="1" lang="en" sz="1600">
                <a:solidFill>
                  <a:schemeClr val="lt1"/>
                </a:solidFill>
              </a:rPr>
              <a:t>M₂:</a:t>
            </a:r>
            <a:r>
              <a:rPr lang="en" sz="1600">
                <a:solidFill>
                  <a:schemeClr val="lt1"/>
                </a:solidFill>
              </a:rPr>
              <a:t> Event that the bolt was produced by machine M₂ (</a:t>
            </a:r>
            <a:r>
              <a:rPr b="1" lang="en" sz="1600">
                <a:solidFill>
                  <a:schemeClr val="lt1"/>
                </a:solidFill>
              </a:rPr>
              <a:t>target event</a:t>
            </a:r>
            <a:r>
              <a:rPr lang="en" sz="1600">
                <a:solidFill>
                  <a:schemeClr val="lt1"/>
                </a:solidFill>
              </a:rPr>
              <a:t>).</a:t>
            </a:r>
            <a:endParaRPr sz="1600">
              <a:solidFill>
                <a:schemeClr val="lt1"/>
              </a:solidFill>
            </a:endParaRPr>
          </a:p>
          <a:p>
            <a:pPr indent="-330200" lvl="0" marL="457200" rtl="0" algn="l">
              <a:lnSpc>
                <a:spcPct val="115000"/>
              </a:lnSpc>
              <a:spcBef>
                <a:spcPts val="0"/>
              </a:spcBef>
              <a:spcAft>
                <a:spcPts val="0"/>
              </a:spcAft>
              <a:buClr>
                <a:schemeClr val="lt1"/>
              </a:buClr>
              <a:buSzPts val="1600"/>
              <a:buFont typeface="Arial"/>
              <a:buChar char="●"/>
            </a:pPr>
            <a:r>
              <a:rPr b="1" lang="en" sz="1600">
                <a:solidFill>
                  <a:schemeClr val="lt1"/>
                </a:solidFill>
              </a:rPr>
              <a:t>M₃:</a:t>
            </a:r>
            <a:r>
              <a:rPr lang="en" sz="1600">
                <a:solidFill>
                  <a:schemeClr val="lt1"/>
                </a:solidFill>
              </a:rPr>
              <a:t> Event that the bolt was produced by machine M₃.</a:t>
            </a:r>
            <a:endParaRPr sz="1600">
              <a:solidFill>
                <a:schemeClr val="lt1"/>
              </a:solidFill>
            </a:endParaRPr>
          </a:p>
          <a:p>
            <a:pPr indent="-330200" lvl="0" marL="457200" rtl="0" algn="l">
              <a:lnSpc>
                <a:spcPct val="115000"/>
              </a:lnSpc>
              <a:spcBef>
                <a:spcPts val="0"/>
              </a:spcBef>
              <a:spcAft>
                <a:spcPts val="0"/>
              </a:spcAft>
              <a:buClr>
                <a:schemeClr val="lt1"/>
              </a:buClr>
              <a:buSzPts val="1600"/>
              <a:buFont typeface="Arial"/>
              <a:buChar char="●"/>
            </a:pPr>
            <a:r>
              <a:rPr b="1" lang="en" sz="1600">
                <a:solidFill>
                  <a:schemeClr val="lt1"/>
                </a:solidFill>
              </a:rPr>
              <a:t>D:</a:t>
            </a:r>
            <a:r>
              <a:rPr lang="en" sz="1600">
                <a:solidFill>
                  <a:schemeClr val="lt1"/>
                </a:solidFill>
              </a:rPr>
              <a:t> Event that the bolt is defective.</a:t>
            </a:r>
            <a:endParaRPr sz="1600">
              <a:solidFill>
                <a:schemeClr val="lt1"/>
              </a:solidFill>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2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Solution (Contd)</a:t>
            </a:r>
            <a:endParaRPr/>
          </a:p>
        </p:txBody>
      </p:sp>
      <p:sp>
        <p:nvSpPr>
          <p:cNvPr id="2718" name="Google Shape;2718;p21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19" name="Google Shape;2719;p2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600">
                <a:solidFill>
                  <a:schemeClr val="lt1"/>
                </a:solidFill>
              </a:rPr>
              <a:t>Here's how to calculate the probability that the defective bolt came from machine M₂:</a:t>
            </a:r>
            <a:endParaRPr sz="16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en" sz="1600">
                <a:solidFill>
                  <a:schemeClr val="lt1"/>
                </a:solidFill>
              </a:rPr>
              <a:t>2. Given Information:</a:t>
            </a:r>
            <a:endParaRPr b="1" sz="1600">
              <a:solidFill>
                <a:schemeClr val="lt1"/>
              </a:solidFill>
            </a:endParaRPr>
          </a:p>
          <a:p>
            <a:pPr indent="-330200" lvl="0" marL="457200" rtl="0" algn="l">
              <a:lnSpc>
                <a:spcPct val="115000"/>
              </a:lnSpc>
              <a:spcBef>
                <a:spcPts val="1200"/>
              </a:spcBef>
              <a:spcAft>
                <a:spcPts val="0"/>
              </a:spcAft>
              <a:buClr>
                <a:schemeClr val="lt1"/>
              </a:buClr>
              <a:buSzPts val="1600"/>
              <a:buFont typeface="Fira Sans"/>
              <a:buChar char="●"/>
            </a:pPr>
            <a:r>
              <a:rPr lang="en" sz="1600">
                <a:solidFill>
                  <a:schemeClr val="lt1"/>
                </a:solidFill>
              </a:rPr>
              <a:t>Daily production:</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M₁: 2000 bolts</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M₂: 2500 bolts</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M₃: 4000 bolts</a:t>
            </a:r>
            <a:endParaRPr sz="1600">
              <a:solidFill>
                <a:schemeClr val="lt1"/>
              </a:solidFill>
            </a:endParaRPr>
          </a:p>
          <a:p>
            <a:pPr indent="-330200" lvl="0" marL="457200" rtl="0" algn="l">
              <a:lnSpc>
                <a:spcPct val="115000"/>
              </a:lnSpc>
              <a:spcBef>
                <a:spcPts val="0"/>
              </a:spcBef>
              <a:spcAft>
                <a:spcPts val="0"/>
              </a:spcAft>
              <a:buClr>
                <a:schemeClr val="lt1"/>
              </a:buClr>
              <a:buSzPts val="1600"/>
              <a:buFont typeface="Fira Sans"/>
              <a:buChar char="●"/>
            </a:pPr>
            <a:r>
              <a:rPr lang="en" sz="1600">
                <a:solidFill>
                  <a:schemeClr val="lt1"/>
                </a:solidFill>
              </a:rPr>
              <a:t>Defect rate:</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M₁: 3%</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M₂: 4%</a:t>
            </a:r>
            <a:endParaRPr sz="1600">
              <a:solidFill>
                <a:schemeClr val="lt1"/>
              </a:solidFill>
            </a:endParaRPr>
          </a:p>
          <a:p>
            <a:pPr indent="-330200" lvl="1" marL="914400" rtl="0" algn="l">
              <a:lnSpc>
                <a:spcPct val="115000"/>
              </a:lnSpc>
              <a:spcBef>
                <a:spcPts val="0"/>
              </a:spcBef>
              <a:spcAft>
                <a:spcPts val="0"/>
              </a:spcAft>
              <a:buClr>
                <a:schemeClr val="lt1"/>
              </a:buClr>
              <a:buSzPts val="1600"/>
              <a:buFont typeface="Fira Sans"/>
              <a:buChar char="○"/>
            </a:pPr>
            <a:r>
              <a:rPr lang="en" sz="1600">
                <a:solidFill>
                  <a:schemeClr val="lt1"/>
                </a:solidFill>
              </a:rPr>
              <a:t>M₃: 2.5%</a:t>
            </a:r>
            <a:endParaRPr sz="1600">
              <a:solidFill>
                <a:schemeClr val="lt1"/>
              </a:solidFill>
            </a:endParaRPr>
          </a:p>
          <a:p>
            <a:pPr indent="0" lvl="0" marL="0" rtl="0" algn="l">
              <a:lnSpc>
                <a:spcPct val="150000"/>
              </a:lnSpc>
              <a:spcBef>
                <a:spcPts val="1200"/>
              </a:spcBef>
              <a:spcAft>
                <a:spcPts val="1200"/>
              </a:spcAft>
              <a:buSzPts val="1800"/>
              <a:buNone/>
            </a:pPr>
            <a:r>
              <a:t/>
            </a:r>
            <a:endParaRPr sz="1600">
              <a:solidFill>
                <a:schemeClr val="lt1"/>
              </a:solidFill>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3" name="Shape 2723"/>
        <p:cNvGrpSpPr/>
        <p:nvPr/>
      </p:nvGrpSpPr>
      <p:grpSpPr>
        <a:xfrm>
          <a:off x="0" y="0"/>
          <a:ext cx="0" cy="0"/>
          <a:chOff x="0" y="0"/>
          <a:chExt cx="0" cy="0"/>
        </a:xfrm>
      </p:grpSpPr>
      <p:sp>
        <p:nvSpPr>
          <p:cNvPr id="2724" name="Google Shape;2724;p2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Solution (contd)</a:t>
            </a:r>
            <a:endParaRPr/>
          </a:p>
        </p:txBody>
      </p:sp>
      <p:sp>
        <p:nvSpPr>
          <p:cNvPr id="2725" name="Google Shape;2725;p21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26" name="Google Shape;2726;p2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b="1" lang="en" sz="1600">
                <a:solidFill>
                  <a:schemeClr val="lt1"/>
                </a:solidFill>
              </a:rPr>
              <a:t>3. We need to find:</a:t>
            </a:r>
            <a:r>
              <a:rPr lang="en" sz="1600">
                <a:solidFill>
                  <a:schemeClr val="lt1"/>
                </a:solidFill>
              </a:rPr>
              <a:t> P(M₂ | D), the probability of event M₂ (bolt from machine M₂) happening given that we already know event D (defective bolt) has occurred.</a:t>
            </a:r>
            <a:endParaRPr sz="1600">
              <a:solidFill>
                <a:schemeClr val="lt1"/>
              </a:solidFill>
            </a:endParaRPr>
          </a:p>
          <a:p>
            <a:pPr indent="0" lvl="0" marL="0" rtl="0" algn="l">
              <a:lnSpc>
                <a:spcPct val="115000"/>
              </a:lnSpc>
              <a:spcBef>
                <a:spcPts val="1200"/>
              </a:spcBef>
              <a:spcAft>
                <a:spcPts val="0"/>
              </a:spcAft>
              <a:buSzPts val="1800"/>
              <a:buNone/>
            </a:pPr>
            <a:r>
              <a:rPr b="1" lang="en" sz="1600">
                <a:solidFill>
                  <a:schemeClr val="lt1"/>
                </a:solidFill>
              </a:rPr>
              <a:t>4. Apply Bayes' Theorem:</a:t>
            </a:r>
            <a:endParaRPr b="1"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This theorem allows us to calculate the conditional probability P(M₂ | D).</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P(M₂ | D) = (P(D | M₂) * P(M₂)) / P(D)</a:t>
            </a:r>
            <a:endParaRPr sz="1600">
              <a:solidFill>
                <a:schemeClr val="lt1"/>
              </a:solidFill>
            </a:endParaRPr>
          </a:p>
          <a:p>
            <a:pPr indent="0" lvl="0" marL="0" rtl="0" algn="l">
              <a:lnSpc>
                <a:spcPct val="115000"/>
              </a:lnSpc>
              <a:spcBef>
                <a:spcPts val="1200"/>
              </a:spcBef>
              <a:spcAft>
                <a:spcPts val="1200"/>
              </a:spcAft>
              <a:buSzPts val="1800"/>
              <a:buNone/>
            </a:pPr>
            <a:r>
              <a:t/>
            </a:r>
            <a:endParaRPr sz="1600">
              <a:solidFill>
                <a:schemeClr val="lt1"/>
              </a:solidFill>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0" name="Shape 2730"/>
        <p:cNvGrpSpPr/>
        <p:nvPr/>
      </p:nvGrpSpPr>
      <p:grpSpPr>
        <a:xfrm>
          <a:off x="0" y="0"/>
          <a:ext cx="0" cy="0"/>
          <a:chOff x="0" y="0"/>
          <a:chExt cx="0" cy="0"/>
        </a:xfrm>
      </p:grpSpPr>
      <p:sp>
        <p:nvSpPr>
          <p:cNvPr id="2731" name="Google Shape;2731;p2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Solution (contd)</a:t>
            </a:r>
            <a:endParaRPr/>
          </a:p>
        </p:txBody>
      </p:sp>
      <p:sp>
        <p:nvSpPr>
          <p:cNvPr id="2732" name="Google Shape;2732;p214"/>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33" name="Google Shape;2733;p214"/>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50">
                <a:solidFill>
                  <a:schemeClr val="lt1"/>
                </a:solidFill>
              </a:rPr>
              <a:t>5. Breakdown of the terms:</a:t>
            </a:r>
            <a:endParaRPr b="1" sz="1550">
              <a:solidFill>
                <a:schemeClr val="lt1"/>
              </a:solidFill>
            </a:endParaRPr>
          </a:p>
          <a:p>
            <a:pPr indent="-327025" lvl="0" marL="457200" rtl="0" algn="l">
              <a:lnSpc>
                <a:spcPct val="115000"/>
              </a:lnSpc>
              <a:spcBef>
                <a:spcPts val="1200"/>
              </a:spcBef>
              <a:spcAft>
                <a:spcPts val="0"/>
              </a:spcAft>
              <a:buClr>
                <a:schemeClr val="lt1"/>
              </a:buClr>
              <a:buSzPts val="1550"/>
              <a:buFont typeface="Arial"/>
              <a:buChar char="●"/>
            </a:pPr>
            <a:r>
              <a:rPr b="1" lang="en" sz="1550">
                <a:solidFill>
                  <a:schemeClr val="lt1"/>
                </a:solidFill>
              </a:rPr>
              <a:t>P(D | M₂):</a:t>
            </a:r>
            <a:r>
              <a:rPr lang="en" sz="1550">
                <a:solidFill>
                  <a:schemeClr val="lt1"/>
                </a:solidFill>
              </a:rPr>
              <a:t> Probability of a bolt being defective given it was produced by machine M₂. This is the defect rate for M₂, which is 4%. We can convert this percentage to a probability by dividing by 100: P(D | M₂) = 4% = 4/100 = 0.04</a:t>
            </a:r>
            <a:endParaRPr sz="1550">
              <a:solidFill>
                <a:schemeClr val="lt1"/>
              </a:solidFill>
            </a:endParaRPr>
          </a:p>
          <a:p>
            <a:pPr indent="-327025" lvl="0" marL="457200" rtl="0" algn="l">
              <a:lnSpc>
                <a:spcPct val="115000"/>
              </a:lnSpc>
              <a:spcBef>
                <a:spcPts val="0"/>
              </a:spcBef>
              <a:spcAft>
                <a:spcPts val="0"/>
              </a:spcAft>
              <a:buClr>
                <a:schemeClr val="lt1"/>
              </a:buClr>
              <a:buSzPts val="1550"/>
              <a:buFont typeface="Arial"/>
              <a:buChar char="●"/>
            </a:pPr>
            <a:r>
              <a:rPr b="1" lang="en" sz="1550">
                <a:solidFill>
                  <a:schemeClr val="lt1"/>
                </a:solidFill>
              </a:rPr>
              <a:t>P(M₂):</a:t>
            </a:r>
            <a:r>
              <a:rPr lang="en" sz="1550">
                <a:solidFill>
                  <a:schemeClr val="lt1"/>
                </a:solidFill>
              </a:rPr>
              <a:t> Probability that a bolt is produced by machine M₂. This is the proportion of bolts produced by M₂ out of the total production: P(M₂) = Number of bolts from M₂ / Total bolts = 2500 bolts / (2000 + 2500 + 4000) = 0.25</a:t>
            </a:r>
            <a:endParaRPr sz="1550">
              <a:solidFill>
                <a:schemeClr val="lt1"/>
              </a:solidFill>
            </a:endParaRPr>
          </a:p>
          <a:p>
            <a:pPr indent="-327025" lvl="0" marL="457200" rtl="0" algn="l">
              <a:lnSpc>
                <a:spcPct val="115000"/>
              </a:lnSpc>
              <a:spcBef>
                <a:spcPts val="0"/>
              </a:spcBef>
              <a:spcAft>
                <a:spcPts val="0"/>
              </a:spcAft>
              <a:buClr>
                <a:schemeClr val="lt1"/>
              </a:buClr>
              <a:buSzPts val="1550"/>
              <a:buFont typeface="Arial"/>
              <a:buChar char="●"/>
            </a:pPr>
            <a:r>
              <a:rPr b="1" lang="en" sz="1550">
                <a:solidFill>
                  <a:schemeClr val="lt1"/>
                </a:solidFill>
              </a:rPr>
              <a:t>P(D):</a:t>
            </a:r>
            <a:r>
              <a:rPr lang="en" sz="1550">
                <a:solidFill>
                  <a:schemeClr val="lt1"/>
                </a:solidFill>
              </a:rPr>
              <a:t> Probability of drawing a defective bolt. To calculate this, we need to consider the probability of a defective bolt from each machine weighted by their production proportions:</a:t>
            </a:r>
            <a:endParaRPr sz="155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en" sz="1550">
                <a:solidFill>
                  <a:schemeClr val="lt1"/>
                </a:solidFill>
              </a:rPr>
              <a:t>P(D) = (P(D | M₁) * P(M₁)) + (P(D | M₂) * P(M₂)) + (P(D | M₃) * P(M₃))</a:t>
            </a:r>
            <a:endParaRPr b="1" sz="1550">
              <a:solidFill>
                <a:schemeClr val="lt1"/>
              </a:solidFill>
            </a:endParaRPr>
          </a:p>
          <a:p>
            <a:pPr indent="-327025" lvl="0" marL="457200" rtl="0" algn="l">
              <a:lnSpc>
                <a:spcPct val="115000"/>
              </a:lnSpc>
              <a:spcBef>
                <a:spcPts val="1200"/>
              </a:spcBef>
              <a:spcAft>
                <a:spcPts val="0"/>
              </a:spcAft>
              <a:buClr>
                <a:schemeClr val="lt1"/>
              </a:buClr>
              <a:buSzPts val="1550"/>
              <a:buFont typeface="Fira Sans"/>
              <a:buChar char="●"/>
            </a:pPr>
            <a:r>
              <a:rPr lang="en" sz="1550">
                <a:solidFill>
                  <a:schemeClr val="lt1"/>
                </a:solidFill>
              </a:rPr>
              <a:t>P(D | M₁): Defect rate for M₁ (3%) = 0.03</a:t>
            </a:r>
            <a:endParaRPr sz="1550">
              <a:solidFill>
                <a:schemeClr val="lt1"/>
              </a:solidFill>
            </a:endParaRPr>
          </a:p>
          <a:p>
            <a:pPr indent="-327025" lvl="0" marL="457200" rtl="0" algn="l">
              <a:lnSpc>
                <a:spcPct val="115000"/>
              </a:lnSpc>
              <a:spcBef>
                <a:spcPts val="0"/>
              </a:spcBef>
              <a:spcAft>
                <a:spcPts val="0"/>
              </a:spcAft>
              <a:buClr>
                <a:schemeClr val="lt1"/>
              </a:buClr>
              <a:buSzPts val="1550"/>
              <a:buFont typeface="Fira Sans"/>
              <a:buChar char="●"/>
            </a:pPr>
            <a:r>
              <a:rPr lang="en" sz="1550">
                <a:solidFill>
                  <a:schemeClr val="lt1"/>
                </a:solidFill>
              </a:rPr>
              <a:t>P(D | M₃): Defect rate for M₃ (2.5%) = 0.025</a:t>
            </a:r>
            <a:endParaRPr b="1" sz="1550">
              <a:solidFill>
                <a:schemeClr val="lt1"/>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sp>
        <p:nvSpPr>
          <p:cNvPr id="2738" name="Google Shape;2738;p2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Solution (contd)</a:t>
            </a:r>
            <a:endParaRPr/>
          </a:p>
        </p:txBody>
      </p:sp>
      <p:sp>
        <p:nvSpPr>
          <p:cNvPr id="2739" name="Google Shape;2739;p21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40" name="Google Shape;2740;p215"/>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sz="1600">
                <a:solidFill>
                  <a:schemeClr val="lt1"/>
                </a:solidFill>
              </a:rPr>
              <a:t>6. Calculate P(D):</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P(D) = (0.03 * 0.2) + (0.04 * 0.25) + (0.025 * 0.4) = 0.006 + 0.01 + 0.01 = 0.026</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7. Now we have all the terms for Bayes' Theorem:</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P(M₂ | D) = (0.04 * 0.25) / 0.026</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8. Calculate P(M₂ | D):</a:t>
            </a:r>
            <a:endParaRPr sz="1600">
              <a:solidFill>
                <a:schemeClr val="lt1"/>
              </a:solidFill>
            </a:endParaRPr>
          </a:p>
          <a:p>
            <a:pPr indent="0" lvl="0" marL="0" rtl="0" algn="l">
              <a:lnSpc>
                <a:spcPct val="115000"/>
              </a:lnSpc>
              <a:spcBef>
                <a:spcPts val="1200"/>
              </a:spcBef>
              <a:spcAft>
                <a:spcPts val="0"/>
              </a:spcAft>
              <a:buSzPts val="1800"/>
              <a:buNone/>
            </a:pPr>
            <a:r>
              <a:rPr lang="en" sz="1600">
                <a:solidFill>
                  <a:schemeClr val="lt1"/>
                </a:solidFill>
              </a:rPr>
              <a:t>P(M₂ | D) ≈ 0.3846 (rounded to four decimal places)</a:t>
            </a:r>
            <a:endParaRPr sz="1600">
              <a:solidFill>
                <a:schemeClr val="lt1"/>
              </a:solidFill>
            </a:endParaRPr>
          </a:p>
          <a:p>
            <a:pPr indent="0" lvl="0" marL="0" rtl="0" algn="l">
              <a:lnSpc>
                <a:spcPct val="115000"/>
              </a:lnSpc>
              <a:spcBef>
                <a:spcPts val="1200"/>
              </a:spcBef>
              <a:spcAft>
                <a:spcPts val="0"/>
              </a:spcAft>
              <a:buSzPts val="1800"/>
              <a:buNone/>
            </a:pPr>
            <a:r>
              <a:rPr b="1" i="1" lang="en" sz="1600">
                <a:solidFill>
                  <a:srgbClr val="00FFFF"/>
                </a:solidFill>
              </a:rPr>
              <a:t>Therefore, the probability that the defective bolt came from machine M₂ is approximately 38.46%</a:t>
            </a:r>
            <a:r>
              <a:rPr b="1" i="1" lang="en" sz="1600">
                <a:solidFill>
                  <a:schemeClr val="lt1"/>
                </a:solidFill>
              </a:rPr>
              <a:t>.</a:t>
            </a:r>
            <a:endParaRPr b="1" i="1" sz="1600">
              <a:solidFill>
                <a:schemeClr val="lt1"/>
              </a:solidFill>
            </a:endParaRPr>
          </a:p>
          <a:p>
            <a:pPr indent="0" lvl="0" marL="0" rtl="0" algn="l">
              <a:lnSpc>
                <a:spcPct val="115000"/>
              </a:lnSpc>
              <a:spcBef>
                <a:spcPts val="1200"/>
              </a:spcBef>
              <a:spcAft>
                <a:spcPts val="1200"/>
              </a:spcAft>
              <a:buSzPts val="1800"/>
              <a:buNone/>
            </a:pPr>
            <a:r>
              <a:t/>
            </a:r>
            <a:endParaRPr sz="1600">
              <a:solidFill>
                <a:schemeClr val="lt1"/>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4" name="Shape 2744"/>
        <p:cNvGrpSpPr/>
        <p:nvPr/>
      </p:nvGrpSpPr>
      <p:grpSpPr>
        <a:xfrm>
          <a:off x="0" y="0"/>
          <a:ext cx="0" cy="0"/>
          <a:chOff x="0" y="0"/>
          <a:chExt cx="0" cy="0"/>
        </a:xfrm>
      </p:grpSpPr>
      <p:sp>
        <p:nvSpPr>
          <p:cNvPr id="2745" name="Google Shape;2745;p2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How is frequentist probability different from Bayesian probability?</a:t>
            </a:r>
            <a:endParaRPr>
              <a:solidFill>
                <a:srgbClr val="3896D2"/>
              </a:solidFill>
              <a:latin typeface="Fira Sans"/>
              <a:ea typeface="Fira Sans"/>
              <a:cs typeface="Fira Sans"/>
              <a:sym typeface="Fira Sans"/>
            </a:endParaRPr>
          </a:p>
        </p:txBody>
      </p:sp>
      <p:sp>
        <p:nvSpPr>
          <p:cNvPr id="2746" name="Google Shape;2746;p21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2747" name="Google Shape;2747;p216"/>
          <p:cNvSpPr txBox="1"/>
          <p:nvPr>
            <p:ph idx="1" type="body"/>
          </p:nvPr>
        </p:nvSpPr>
        <p:spPr>
          <a:xfrm>
            <a:off x="311700" y="1188300"/>
            <a:ext cx="8520600" cy="356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sz="1600">
              <a:solidFill>
                <a:schemeClr val="lt1"/>
              </a:solidFill>
            </a:endParaRPr>
          </a:p>
          <a:p>
            <a:pPr indent="-330200" lvl="0" marL="457200" rtl="0" algn="l">
              <a:lnSpc>
                <a:spcPct val="115000"/>
              </a:lnSpc>
              <a:spcBef>
                <a:spcPts val="1200"/>
              </a:spcBef>
              <a:spcAft>
                <a:spcPts val="0"/>
              </a:spcAft>
              <a:buClr>
                <a:schemeClr val="lt1"/>
              </a:buClr>
              <a:buSzPts val="1600"/>
              <a:buChar char="●"/>
            </a:pPr>
            <a:r>
              <a:rPr lang="en" sz="1600">
                <a:solidFill>
                  <a:srgbClr val="00FFFF"/>
                </a:solidFill>
              </a:rPr>
              <a:t>Frequentist statistics</a:t>
            </a:r>
            <a:r>
              <a:rPr lang="en" sz="1600">
                <a:solidFill>
                  <a:schemeClr val="lt1"/>
                </a:solidFill>
              </a:rPr>
              <a:t> never uses or calculates the probability of the hypothesis, while </a:t>
            </a:r>
            <a:r>
              <a:rPr lang="en" sz="1600">
                <a:solidFill>
                  <a:srgbClr val="00FFFF"/>
                </a:solidFill>
              </a:rPr>
              <a:t>Bayesian</a:t>
            </a:r>
            <a:r>
              <a:rPr lang="en" sz="1600">
                <a:solidFill>
                  <a:schemeClr val="lt1"/>
                </a:solidFill>
              </a:rPr>
              <a:t> uses probabilities of data and probabilities of both hypothesis. </a:t>
            </a:r>
            <a:endParaRPr sz="1600">
              <a:solidFill>
                <a:schemeClr val="lt1"/>
              </a:solidFill>
            </a:endParaRPr>
          </a:p>
          <a:p>
            <a:pPr indent="0" lvl="0" marL="457200" rtl="0" algn="l">
              <a:lnSpc>
                <a:spcPct val="115000"/>
              </a:lnSpc>
              <a:spcBef>
                <a:spcPts val="1200"/>
              </a:spcBef>
              <a:spcAft>
                <a:spcPts val="0"/>
              </a:spcAft>
              <a:buSzPts val="1800"/>
              <a:buNone/>
            </a:pPr>
            <a:r>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rgbClr val="00FFFF"/>
                </a:solidFill>
              </a:rPr>
              <a:t>Frequentist methods</a:t>
            </a:r>
            <a:r>
              <a:rPr lang="en" sz="1600">
                <a:solidFill>
                  <a:schemeClr val="lt1"/>
                </a:solidFill>
              </a:rPr>
              <a:t> do not demand construction of a prior and depend on the probabilities of observed and unobserved data.</a:t>
            </a:r>
            <a:endParaRPr sz="1600">
              <a:solidFill>
                <a:schemeClr val="lt1"/>
              </a:solidFill>
            </a:endParaRPr>
          </a:p>
          <a:p>
            <a:pPr indent="0" lvl="0" marL="457200" rtl="0" algn="l">
              <a:lnSpc>
                <a:spcPct val="115000"/>
              </a:lnSpc>
              <a:spcBef>
                <a:spcPts val="0"/>
              </a:spcBef>
              <a:spcAft>
                <a:spcPts val="0"/>
              </a:spcAft>
              <a:buSzPts val="1800"/>
              <a:buNone/>
            </a:pPr>
            <a:r>
              <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In summary, the difference is that, </a:t>
            </a:r>
            <a:r>
              <a:rPr b="1" i="1" lang="en" sz="1600">
                <a:solidFill>
                  <a:srgbClr val="00FFFF"/>
                </a:solidFill>
              </a:rPr>
              <a:t>in the Bayesian view, a probability is assigned to a hypothesis.</a:t>
            </a:r>
            <a:r>
              <a:rPr i="1" lang="en" sz="1600">
                <a:solidFill>
                  <a:srgbClr val="00FFFF"/>
                </a:solidFill>
              </a:rPr>
              <a:t> </a:t>
            </a:r>
            <a:r>
              <a:rPr b="1" i="1" lang="en" sz="1600">
                <a:solidFill>
                  <a:srgbClr val="00FFFF"/>
                </a:solidFill>
              </a:rPr>
              <a:t>In the frequentist view, a hypothesis is tested without being assigned a probability</a:t>
            </a:r>
            <a:r>
              <a:rPr i="1" lang="en" sz="1600">
                <a:solidFill>
                  <a:srgbClr val="00FFFF"/>
                </a:solidFill>
              </a:rPr>
              <a:t>.</a:t>
            </a:r>
            <a:endParaRPr i="1" sz="1600">
              <a:solidFill>
                <a:srgbClr val="00FFFF"/>
              </a:solidFill>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1" name="Shape 2751"/>
        <p:cNvGrpSpPr/>
        <p:nvPr/>
      </p:nvGrpSpPr>
      <p:grpSpPr>
        <a:xfrm>
          <a:off x="0" y="0"/>
          <a:ext cx="0" cy="0"/>
          <a:chOff x="0" y="0"/>
          <a:chExt cx="0" cy="0"/>
        </a:xfrm>
      </p:grpSpPr>
      <p:sp>
        <p:nvSpPr>
          <p:cNvPr id="2752" name="Google Shape;2752;p2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a:t>
            </a:r>
            <a:endParaRPr/>
          </a:p>
        </p:txBody>
      </p:sp>
      <p:sp>
        <p:nvSpPr>
          <p:cNvPr id="2753" name="Google Shape;2753;p217"/>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grpSp>
        <p:nvGrpSpPr>
          <p:cNvPr id="2754" name="Google Shape;2754;p217"/>
          <p:cNvGrpSpPr/>
          <p:nvPr/>
        </p:nvGrpSpPr>
        <p:grpSpPr>
          <a:xfrm>
            <a:off x="384014" y="1103700"/>
            <a:ext cx="8448205" cy="671133"/>
            <a:chOff x="1037539" y="1103713"/>
            <a:chExt cx="7069036" cy="671133"/>
          </a:xfrm>
        </p:grpSpPr>
        <p:sp>
          <p:nvSpPr>
            <p:cNvPr id="2755" name="Google Shape;2755;p217"/>
            <p:cNvSpPr/>
            <p:nvPr/>
          </p:nvSpPr>
          <p:spPr>
            <a:xfrm>
              <a:off x="1037539" y="1103879"/>
              <a:ext cx="1310700" cy="6708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56" name="Google Shape;2756;p217"/>
            <p:cNvGrpSpPr/>
            <p:nvPr/>
          </p:nvGrpSpPr>
          <p:grpSpPr>
            <a:xfrm>
              <a:off x="2081001" y="1103713"/>
              <a:ext cx="6025460" cy="671133"/>
              <a:chOff x="2189480" y="2153920"/>
              <a:chExt cx="7213528" cy="1137900"/>
            </a:xfrm>
          </p:grpSpPr>
          <p:sp>
            <p:nvSpPr>
              <p:cNvPr id="2757" name="Google Shape;2757;p217"/>
              <p:cNvSpPr/>
              <p:nvPr/>
            </p:nvSpPr>
            <p:spPr>
              <a:xfrm>
                <a:off x="2189480" y="2153920"/>
                <a:ext cx="7173000" cy="11379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758" name="Google Shape;2758;p217"/>
              <p:cNvSpPr/>
              <p:nvPr/>
            </p:nvSpPr>
            <p:spPr>
              <a:xfrm>
                <a:off x="7779408" y="2153920"/>
                <a:ext cx="1623600" cy="1137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759" name="Google Shape;2759;p217"/>
            <p:cNvSpPr txBox="1"/>
            <p:nvPr/>
          </p:nvSpPr>
          <p:spPr>
            <a:xfrm>
              <a:off x="2514575" y="1261229"/>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What is Bayesian probability and its importance</a:t>
              </a:r>
              <a:endParaRPr b="0" i="0" sz="1400" u="none" cap="none" strike="noStrike">
                <a:solidFill>
                  <a:srgbClr val="FFFFFF"/>
                </a:solidFill>
                <a:latin typeface="Roboto"/>
                <a:ea typeface="Roboto"/>
                <a:cs typeface="Roboto"/>
                <a:sym typeface="Roboto"/>
              </a:endParaRPr>
            </a:p>
          </p:txBody>
        </p:sp>
        <p:sp>
          <p:nvSpPr>
            <p:cNvPr id="2760" name="Google Shape;2760;p217"/>
            <p:cNvSpPr txBox="1"/>
            <p:nvPr/>
          </p:nvSpPr>
          <p:spPr>
            <a:xfrm>
              <a:off x="1365589" y="1212925"/>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01</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761" name="Google Shape;2761;p217"/>
          <p:cNvGrpSpPr/>
          <p:nvPr/>
        </p:nvGrpSpPr>
        <p:grpSpPr>
          <a:xfrm>
            <a:off x="384014" y="1842505"/>
            <a:ext cx="8448205" cy="671133"/>
            <a:chOff x="1037539" y="1842517"/>
            <a:chExt cx="7069036" cy="671133"/>
          </a:xfrm>
        </p:grpSpPr>
        <p:sp>
          <p:nvSpPr>
            <p:cNvPr id="2762" name="Google Shape;2762;p217"/>
            <p:cNvSpPr/>
            <p:nvPr/>
          </p:nvSpPr>
          <p:spPr>
            <a:xfrm>
              <a:off x="1037539" y="1842683"/>
              <a:ext cx="1310700" cy="670800"/>
            </a:xfrm>
            <a:prstGeom prst="homePlate">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63" name="Google Shape;2763;p217"/>
            <p:cNvGrpSpPr/>
            <p:nvPr/>
          </p:nvGrpSpPr>
          <p:grpSpPr>
            <a:xfrm>
              <a:off x="2081001" y="1842517"/>
              <a:ext cx="6025460" cy="671133"/>
              <a:chOff x="2189480" y="2153920"/>
              <a:chExt cx="7213528" cy="1137900"/>
            </a:xfrm>
          </p:grpSpPr>
          <p:sp>
            <p:nvSpPr>
              <p:cNvPr id="2764" name="Google Shape;2764;p217"/>
              <p:cNvSpPr/>
              <p:nvPr/>
            </p:nvSpPr>
            <p:spPr>
              <a:xfrm>
                <a:off x="2189480" y="2153920"/>
                <a:ext cx="7173000" cy="1137900"/>
              </a:xfrm>
              <a:prstGeom prst="chevron">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765" name="Google Shape;2765;p217"/>
              <p:cNvSpPr/>
              <p:nvPr/>
            </p:nvSpPr>
            <p:spPr>
              <a:xfrm>
                <a:off x="7779408" y="2153920"/>
                <a:ext cx="1623600" cy="1137900"/>
              </a:xfrm>
              <a:prstGeom prst="rect">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766" name="Google Shape;2766;p217"/>
            <p:cNvSpPr txBox="1"/>
            <p:nvPr/>
          </p:nvSpPr>
          <p:spPr>
            <a:xfrm>
              <a:off x="2514575" y="2000033"/>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The concepts of apriori and posteriori which are typically events before the actual event or post the event</a:t>
              </a:r>
              <a:endParaRPr b="0" i="0" sz="1400" u="none" cap="none" strike="noStrike">
                <a:solidFill>
                  <a:srgbClr val="FFFFFF"/>
                </a:solidFill>
                <a:latin typeface="Roboto"/>
                <a:ea typeface="Roboto"/>
                <a:cs typeface="Roboto"/>
                <a:sym typeface="Roboto"/>
              </a:endParaRPr>
            </a:p>
          </p:txBody>
        </p:sp>
        <p:sp>
          <p:nvSpPr>
            <p:cNvPr id="2767" name="Google Shape;2767;p217"/>
            <p:cNvSpPr txBox="1"/>
            <p:nvPr/>
          </p:nvSpPr>
          <p:spPr>
            <a:xfrm>
              <a:off x="1365600" y="1951733"/>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02</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768" name="Google Shape;2768;p217"/>
          <p:cNvGrpSpPr/>
          <p:nvPr/>
        </p:nvGrpSpPr>
        <p:grpSpPr>
          <a:xfrm>
            <a:off x="384014" y="2581307"/>
            <a:ext cx="8448069" cy="671133"/>
            <a:chOff x="1037539" y="2581320"/>
            <a:chExt cx="7068922" cy="671133"/>
          </a:xfrm>
        </p:grpSpPr>
        <p:sp>
          <p:nvSpPr>
            <p:cNvPr id="2769" name="Google Shape;2769;p217"/>
            <p:cNvSpPr/>
            <p:nvPr/>
          </p:nvSpPr>
          <p:spPr>
            <a:xfrm>
              <a:off x="1037539" y="2581486"/>
              <a:ext cx="1310700" cy="670800"/>
            </a:xfrm>
            <a:prstGeom prst="homePlate">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70" name="Google Shape;2770;p217"/>
            <p:cNvGrpSpPr/>
            <p:nvPr/>
          </p:nvGrpSpPr>
          <p:grpSpPr>
            <a:xfrm>
              <a:off x="2081001" y="2581320"/>
              <a:ext cx="6025460" cy="671133"/>
              <a:chOff x="2189480" y="2153920"/>
              <a:chExt cx="7213528" cy="1137900"/>
            </a:xfrm>
          </p:grpSpPr>
          <p:sp>
            <p:nvSpPr>
              <p:cNvPr id="2771" name="Google Shape;2771;p217"/>
              <p:cNvSpPr/>
              <p:nvPr/>
            </p:nvSpPr>
            <p:spPr>
              <a:xfrm>
                <a:off x="2189480" y="2153920"/>
                <a:ext cx="7173000" cy="1137900"/>
              </a:xfrm>
              <a:prstGeom prst="chevron">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772" name="Google Shape;2772;p217"/>
              <p:cNvSpPr/>
              <p:nvPr/>
            </p:nvSpPr>
            <p:spPr>
              <a:xfrm>
                <a:off x="7779408" y="2153920"/>
                <a:ext cx="1623600" cy="1137900"/>
              </a:xfrm>
              <a:prstGeom prst="rect">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773" name="Google Shape;2773;p217"/>
            <p:cNvSpPr txBox="1"/>
            <p:nvPr/>
          </p:nvSpPr>
          <p:spPr>
            <a:xfrm flipH="1">
              <a:off x="2514450" y="2738836"/>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Expand the concept using total probability</a:t>
              </a:r>
              <a:endParaRPr b="0" i="0" sz="1400" u="none" cap="none" strike="noStrike">
                <a:solidFill>
                  <a:srgbClr val="FFFFFF"/>
                </a:solidFill>
                <a:latin typeface="Roboto"/>
                <a:ea typeface="Roboto"/>
                <a:cs typeface="Roboto"/>
                <a:sym typeface="Roboto"/>
              </a:endParaRPr>
            </a:p>
          </p:txBody>
        </p:sp>
        <p:sp>
          <p:nvSpPr>
            <p:cNvPr id="2774" name="Google Shape;2774;p217"/>
            <p:cNvSpPr txBox="1"/>
            <p:nvPr/>
          </p:nvSpPr>
          <p:spPr>
            <a:xfrm>
              <a:off x="1365600" y="2690536"/>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03</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775" name="Google Shape;2775;p217"/>
          <p:cNvGrpSpPr/>
          <p:nvPr/>
        </p:nvGrpSpPr>
        <p:grpSpPr>
          <a:xfrm>
            <a:off x="384014" y="3320112"/>
            <a:ext cx="8448069" cy="671133"/>
            <a:chOff x="1037539" y="3320124"/>
            <a:chExt cx="7068922" cy="671133"/>
          </a:xfrm>
        </p:grpSpPr>
        <p:sp>
          <p:nvSpPr>
            <p:cNvPr id="2776" name="Google Shape;2776;p217"/>
            <p:cNvSpPr/>
            <p:nvPr/>
          </p:nvSpPr>
          <p:spPr>
            <a:xfrm>
              <a:off x="1037539" y="3320290"/>
              <a:ext cx="1310700" cy="670800"/>
            </a:xfrm>
            <a:prstGeom prst="homePlate">
              <a:avLst>
                <a:gd fmla="val 50000" name="adj"/>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77" name="Google Shape;2777;p217"/>
            <p:cNvGrpSpPr/>
            <p:nvPr/>
          </p:nvGrpSpPr>
          <p:grpSpPr>
            <a:xfrm>
              <a:off x="2081001" y="3320124"/>
              <a:ext cx="6025460" cy="671133"/>
              <a:chOff x="2189480" y="2153920"/>
              <a:chExt cx="7213528" cy="1137900"/>
            </a:xfrm>
          </p:grpSpPr>
          <p:sp>
            <p:nvSpPr>
              <p:cNvPr id="2778" name="Google Shape;2778;p217"/>
              <p:cNvSpPr/>
              <p:nvPr/>
            </p:nvSpPr>
            <p:spPr>
              <a:xfrm>
                <a:off x="2189480" y="2153920"/>
                <a:ext cx="7173000" cy="1137900"/>
              </a:xfrm>
              <a:prstGeom prst="chevron">
                <a:avLst>
                  <a:gd fmla="val 50000" name="adj"/>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779" name="Google Shape;2779;p217"/>
              <p:cNvSpPr/>
              <p:nvPr/>
            </p:nvSpPr>
            <p:spPr>
              <a:xfrm>
                <a:off x="7779408" y="2153920"/>
                <a:ext cx="1623600" cy="1137900"/>
              </a:xfrm>
              <a:prstGeom prst="rect">
                <a:avLst/>
              </a:prstGeom>
              <a:solidFill>
                <a:srgbClr val="3A80B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780" name="Google Shape;2780;p217"/>
            <p:cNvSpPr txBox="1"/>
            <p:nvPr/>
          </p:nvSpPr>
          <p:spPr>
            <a:xfrm flipH="1">
              <a:off x="2514450" y="3477640"/>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Understanding Bayesian method using examples</a:t>
              </a:r>
              <a:endParaRPr b="0" i="0" sz="1400" u="none" cap="none" strike="noStrike">
                <a:solidFill>
                  <a:srgbClr val="FFFFFF"/>
                </a:solidFill>
                <a:latin typeface="Roboto"/>
                <a:ea typeface="Roboto"/>
                <a:cs typeface="Roboto"/>
                <a:sym typeface="Roboto"/>
              </a:endParaRPr>
            </a:p>
          </p:txBody>
        </p:sp>
        <p:sp>
          <p:nvSpPr>
            <p:cNvPr id="2781" name="Google Shape;2781;p217"/>
            <p:cNvSpPr txBox="1"/>
            <p:nvPr/>
          </p:nvSpPr>
          <p:spPr>
            <a:xfrm>
              <a:off x="1365600" y="3429340"/>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04</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5" name="Shape 2785"/>
        <p:cNvGrpSpPr/>
        <p:nvPr/>
      </p:nvGrpSpPr>
      <p:grpSpPr>
        <a:xfrm>
          <a:off x="0" y="0"/>
          <a:ext cx="0" cy="0"/>
          <a:chOff x="0" y="0"/>
          <a:chExt cx="0" cy="0"/>
        </a:xfrm>
      </p:grpSpPr>
      <p:sp>
        <p:nvSpPr>
          <p:cNvPr id="2786" name="Google Shape;2786;p218"/>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b="1" lang="en" sz="5000">
                <a:solidFill>
                  <a:srgbClr val="3896D2"/>
                </a:solidFill>
                <a:latin typeface="Fira Sans"/>
                <a:ea typeface="Fira Sans"/>
                <a:cs typeface="Fira Sans"/>
                <a:sym typeface="Fira Sans"/>
              </a:rPr>
              <a:t>Transitional Probability</a:t>
            </a:r>
            <a:endParaRPr b="1" sz="5000">
              <a:solidFill>
                <a:srgbClr val="3896D2"/>
              </a:solidFill>
              <a:latin typeface="Fira Sans"/>
              <a:ea typeface="Fira Sans"/>
              <a:cs typeface="Fira Sans"/>
              <a:sym typeface="Fira Sans"/>
            </a:endParaRPr>
          </a:p>
        </p:txBody>
      </p:sp>
      <p:sp>
        <p:nvSpPr>
          <p:cNvPr id="2787" name="Google Shape;2787;p21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1" name="Shape 2791"/>
        <p:cNvGrpSpPr/>
        <p:nvPr/>
      </p:nvGrpSpPr>
      <p:grpSpPr>
        <a:xfrm>
          <a:off x="0" y="0"/>
          <a:ext cx="0" cy="0"/>
          <a:chOff x="0" y="0"/>
          <a:chExt cx="0" cy="0"/>
        </a:xfrm>
      </p:grpSpPr>
      <p:sp>
        <p:nvSpPr>
          <p:cNvPr id="2792" name="Google Shape;2792;p2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Introduction</a:t>
            </a:r>
            <a:endParaRPr>
              <a:solidFill>
                <a:srgbClr val="3896D2"/>
              </a:solidFill>
              <a:latin typeface="Fira Sans"/>
              <a:ea typeface="Fira Sans"/>
              <a:cs typeface="Fira Sans"/>
              <a:sym typeface="Fira Sans"/>
            </a:endParaRPr>
          </a:p>
        </p:txBody>
      </p:sp>
      <p:sp>
        <p:nvSpPr>
          <p:cNvPr id="2793" name="Google Shape;2793;p2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Transition probability unlike Bayesian probability which is conditional, is transitional and is estimation of probability from moving from one state to another</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It essentially tells you what is probability for a transition or a situation</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There are some key pointers viz, States and transitions</a:t>
            </a:r>
            <a:endParaRPr sz="1600"/>
          </a:p>
        </p:txBody>
      </p:sp>
      <p:sp>
        <p:nvSpPr>
          <p:cNvPr id="2794" name="Google Shape;2794;p21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795" name="Google Shape;2795;p219"/>
          <p:cNvPicPr preferRelativeResize="0"/>
          <p:nvPr/>
        </p:nvPicPr>
        <p:blipFill rotWithShape="1">
          <a:blip r:embed="rId3">
            <a:alphaModFix/>
          </a:blip>
          <a:srcRect b="0" l="0" r="0" t="0"/>
          <a:stretch/>
        </p:blipFill>
        <p:spPr>
          <a:xfrm>
            <a:off x="2116325" y="2665500"/>
            <a:ext cx="4473774" cy="239762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2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Key Concepts</a:t>
            </a:r>
            <a:endParaRPr>
              <a:solidFill>
                <a:srgbClr val="3896D2"/>
              </a:solidFill>
              <a:latin typeface="Fira Sans"/>
              <a:ea typeface="Fira Sans"/>
              <a:cs typeface="Fira Sans"/>
              <a:sym typeface="Fira Sans"/>
            </a:endParaRPr>
          </a:p>
        </p:txBody>
      </p:sp>
      <p:sp>
        <p:nvSpPr>
          <p:cNvPr id="2801" name="Google Shape;2801;p2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0" marL="444500" rtl="0" algn="l">
              <a:lnSpc>
                <a:spcPct val="150000"/>
              </a:lnSpc>
              <a:spcBef>
                <a:spcPts val="0"/>
              </a:spcBef>
              <a:spcAft>
                <a:spcPts val="0"/>
              </a:spcAft>
              <a:buClr>
                <a:schemeClr val="lt1"/>
              </a:buClr>
              <a:buSzPts val="1600"/>
              <a:buFont typeface="Arial"/>
              <a:buChar char="•"/>
            </a:pPr>
            <a:r>
              <a:rPr lang="en" sz="1600">
                <a:solidFill>
                  <a:srgbClr val="00FFFF"/>
                </a:solidFill>
              </a:rPr>
              <a:t>States:</a:t>
            </a:r>
            <a:r>
              <a:rPr lang="en" sz="1600">
                <a:solidFill>
                  <a:schemeClr val="lt1"/>
                </a:solidFill>
              </a:rPr>
              <a:t> A system can be in different conditions or situations, represented by these states. For example, the weather can be Sunny, Rainy, or Cloudy (states).</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rgbClr val="00FFFF"/>
                </a:solidFill>
              </a:rPr>
              <a:t>Transitions:</a:t>
            </a:r>
            <a:r>
              <a:rPr lang="en" sz="1600">
                <a:solidFill>
                  <a:schemeClr val="lt1"/>
                </a:solidFill>
              </a:rPr>
              <a:t> The system can move from one state to another over time. These movements are called transitions.</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rgbClr val="00FFFF"/>
                </a:solidFill>
              </a:rPr>
              <a:t>Probability:</a:t>
            </a:r>
            <a:r>
              <a:rPr lang="en" sz="1600">
                <a:solidFill>
                  <a:schemeClr val="lt1"/>
                </a:solidFill>
              </a:rPr>
              <a:t> Transition probability assigns a numerical value (between 0 and 1) to each possible transition, indicating how likely it is to occur.</a:t>
            </a:r>
            <a:endParaRPr sz="1600"/>
          </a:p>
          <a:p>
            <a:pPr indent="-215900" lvl="0" marL="444500" rtl="0" algn="l">
              <a:lnSpc>
                <a:spcPct val="150000"/>
              </a:lnSpc>
              <a:spcBef>
                <a:spcPts val="0"/>
              </a:spcBef>
              <a:spcAft>
                <a:spcPts val="0"/>
              </a:spcAft>
              <a:buClr>
                <a:schemeClr val="dk1"/>
              </a:buClr>
              <a:buSzPts val="2000"/>
              <a:buFont typeface="Arial"/>
              <a:buNone/>
            </a:pPr>
            <a:r>
              <a:t/>
            </a:r>
            <a:endParaRPr sz="1600"/>
          </a:p>
        </p:txBody>
      </p:sp>
      <p:sp>
        <p:nvSpPr>
          <p:cNvPr id="2802" name="Google Shape;2802;p220"/>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p2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Example</a:t>
            </a:r>
            <a:endParaRPr>
              <a:solidFill>
                <a:srgbClr val="3896D2"/>
              </a:solidFill>
              <a:latin typeface="Fira Sans"/>
              <a:ea typeface="Fira Sans"/>
              <a:cs typeface="Fira Sans"/>
              <a:sym typeface="Fira Sans"/>
            </a:endParaRPr>
          </a:p>
        </p:txBody>
      </p:sp>
      <p:sp>
        <p:nvSpPr>
          <p:cNvPr id="2808" name="Google Shape;2808;p2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Imagine a simple weather prediction model with three states: Sunny (S), Rainy (R), and Cloudy (C). The transition probabilities define the likelihood of moving between these states. Here's an example:</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P(S -&gt; R) = 0.3 (30% chance of rain following a sunny day)</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P(R -&gt; S) = 0.2 (20% chance of sunshine following a rainy day)</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P(C -&gt; S) = 0.4 (40% chance of sunshine following a cloudy day)</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(P represents probability)</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By knowing these </a:t>
            </a:r>
            <a:r>
              <a:rPr lang="en" sz="1600">
                <a:solidFill>
                  <a:srgbClr val="00FFFF"/>
                </a:solidFill>
              </a:rPr>
              <a:t>transition probabilities</a:t>
            </a:r>
            <a:r>
              <a:rPr lang="en" sz="1600">
                <a:solidFill>
                  <a:schemeClr val="lt1"/>
                </a:solidFill>
              </a:rPr>
              <a:t>, the model can predict the </a:t>
            </a:r>
            <a:r>
              <a:rPr lang="en" sz="1600">
                <a:solidFill>
                  <a:srgbClr val="00FFFF"/>
                </a:solidFill>
              </a:rPr>
              <a:t>likelihood of future weather conditions</a:t>
            </a:r>
            <a:r>
              <a:rPr lang="en" sz="1600">
                <a:solidFill>
                  <a:schemeClr val="lt1"/>
                </a:solidFill>
              </a:rPr>
              <a:t> based on the current state.</a:t>
            </a:r>
            <a:endParaRPr sz="1600"/>
          </a:p>
          <a:p>
            <a:pPr indent="-215900" lvl="0" marL="444500" rtl="0" algn="l">
              <a:lnSpc>
                <a:spcPct val="150000"/>
              </a:lnSpc>
              <a:spcBef>
                <a:spcPts val="0"/>
              </a:spcBef>
              <a:spcAft>
                <a:spcPts val="0"/>
              </a:spcAft>
              <a:buClr>
                <a:schemeClr val="dk1"/>
              </a:buClr>
              <a:buSzPts val="2000"/>
              <a:buFont typeface="Arial"/>
              <a:buNone/>
            </a:pPr>
            <a:r>
              <a:t/>
            </a:r>
            <a:endParaRPr sz="1600"/>
          </a:p>
        </p:txBody>
      </p:sp>
      <p:sp>
        <p:nvSpPr>
          <p:cNvPr id="2809" name="Google Shape;2809;p221"/>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810" name="Google Shape;2810;p221"/>
          <p:cNvPicPr preferRelativeResize="0"/>
          <p:nvPr/>
        </p:nvPicPr>
        <p:blipFill rotWithShape="1">
          <a:blip r:embed="rId3">
            <a:alphaModFix/>
          </a:blip>
          <a:srcRect b="0" l="0" r="0" t="0"/>
          <a:stretch/>
        </p:blipFill>
        <p:spPr>
          <a:xfrm>
            <a:off x="6721950" y="2102947"/>
            <a:ext cx="2110351" cy="1313626"/>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4" name="Shape 2814"/>
        <p:cNvGrpSpPr/>
        <p:nvPr/>
      </p:nvGrpSpPr>
      <p:grpSpPr>
        <a:xfrm>
          <a:off x="0" y="0"/>
          <a:ext cx="0" cy="0"/>
          <a:chOff x="0" y="0"/>
          <a:chExt cx="0" cy="0"/>
        </a:xfrm>
      </p:grpSpPr>
      <p:sp>
        <p:nvSpPr>
          <p:cNvPr id="2815" name="Google Shape;2815;p2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Importance of Transition Probabilities</a:t>
            </a:r>
            <a:endParaRPr>
              <a:solidFill>
                <a:srgbClr val="3896D2"/>
              </a:solidFill>
              <a:latin typeface="Fira Sans"/>
              <a:ea typeface="Fira Sans"/>
              <a:cs typeface="Fira Sans"/>
              <a:sym typeface="Fira Sans"/>
            </a:endParaRPr>
          </a:p>
        </p:txBody>
      </p:sp>
      <p:sp>
        <p:nvSpPr>
          <p:cNvPr id="2816" name="Google Shape;2816;p2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0" marL="444500" rtl="0" algn="l">
              <a:lnSpc>
                <a:spcPct val="150000"/>
              </a:lnSpc>
              <a:spcBef>
                <a:spcPts val="0"/>
              </a:spcBef>
              <a:spcAft>
                <a:spcPts val="0"/>
              </a:spcAft>
              <a:buClr>
                <a:schemeClr val="lt1"/>
              </a:buClr>
              <a:buSzPts val="1600"/>
              <a:buFont typeface="Arial"/>
              <a:buChar char="•"/>
            </a:pPr>
            <a:r>
              <a:rPr lang="en" sz="1600">
                <a:solidFill>
                  <a:srgbClr val="00FFFF"/>
                </a:solidFill>
              </a:rPr>
              <a:t>Foundational for Markov Chains:</a:t>
            </a:r>
            <a:r>
              <a:rPr lang="en" sz="1600">
                <a:solidFill>
                  <a:schemeClr val="lt1"/>
                </a:solidFill>
              </a:rPr>
              <a:t> They are the building blocks of Markov Chains, which are sequences of states where the probability of the next state depends only on the current state, not the entire history.</a:t>
            </a:r>
            <a:endParaRPr sz="1600"/>
          </a:p>
          <a:p>
            <a:pPr indent="-317500" lvl="0" marL="444500" rtl="0" algn="l">
              <a:lnSpc>
                <a:spcPct val="150000"/>
              </a:lnSpc>
              <a:spcBef>
                <a:spcPts val="0"/>
              </a:spcBef>
              <a:spcAft>
                <a:spcPts val="0"/>
              </a:spcAft>
              <a:buClr>
                <a:schemeClr val="lt1"/>
              </a:buClr>
              <a:buSzPts val="1600"/>
              <a:buFont typeface="Arial"/>
              <a:buChar char="•"/>
            </a:pPr>
            <a:r>
              <a:rPr lang="en" sz="1600">
                <a:solidFill>
                  <a:srgbClr val="00FFFF"/>
                </a:solidFill>
              </a:rPr>
              <a:t>Prediction Tasks:</a:t>
            </a:r>
            <a:r>
              <a:rPr lang="en" sz="1600">
                <a:solidFill>
                  <a:schemeClr val="lt1"/>
                </a:solidFill>
              </a:rPr>
              <a:t> They enable us to predict the next state in a sequence based on the current state and historical transitions. This is useful in various machine learning applications like:</a:t>
            </a:r>
            <a:endParaRPr sz="1600"/>
          </a:p>
        </p:txBody>
      </p:sp>
      <p:sp>
        <p:nvSpPr>
          <p:cNvPr id="2817" name="Google Shape;2817;p22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2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t>Importance of Transition Probabilities </a:t>
            </a:r>
            <a:r>
              <a:rPr lang="en" sz="1600"/>
              <a:t>(contd)</a:t>
            </a:r>
            <a:endParaRPr sz="1600">
              <a:solidFill>
                <a:srgbClr val="3896D2"/>
              </a:solidFill>
              <a:latin typeface="Fira Sans"/>
              <a:ea typeface="Fira Sans"/>
              <a:cs typeface="Fira Sans"/>
              <a:sym typeface="Fira Sans"/>
            </a:endParaRPr>
          </a:p>
        </p:txBody>
      </p:sp>
      <p:sp>
        <p:nvSpPr>
          <p:cNvPr id="2823" name="Google Shape;2823;p2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7500" lvl="0" marL="444500" rtl="0" algn="l">
              <a:lnSpc>
                <a:spcPct val="150000"/>
              </a:lnSpc>
              <a:spcBef>
                <a:spcPts val="0"/>
              </a:spcBef>
              <a:spcAft>
                <a:spcPts val="0"/>
              </a:spcAft>
              <a:buClr>
                <a:schemeClr val="lt1"/>
              </a:buClr>
              <a:buSzPts val="1600"/>
              <a:buFont typeface="Arial"/>
              <a:buChar char="•"/>
            </a:pPr>
            <a:r>
              <a:rPr lang="en" sz="1600">
                <a:solidFill>
                  <a:schemeClr val="lt1"/>
                </a:solidFill>
              </a:rPr>
              <a:t>Some of the applications are listed below</a:t>
            </a:r>
            <a:endParaRPr sz="1600"/>
          </a:p>
          <a:p>
            <a:pPr indent="-317500" lvl="2" marL="901700" rtl="0" algn="l">
              <a:lnSpc>
                <a:spcPct val="150000"/>
              </a:lnSpc>
              <a:spcBef>
                <a:spcPts val="0"/>
              </a:spcBef>
              <a:spcAft>
                <a:spcPts val="0"/>
              </a:spcAft>
              <a:buClr>
                <a:schemeClr val="lt1"/>
              </a:buClr>
              <a:buSzPts val="1600"/>
              <a:buFont typeface="Arial"/>
              <a:buChar char="•"/>
            </a:pPr>
            <a:r>
              <a:rPr lang="en" sz="1600">
                <a:solidFill>
                  <a:schemeClr val="lt1"/>
                </a:solidFill>
              </a:rPr>
              <a:t>Weather forecasting</a:t>
            </a:r>
            <a:endParaRPr sz="1600"/>
          </a:p>
          <a:p>
            <a:pPr indent="-317500" lvl="2" marL="901700" rtl="0" algn="l">
              <a:lnSpc>
                <a:spcPct val="150000"/>
              </a:lnSpc>
              <a:spcBef>
                <a:spcPts val="0"/>
              </a:spcBef>
              <a:spcAft>
                <a:spcPts val="0"/>
              </a:spcAft>
              <a:buClr>
                <a:schemeClr val="lt1"/>
              </a:buClr>
              <a:buSzPts val="1600"/>
              <a:buFont typeface="Arial"/>
              <a:buChar char="•"/>
            </a:pPr>
            <a:r>
              <a:rPr lang="en" sz="1600">
                <a:solidFill>
                  <a:schemeClr val="lt1"/>
                </a:solidFill>
              </a:rPr>
              <a:t>Stock price prediction</a:t>
            </a:r>
            <a:endParaRPr sz="1600"/>
          </a:p>
          <a:p>
            <a:pPr indent="-317500" lvl="2" marL="901700" rtl="0" algn="l">
              <a:lnSpc>
                <a:spcPct val="150000"/>
              </a:lnSpc>
              <a:spcBef>
                <a:spcPts val="0"/>
              </a:spcBef>
              <a:spcAft>
                <a:spcPts val="0"/>
              </a:spcAft>
              <a:buClr>
                <a:schemeClr val="lt1"/>
              </a:buClr>
              <a:buSzPts val="1600"/>
              <a:buFont typeface="Arial"/>
              <a:buChar char="•"/>
            </a:pPr>
            <a:r>
              <a:rPr lang="en" sz="1600">
                <a:solidFill>
                  <a:schemeClr val="lt1"/>
                </a:solidFill>
              </a:rPr>
              <a:t>Natural language processing (predicting next word in a sentence)</a:t>
            </a:r>
            <a:endParaRPr sz="1600">
              <a:solidFill>
                <a:schemeClr val="lt1"/>
              </a:solidFill>
            </a:endParaRPr>
          </a:p>
          <a:p>
            <a:pPr indent="-317500" lvl="2" marL="901700" rtl="0" algn="l">
              <a:lnSpc>
                <a:spcPct val="150000"/>
              </a:lnSpc>
              <a:spcBef>
                <a:spcPts val="0"/>
              </a:spcBef>
              <a:spcAft>
                <a:spcPts val="0"/>
              </a:spcAft>
              <a:buClr>
                <a:schemeClr val="lt1"/>
              </a:buClr>
              <a:buSzPts val="1600"/>
              <a:buChar char="•"/>
            </a:pPr>
            <a:r>
              <a:rPr lang="en" sz="1600">
                <a:solidFill>
                  <a:schemeClr val="lt1"/>
                </a:solidFill>
              </a:rPr>
              <a:t>Recommender systems (suggesting products based on past purchases)</a:t>
            </a:r>
            <a:endParaRPr sz="1600"/>
          </a:p>
          <a:p>
            <a:pPr indent="0" lvl="0" marL="101600" rtl="0" algn="l">
              <a:lnSpc>
                <a:spcPct val="150000"/>
              </a:lnSpc>
              <a:spcBef>
                <a:spcPts val="0"/>
              </a:spcBef>
              <a:spcAft>
                <a:spcPts val="0"/>
              </a:spcAft>
              <a:buSzPts val="2000"/>
              <a:buNone/>
            </a:pPr>
            <a:r>
              <a:t/>
            </a:r>
            <a:endParaRPr sz="1600">
              <a:solidFill>
                <a:schemeClr val="lt1"/>
              </a:solidFill>
            </a:endParaRPr>
          </a:p>
          <a:p>
            <a:pPr indent="0" lvl="0" marL="101600" rtl="0" algn="l">
              <a:lnSpc>
                <a:spcPct val="150000"/>
              </a:lnSpc>
              <a:spcBef>
                <a:spcPts val="0"/>
              </a:spcBef>
              <a:spcAft>
                <a:spcPts val="0"/>
              </a:spcAft>
              <a:buSzPts val="2000"/>
              <a:buNone/>
            </a:pPr>
            <a:r>
              <a:rPr lang="en" sz="1600">
                <a:solidFill>
                  <a:schemeClr val="lt1"/>
                </a:solidFill>
              </a:rPr>
              <a:t>Understanding transition probabilities is crucial for working with sequential data and modeling systems that evolve over time.</a:t>
            </a:r>
            <a:endParaRPr sz="1600"/>
          </a:p>
          <a:p>
            <a:pPr indent="-190500" lvl="1" marL="901700" rtl="0" algn="l">
              <a:lnSpc>
                <a:spcPct val="115000"/>
              </a:lnSpc>
              <a:spcBef>
                <a:spcPts val="0"/>
              </a:spcBef>
              <a:spcAft>
                <a:spcPts val="0"/>
              </a:spcAft>
              <a:buSzPts val="2000"/>
              <a:buFont typeface="Arial"/>
              <a:buNone/>
            </a:pPr>
            <a:r>
              <a:t/>
            </a:r>
            <a:endParaRPr sz="1600"/>
          </a:p>
        </p:txBody>
      </p:sp>
      <p:sp>
        <p:nvSpPr>
          <p:cNvPr id="2824" name="Google Shape;2824;p223"/>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8" name="Shape 2828"/>
        <p:cNvGrpSpPr/>
        <p:nvPr/>
      </p:nvGrpSpPr>
      <p:grpSpPr>
        <a:xfrm>
          <a:off x="0" y="0"/>
          <a:ext cx="0" cy="0"/>
          <a:chOff x="0" y="0"/>
          <a:chExt cx="0" cy="0"/>
        </a:xfrm>
      </p:grpSpPr>
      <p:sp>
        <p:nvSpPr>
          <p:cNvPr id="2829" name="Google Shape;2829;p224"/>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b="1" lang="en" sz="5000">
                <a:solidFill>
                  <a:srgbClr val="3896D2"/>
                </a:solidFill>
                <a:latin typeface="Fira Sans"/>
                <a:ea typeface="Fira Sans"/>
                <a:cs typeface="Fira Sans"/>
                <a:sym typeface="Fira Sans"/>
              </a:rPr>
              <a:t>Empirical Probability</a:t>
            </a:r>
            <a:endParaRPr b="1" sz="5000">
              <a:solidFill>
                <a:srgbClr val="3896D2"/>
              </a:solidFill>
              <a:latin typeface="Fira Sans"/>
              <a:ea typeface="Fira Sans"/>
              <a:cs typeface="Fira Sans"/>
              <a:sym typeface="Fira Sans"/>
            </a:endParaRPr>
          </a:p>
        </p:txBody>
      </p:sp>
      <p:sp>
        <p:nvSpPr>
          <p:cNvPr id="2830" name="Google Shape;2830;p22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2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Introduction</a:t>
            </a:r>
            <a:endParaRPr>
              <a:solidFill>
                <a:srgbClr val="3896D2"/>
              </a:solidFill>
              <a:latin typeface="Fira Sans"/>
              <a:ea typeface="Fira Sans"/>
              <a:cs typeface="Fira Sans"/>
              <a:sym typeface="Fira Sans"/>
            </a:endParaRPr>
          </a:p>
        </p:txBody>
      </p:sp>
      <p:sp>
        <p:nvSpPr>
          <p:cNvPr id="2836" name="Google Shape;2836;p225"/>
          <p:cNvSpPr txBox="1"/>
          <p:nvPr>
            <p:ph idx="1" type="body"/>
          </p:nvPr>
        </p:nvSpPr>
        <p:spPr>
          <a:xfrm>
            <a:off x="311700" y="1203275"/>
            <a:ext cx="8520600" cy="3416400"/>
          </a:xfrm>
          <a:prstGeom prst="rect">
            <a:avLst/>
          </a:prstGeom>
          <a:noFill/>
          <a:ln>
            <a:noFill/>
          </a:ln>
        </p:spPr>
        <p:txBody>
          <a:bodyPr anchorCtr="0" anchor="t" bIns="91425" lIns="91425" spcFirstLastPara="1" rIns="91425" wrap="square" tIns="91425">
            <a:noAutofit/>
          </a:bodyPr>
          <a:lstStyle/>
          <a:p>
            <a:pPr indent="0" lvl="0" marL="101600" rtl="0" algn="l">
              <a:lnSpc>
                <a:spcPct val="150000"/>
              </a:lnSpc>
              <a:spcBef>
                <a:spcPts val="0"/>
              </a:spcBef>
              <a:spcAft>
                <a:spcPts val="0"/>
              </a:spcAft>
              <a:buSzPts val="2000"/>
              <a:buNone/>
            </a:pPr>
            <a:r>
              <a:rPr b="1" lang="en" sz="1600">
                <a:solidFill>
                  <a:srgbClr val="00FFFF"/>
                </a:solidFill>
              </a:rPr>
              <a:t>Empirical probability</a:t>
            </a:r>
            <a:r>
              <a:rPr lang="en" sz="1600">
                <a:solidFill>
                  <a:srgbClr val="00FFFF"/>
                </a:solidFill>
              </a:rPr>
              <a:t>, also knowns as </a:t>
            </a:r>
            <a:r>
              <a:rPr b="1" i="1" lang="en" sz="1600">
                <a:solidFill>
                  <a:srgbClr val="00FFFF"/>
                </a:solidFill>
              </a:rPr>
              <a:t>experimental probability</a:t>
            </a:r>
            <a:r>
              <a:rPr lang="en" sz="1600">
                <a:solidFill>
                  <a:srgbClr val="00FFFF"/>
                </a:solidFill>
              </a:rPr>
              <a:t> or </a:t>
            </a:r>
            <a:r>
              <a:rPr b="1" i="1" lang="en" sz="1600">
                <a:solidFill>
                  <a:srgbClr val="00FFFF"/>
                </a:solidFill>
              </a:rPr>
              <a:t>relative frequency</a:t>
            </a:r>
            <a:r>
              <a:rPr lang="en" sz="1600">
                <a:solidFill>
                  <a:schemeClr val="lt1"/>
                </a:solidFill>
              </a:rPr>
              <a:t>, is a way to estimate the likelihood of an event occurring based/dependent on observations or data collected in the real world. It isn’t dependent on theoretical assumptions but on actual data to provide a practical approach to probability.</a:t>
            </a:r>
            <a:endParaRPr sz="1600"/>
          </a:p>
        </p:txBody>
      </p:sp>
      <p:sp>
        <p:nvSpPr>
          <p:cNvPr id="2837" name="Google Shape;2837;p225"/>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1" name="Shape 2841"/>
        <p:cNvGrpSpPr/>
        <p:nvPr/>
      </p:nvGrpSpPr>
      <p:grpSpPr>
        <a:xfrm>
          <a:off x="0" y="0"/>
          <a:ext cx="0" cy="0"/>
          <a:chOff x="0" y="0"/>
          <a:chExt cx="0" cy="0"/>
        </a:xfrm>
      </p:grpSpPr>
      <p:sp>
        <p:nvSpPr>
          <p:cNvPr id="2842" name="Google Shape;2842;p2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Key Features</a:t>
            </a:r>
            <a:endParaRPr>
              <a:solidFill>
                <a:srgbClr val="3896D2"/>
              </a:solidFill>
              <a:latin typeface="Fira Sans"/>
              <a:ea typeface="Fira Sans"/>
              <a:cs typeface="Fira Sans"/>
              <a:sym typeface="Fira Sans"/>
            </a:endParaRPr>
          </a:p>
        </p:txBody>
      </p:sp>
      <p:sp>
        <p:nvSpPr>
          <p:cNvPr id="2843" name="Google Shape;2843;p2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lt1"/>
              </a:buClr>
              <a:buSzPts val="1800"/>
              <a:buFont typeface="Arial"/>
              <a:buChar char="•"/>
            </a:pPr>
            <a:r>
              <a:rPr lang="en" sz="1600">
                <a:solidFill>
                  <a:srgbClr val="00FFFF"/>
                </a:solidFill>
              </a:rPr>
              <a:t>Data-Driven:</a:t>
            </a:r>
            <a:r>
              <a:rPr lang="en" sz="1600">
                <a:solidFill>
                  <a:schemeClr val="lt1"/>
                </a:solidFill>
              </a:rPr>
              <a:t> Unlike theoretical probability, which assigns probabilities based on assumptions (e.g., a fair coin has a 50% chance of heads), empirical probability is based on observing how often an event occurs in a specific dataset.</a:t>
            </a:r>
            <a:endParaRPr/>
          </a:p>
          <a:p>
            <a:pPr indent="-342900" lvl="0" marL="457200" rtl="0" algn="l">
              <a:lnSpc>
                <a:spcPct val="150000"/>
              </a:lnSpc>
              <a:spcBef>
                <a:spcPts val="0"/>
              </a:spcBef>
              <a:spcAft>
                <a:spcPts val="0"/>
              </a:spcAft>
              <a:buClr>
                <a:schemeClr val="lt1"/>
              </a:buClr>
              <a:buSzPts val="1800"/>
              <a:buFont typeface="Arial"/>
              <a:buChar char="•"/>
            </a:pPr>
            <a:r>
              <a:rPr lang="en" sz="1600">
                <a:solidFill>
                  <a:srgbClr val="00FFFF"/>
                </a:solidFill>
              </a:rPr>
              <a:t>Estimating Probability:</a:t>
            </a:r>
            <a:r>
              <a:rPr lang="en" sz="1600">
                <a:solidFill>
                  <a:schemeClr val="lt1"/>
                </a:solidFill>
              </a:rPr>
              <a:t> It provides an estimate of the true probability, which might not always be perfectly accurate but can be a reliable indicator based on sufficient data.</a:t>
            </a:r>
            <a:endParaRPr/>
          </a:p>
          <a:p>
            <a:pPr indent="-342900" lvl="0" marL="457200" rtl="0" algn="l">
              <a:lnSpc>
                <a:spcPct val="150000"/>
              </a:lnSpc>
              <a:spcBef>
                <a:spcPts val="0"/>
              </a:spcBef>
              <a:spcAft>
                <a:spcPts val="0"/>
              </a:spcAft>
              <a:buClr>
                <a:schemeClr val="lt1"/>
              </a:buClr>
              <a:buSzPts val="1800"/>
              <a:buFont typeface="Arial"/>
              <a:buChar char="•"/>
            </a:pPr>
            <a:r>
              <a:rPr lang="en" sz="1600">
                <a:solidFill>
                  <a:srgbClr val="00FFFF"/>
                </a:solidFill>
              </a:rPr>
              <a:t>Long-Run Frequency:</a:t>
            </a:r>
            <a:r>
              <a:rPr lang="en" sz="1600">
                <a:solidFill>
                  <a:schemeClr val="lt1"/>
                </a:solidFill>
              </a:rPr>
              <a:t> The underlying concept is that the probability of an event is the proportion of times it occurs in the long run out of repeated trials under similar conditions.</a:t>
            </a:r>
            <a:endParaRPr/>
          </a:p>
          <a:p>
            <a:pPr indent="0" lvl="0" marL="101600" rtl="0" algn="l">
              <a:lnSpc>
                <a:spcPct val="150000"/>
              </a:lnSpc>
              <a:spcBef>
                <a:spcPts val="0"/>
              </a:spcBef>
              <a:spcAft>
                <a:spcPts val="0"/>
              </a:spcAft>
              <a:buSzPts val="2000"/>
              <a:buNone/>
            </a:pPr>
            <a:r>
              <a:rPr lang="en" sz="1600"/>
              <a:t>.</a:t>
            </a:r>
            <a:endParaRPr/>
          </a:p>
        </p:txBody>
      </p:sp>
      <p:sp>
        <p:nvSpPr>
          <p:cNvPr id="2844" name="Google Shape;2844;p226"/>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8" name="Shape 2848"/>
        <p:cNvGrpSpPr/>
        <p:nvPr/>
      </p:nvGrpSpPr>
      <p:grpSpPr>
        <a:xfrm>
          <a:off x="0" y="0"/>
          <a:ext cx="0" cy="0"/>
          <a:chOff x="0" y="0"/>
          <a:chExt cx="0" cy="0"/>
        </a:xfrm>
      </p:grpSpPr>
      <p:sp>
        <p:nvSpPr>
          <p:cNvPr id="2849" name="Google Shape;2849;p2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Example</a:t>
            </a:r>
            <a:endParaRPr>
              <a:solidFill>
                <a:srgbClr val="3896D2"/>
              </a:solidFill>
              <a:latin typeface="Fira Sans"/>
              <a:ea typeface="Fira Sans"/>
              <a:cs typeface="Fira Sans"/>
              <a:sym typeface="Fira Sans"/>
            </a:endParaRPr>
          </a:p>
        </p:txBody>
      </p:sp>
      <p:sp>
        <p:nvSpPr>
          <p:cNvPr id="2850" name="Google Shape;2850;p2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Arial"/>
              <a:buChar char="•"/>
            </a:pPr>
            <a:r>
              <a:rPr lang="en" sz="1600">
                <a:solidFill>
                  <a:schemeClr val="lt1"/>
                </a:solidFill>
              </a:rPr>
              <a:t>Imagine playing a match 10 times and recording the results. You get 6 wins and 4 losses.</a:t>
            </a:r>
            <a:endParaRPr sz="1600"/>
          </a:p>
          <a:p>
            <a:pPr indent="-330200" lvl="0" marL="457200" rtl="0" algn="l">
              <a:lnSpc>
                <a:spcPct val="150000"/>
              </a:lnSpc>
              <a:spcBef>
                <a:spcPts val="0"/>
              </a:spcBef>
              <a:spcAft>
                <a:spcPts val="0"/>
              </a:spcAft>
              <a:buClr>
                <a:schemeClr val="lt1"/>
              </a:buClr>
              <a:buSzPts val="1600"/>
              <a:buFont typeface="Arial"/>
              <a:buChar char="•"/>
            </a:pPr>
            <a:r>
              <a:rPr lang="en" sz="1600">
                <a:solidFill>
                  <a:schemeClr val="lt1"/>
                </a:solidFill>
              </a:rPr>
              <a:t>Empirical Probability of winning: Using empirical probability, you can estimate the probability of winning as 6 out of 10 matches, which is 0.6 (60%).</a:t>
            </a:r>
            <a:endParaRPr sz="1600"/>
          </a:p>
        </p:txBody>
      </p:sp>
      <p:sp>
        <p:nvSpPr>
          <p:cNvPr id="2851" name="Google Shape;2851;p227"/>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sp>
        <p:nvSpPr>
          <p:cNvPr id="2856" name="Google Shape;2856;p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Applications</a:t>
            </a:r>
            <a:endParaRPr>
              <a:solidFill>
                <a:srgbClr val="3896D2"/>
              </a:solidFill>
              <a:latin typeface="Fira Sans"/>
              <a:ea typeface="Fira Sans"/>
              <a:cs typeface="Fira Sans"/>
              <a:sym typeface="Fira Sans"/>
            </a:endParaRPr>
          </a:p>
        </p:txBody>
      </p:sp>
      <p:sp>
        <p:nvSpPr>
          <p:cNvPr id="2857" name="Google Shape;2857;p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Arial"/>
              <a:buChar char="•"/>
            </a:pPr>
            <a:r>
              <a:rPr lang="en" sz="1600">
                <a:solidFill>
                  <a:srgbClr val="00FFFF"/>
                </a:solidFill>
              </a:rPr>
              <a:t>Feature Engineering:</a:t>
            </a:r>
            <a:r>
              <a:rPr lang="en" sz="1600">
                <a:solidFill>
                  <a:schemeClr val="lt1"/>
                </a:solidFill>
              </a:rPr>
              <a:t> Data can be transformed into features/variables that are more relevant to the machine learning task by using empirical probabilities. For instance, discretizing continuous features or encoding categorical features with many unique values.</a:t>
            </a:r>
            <a:endParaRPr sz="1600"/>
          </a:p>
          <a:p>
            <a:pPr indent="-330200" lvl="0" marL="457200" rtl="0" algn="l">
              <a:lnSpc>
                <a:spcPct val="150000"/>
              </a:lnSpc>
              <a:spcBef>
                <a:spcPts val="0"/>
              </a:spcBef>
              <a:spcAft>
                <a:spcPts val="0"/>
              </a:spcAft>
              <a:buClr>
                <a:schemeClr val="lt1"/>
              </a:buClr>
              <a:buSzPts val="1600"/>
              <a:buFont typeface="Arial"/>
              <a:buChar char="•"/>
            </a:pPr>
            <a:r>
              <a:rPr lang="en" sz="1600">
                <a:solidFill>
                  <a:srgbClr val="00FFFF"/>
                </a:solidFill>
              </a:rPr>
              <a:t>Model Training:</a:t>
            </a:r>
            <a:r>
              <a:rPr lang="en" sz="1600">
                <a:solidFill>
                  <a:schemeClr val="lt1"/>
                </a:solidFill>
              </a:rPr>
              <a:t> ML algorithms rely on probabilities to make inferences. Empirical probability estimates these probabilities from training data. This is crucial for tasks like classification (predicting a category) or regression (predicting a continuous value).</a:t>
            </a:r>
            <a:endParaRPr sz="1600"/>
          </a:p>
          <a:p>
            <a:pPr indent="-330200" lvl="0" marL="457200" rtl="0" algn="l">
              <a:lnSpc>
                <a:spcPct val="150000"/>
              </a:lnSpc>
              <a:spcBef>
                <a:spcPts val="0"/>
              </a:spcBef>
              <a:spcAft>
                <a:spcPts val="0"/>
              </a:spcAft>
              <a:buClr>
                <a:schemeClr val="lt1"/>
              </a:buClr>
              <a:buSzPts val="1600"/>
              <a:buFont typeface="Arial"/>
              <a:buChar char="•"/>
            </a:pPr>
            <a:r>
              <a:rPr lang="en" sz="1600">
                <a:solidFill>
                  <a:srgbClr val="00FFFF"/>
                </a:solidFill>
              </a:rPr>
              <a:t>Model Evaluation:</a:t>
            </a:r>
            <a:r>
              <a:rPr lang="en" sz="1600">
                <a:solidFill>
                  <a:schemeClr val="lt1"/>
                </a:solidFill>
              </a:rPr>
              <a:t> Metrics used to evaluate ML models often involve probabilities. For example, accuracy precision/recall in classification tasks.</a:t>
            </a:r>
            <a:endParaRPr sz="1600"/>
          </a:p>
          <a:p>
            <a:pPr indent="-228600" lvl="0" marL="457200" rtl="0" algn="l">
              <a:lnSpc>
                <a:spcPct val="150000"/>
              </a:lnSpc>
              <a:spcBef>
                <a:spcPts val="0"/>
              </a:spcBef>
              <a:spcAft>
                <a:spcPts val="0"/>
              </a:spcAft>
              <a:buSzPts val="1800"/>
              <a:buFont typeface="Arial"/>
              <a:buNone/>
            </a:pPr>
            <a:r>
              <a:t/>
            </a:r>
            <a:endParaRPr sz="1600"/>
          </a:p>
        </p:txBody>
      </p:sp>
      <p:sp>
        <p:nvSpPr>
          <p:cNvPr id="2858" name="Google Shape;2858;p228"/>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2" name="Shape 2862"/>
        <p:cNvGrpSpPr/>
        <p:nvPr/>
      </p:nvGrpSpPr>
      <p:grpSpPr>
        <a:xfrm>
          <a:off x="0" y="0"/>
          <a:ext cx="0" cy="0"/>
          <a:chOff x="0" y="0"/>
          <a:chExt cx="0" cy="0"/>
        </a:xfrm>
      </p:grpSpPr>
      <p:sp>
        <p:nvSpPr>
          <p:cNvPr id="2863" name="Google Shape;2863;p2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Limitations</a:t>
            </a:r>
            <a:endParaRPr>
              <a:solidFill>
                <a:srgbClr val="3896D2"/>
              </a:solidFill>
              <a:latin typeface="Fira Sans"/>
              <a:ea typeface="Fira Sans"/>
              <a:cs typeface="Fira Sans"/>
              <a:sym typeface="Fira Sans"/>
            </a:endParaRPr>
          </a:p>
        </p:txBody>
      </p:sp>
      <p:sp>
        <p:nvSpPr>
          <p:cNvPr id="2864" name="Google Shape;2864;p2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Arial"/>
              <a:buChar char="•"/>
            </a:pPr>
            <a:r>
              <a:rPr lang="en" sz="1600">
                <a:solidFill>
                  <a:srgbClr val="00FFFF"/>
                </a:solidFill>
              </a:rPr>
              <a:t>Data Reliance:</a:t>
            </a:r>
            <a:r>
              <a:rPr lang="en" sz="1600">
                <a:solidFill>
                  <a:schemeClr val="lt1"/>
                </a:solidFill>
              </a:rPr>
              <a:t> The dependability of empirical probability estimates/inferences depends on the quality and quantity of data. Limited data might lead to unreliable estimates.</a:t>
            </a:r>
            <a:endParaRPr sz="1600"/>
          </a:p>
          <a:p>
            <a:pPr indent="-330200" lvl="0" marL="457200" rtl="0" algn="l">
              <a:lnSpc>
                <a:spcPct val="150000"/>
              </a:lnSpc>
              <a:spcBef>
                <a:spcPts val="0"/>
              </a:spcBef>
              <a:spcAft>
                <a:spcPts val="0"/>
              </a:spcAft>
              <a:buClr>
                <a:schemeClr val="lt1"/>
              </a:buClr>
              <a:buSzPts val="1600"/>
              <a:buFont typeface="Arial"/>
              <a:buChar char="•"/>
            </a:pPr>
            <a:r>
              <a:rPr lang="en" sz="1600">
                <a:solidFill>
                  <a:srgbClr val="00FFFF"/>
                </a:solidFill>
              </a:rPr>
              <a:t>Sampling Bias:</a:t>
            </a:r>
            <a:r>
              <a:rPr lang="en" sz="1600">
                <a:solidFill>
                  <a:schemeClr val="lt1"/>
                </a:solidFill>
              </a:rPr>
              <a:t> If the data used for estimation isn't representative of the real world (e.g., skewed towards certain outcomes), the calculated probabilities might not generalize well to unseen data</a:t>
            </a:r>
            <a:endParaRPr sz="1600">
              <a:solidFill>
                <a:schemeClr val="lt1"/>
              </a:solidFill>
              <a:latin typeface="Arial"/>
              <a:ea typeface="Arial"/>
              <a:cs typeface="Arial"/>
              <a:sym typeface="Arial"/>
            </a:endParaRPr>
          </a:p>
          <a:p>
            <a:pPr indent="-330200" lvl="0" marL="457200" rtl="0" algn="l">
              <a:lnSpc>
                <a:spcPct val="150000"/>
              </a:lnSpc>
              <a:spcBef>
                <a:spcPts val="0"/>
              </a:spcBef>
              <a:spcAft>
                <a:spcPts val="0"/>
              </a:spcAft>
              <a:buClr>
                <a:schemeClr val="lt1"/>
              </a:buClr>
              <a:buSzPts val="1600"/>
              <a:buFont typeface="Arial"/>
              <a:buChar char="•"/>
            </a:pPr>
            <a:r>
              <a:rPr lang="en" sz="1600">
                <a:solidFill>
                  <a:schemeClr val="lt1"/>
                </a:solidFill>
              </a:rPr>
              <a:t>A Scenario for sampling bias could be if there are 10 students (7 boys and 3 girls) in the classroom then the 11</a:t>
            </a:r>
            <a:r>
              <a:rPr baseline="30000" lang="en" sz="1600">
                <a:solidFill>
                  <a:schemeClr val="lt1"/>
                </a:solidFill>
              </a:rPr>
              <a:t>th</a:t>
            </a:r>
            <a:r>
              <a:rPr lang="en" sz="1600">
                <a:solidFill>
                  <a:schemeClr val="lt1"/>
                </a:solidFill>
              </a:rPr>
              <a:t> person could be a girl is an incorrect inference based on empirical probability</a:t>
            </a:r>
            <a:endParaRPr sz="1600"/>
          </a:p>
          <a:p>
            <a:pPr indent="-228600" lvl="0" marL="457200" rtl="0" algn="l">
              <a:lnSpc>
                <a:spcPct val="150000"/>
              </a:lnSpc>
              <a:spcBef>
                <a:spcPts val="0"/>
              </a:spcBef>
              <a:spcAft>
                <a:spcPts val="0"/>
              </a:spcAft>
              <a:buSzPts val="1800"/>
              <a:buFont typeface="Arial"/>
              <a:buNone/>
            </a:pPr>
            <a:r>
              <a:t/>
            </a:r>
            <a:endParaRPr sz="1600"/>
          </a:p>
        </p:txBody>
      </p:sp>
      <p:sp>
        <p:nvSpPr>
          <p:cNvPr id="2865" name="Google Shape;2865;p229"/>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9" name="Shape 2869"/>
        <p:cNvGrpSpPr/>
        <p:nvPr/>
      </p:nvGrpSpPr>
      <p:grpSpPr>
        <a:xfrm>
          <a:off x="0" y="0"/>
          <a:ext cx="0" cy="0"/>
          <a:chOff x="0" y="0"/>
          <a:chExt cx="0" cy="0"/>
        </a:xfrm>
      </p:grpSpPr>
      <p:sp>
        <p:nvSpPr>
          <p:cNvPr id="2870" name="Google Shape;2870;p2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a:t>
            </a:r>
            <a:endParaRPr/>
          </a:p>
        </p:txBody>
      </p:sp>
      <p:sp>
        <p:nvSpPr>
          <p:cNvPr id="2871" name="Google Shape;2871;p230"/>
          <p:cNvSpPr txBox="1"/>
          <p:nvPr>
            <p:ph idx="12" type="sldNum"/>
          </p:nvPr>
        </p:nvSpPr>
        <p:spPr>
          <a:xfrm>
            <a:off x="63933" y="47036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
              <a:t>‹#›</a:t>
            </a:fld>
            <a:endParaRPr/>
          </a:p>
        </p:txBody>
      </p:sp>
      <p:grpSp>
        <p:nvGrpSpPr>
          <p:cNvPr id="2872" name="Google Shape;2872;p230"/>
          <p:cNvGrpSpPr/>
          <p:nvPr/>
        </p:nvGrpSpPr>
        <p:grpSpPr>
          <a:xfrm>
            <a:off x="384014" y="1560899"/>
            <a:ext cx="8448205" cy="671133"/>
            <a:chOff x="1037539" y="1103712"/>
            <a:chExt cx="7069036" cy="671133"/>
          </a:xfrm>
        </p:grpSpPr>
        <p:sp>
          <p:nvSpPr>
            <p:cNvPr id="2873" name="Google Shape;2873;p230"/>
            <p:cNvSpPr/>
            <p:nvPr/>
          </p:nvSpPr>
          <p:spPr>
            <a:xfrm>
              <a:off x="1037539" y="1103879"/>
              <a:ext cx="1310700" cy="6708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874" name="Google Shape;2874;p230"/>
            <p:cNvGrpSpPr/>
            <p:nvPr/>
          </p:nvGrpSpPr>
          <p:grpSpPr>
            <a:xfrm>
              <a:off x="2081001" y="1103712"/>
              <a:ext cx="6025460" cy="671133"/>
              <a:chOff x="2189480" y="2153920"/>
              <a:chExt cx="7213528" cy="1137900"/>
            </a:xfrm>
          </p:grpSpPr>
          <p:sp>
            <p:nvSpPr>
              <p:cNvPr id="2875" name="Google Shape;2875;p230"/>
              <p:cNvSpPr/>
              <p:nvPr/>
            </p:nvSpPr>
            <p:spPr>
              <a:xfrm>
                <a:off x="2189480" y="2153920"/>
                <a:ext cx="7173000" cy="1137900"/>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876" name="Google Shape;2876;p230"/>
              <p:cNvSpPr/>
              <p:nvPr/>
            </p:nvSpPr>
            <p:spPr>
              <a:xfrm>
                <a:off x="7779408" y="2153920"/>
                <a:ext cx="1623600" cy="1137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77" name="Google Shape;2877;p230"/>
            <p:cNvSpPr txBox="1"/>
            <p:nvPr/>
          </p:nvSpPr>
          <p:spPr>
            <a:xfrm>
              <a:off x="2514575" y="1261229"/>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rgbClr val="FFFFFF"/>
                  </a:solidFill>
                  <a:latin typeface="Roboto"/>
                  <a:ea typeface="Roboto"/>
                  <a:cs typeface="Roboto"/>
                  <a:sym typeface="Roboto"/>
                </a:rPr>
                <a:t>Bayesian Probability: The probability of an event is updated based on prior beliefs and new evidence using Bayes' Theorem.</a:t>
              </a:r>
              <a:endParaRPr b="0" i="0" sz="1400" u="none" cap="none" strike="noStrike">
                <a:solidFill>
                  <a:srgbClr val="FFFFFF"/>
                </a:solidFill>
                <a:latin typeface="Roboto"/>
                <a:ea typeface="Roboto"/>
                <a:cs typeface="Roboto"/>
                <a:sym typeface="Roboto"/>
              </a:endParaRPr>
            </a:p>
          </p:txBody>
        </p:sp>
        <p:sp>
          <p:nvSpPr>
            <p:cNvPr id="2878" name="Google Shape;2878;p230"/>
            <p:cNvSpPr txBox="1"/>
            <p:nvPr/>
          </p:nvSpPr>
          <p:spPr>
            <a:xfrm>
              <a:off x="1365589" y="1212925"/>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01</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879" name="Google Shape;2879;p230"/>
          <p:cNvGrpSpPr/>
          <p:nvPr/>
        </p:nvGrpSpPr>
        <p:grpSpPr>
          <a:xfrm>
            <a:off x="384014" y="2299704"/>
            <a:ext cx="8448205" cy="671133"/>
            <a:chOff x="1037539" y="1842516"/>
            <a:chExt cx="7069036" cy="671133"/>
          </a:xfrm>
        </p:grpSpPr>
        <p:sp>
          <p:nvSpPr>
            <p:cNvPr id="2880" name="Google Shape;2880;p230"/>
            <p:cNvSpPr/>
            <p:nvPr/>
          </p:nvSpPr>
          <p:spPr>
            <a:xfrm>
              <a:off x="1037539" y="1842683"/>
              <a:ext cx="1310700" cy="670800"/>
            </a:xfrm>
            <a:prstGeom prst="homePlate">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881" name="Google Shape;2881;p230"/>
            <p:cNvGrpSpPr/>
            <p:nvPr/>
          </p:nvGrpSpPr>
          <p:grpSpPr>
            <a:xfrm>
              <a:off x="2081001" y="1842516"/>
              <a:ext cx="6025460" cy="671133"/>
              <a:chOff x="2189480" y="2153920"/>
              <a:chExt cx="7213528" cy="1137900"/>
            </a:xfrm>
          </p:grpSpPr>
          <p:sp>
            <p:nvSpPr>
              <p:cNvPr id="2882" name="Google Shape;2882;p230"/>
              <p:cNvSpPr/>
              <p:nvPr/>
            </p:nvSpPr>
            <p:spPr>
              <a:xfrm>
                <a:off x="2189480" y="2153920"/>
                <a:ext cx="7173000" cy="1137900"/>
              </a:xfrm>
              <a:prstGeom prst="chevron">
                <a:avLst>
                  <a:gd fmla="val 50000" name="adj"/>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883" name="Google Shape;2883;p230"/>
              <p:cNvSpPr/>
              <p:nvPr/>
            </p:nvSpPr>
            <p:spPr>
              <a:xfrm>
                <a:off x="7779408" y="2153920"/>
                <a:ext cx="1623600" cy="1137900"/>
              </a:xfrm>
              <a:prstGeom prst="rect">
                <a:avLst/>
              </a:prstGeom>
              <a:solidFill>
                <a:srgbClr val="8FC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84" name="Google Shape;2884;p230"/>
            <p:cNvSpPr txBox="1"/>
            <p:nvPr/>
          </p:nvSpPr>
          <p:spPr>
            <a:xfrm>
              <a:off x="2514575" y="2000033"/>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rgbClr val="FFFFFF"/>
                  </a:solidFill>
                  <a:latin typeface="Roboto"/>
                  <a:ea typeface="Roboto"/>
                  <a:cs typeface="Roboto"/>
                  <a:sym typeface="Roboto"/>
                </a:rPr>
                <a:t>Empirical Probability: The probability of an event is estimated based on observed frequencies from past data.</a:t>
              </a:r>
              <a:endParaRPr b="0" i="0" sz="1400" u="none" cap="none" strike="noStrike">
                <a:solidFill>
                  <a:srgbClr val="FFFFFF"/>
                </a:solidFill>
                <a:latin typeface="Roboto"/>
                <a:ea typeface="Roboto"/>
                <a:cs typeface="Roboto"/>
                <a:sym typeface="Roboto"/>
              </a:endParaRPr>
            </a:p>
          </p:txBody>
        </p:sp>
        <p:sp>
          <p:nvSpPr>
            <p:cNvPr id="2885" name="Google Shape;2885;p230"/>
            <p:cNvSpPr txBox="1"/>
            <p:nvPr/>
          </p:nvSpPr>
          <p:spPr>
            <a:xfrm>
              <a:off x="1365600" y="1951733"/>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02</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2886" name="Google Shape;2886;p230"/>
          <p:cNvGrpSpPr/>
          <p:nvPr/>
        </p:nvGrpSpPr>
        <p:grpSpPr>
          <a:xfrm>
            <a:off x="384014" y="3038506"/>
            <a:ext cx="8448069" cy="671133"/>
            <a:chOff x="1037539" y="2581319"/>
            <a:chExt cx="7068922" cy="671133"/>
          </a:xfrm>
        </p:grpSpPr>
        <p:sp>
          <p:nvSpPr>
            <p:cNvPr id="2887" name="Google Shape;2887;p230"/>
            <p:cNvSpPr/>
            <p:nvPr/>
          </p:nvSpPr>
          <p:spPr>
            <a:xfrm>
              <a:off x="1037539" y="2581486"/>
              <a:ext cx="1310700" cy="670800"/>
            </a:xfrm>
            <a:prstGeom prst="homePlate">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888" name="Google Shape;2888;p230"/>
            <p:cNvGrpSpPr/>
            <p:nvPr/>
          </p:nvGrpSpPr>
          <p:grpSpPr>
            <a:xfrm>
              <a:off x="2081001" y="2581319"/>
              <a:ext cx="6025460" cy="671133"/>
              <a:chOff x="2189480" y="2153920"/>
              <a:chExt cx="7213528" cy="1137900"/>
            </a:xfrm>
          </p:grpSpPr>
          <p:sp>
            <p:nvSpPr>
              <p:cNvPr id="2889" name="Google Shape;2889;p230"/>
              <p:cNvSpPr/>
              <p:nvPr/>
            </p:nvSpPr>
            <p:spPr>
              <a:xfrm>
                <a:off x="2189480" y="2153920"/>
                <a:ext cx="7173000" cy="1137900"/>
              </a:xfrm>
              <a:prstGeom prst="chevron">
                <a:avLst>
                  <a:gd fmla="val 50000" name="adj"/>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282F39"/>
                  </a:solidFill>
                  <a:latin typeface="Calibri"/>
                  <a:ea typeface="Calibri"/>
                  <a:cs typeface="Calibri"/>
                  <a:sym typeface="Calibri"/>
                </a:endParaRPr>
              </a:p>
            </p:txBody>
          </p:sp>
          <p:sp>
            <p:nvSpPr>
              <p:cNvPr id="2890" name="Google Shape;2890;p230"/>
              <p:cNvSpPr/>
              <p:nvPr/>
            </p:nvSpPr>
            <p:spPr>
              <a:xfrm>
                <a:off x="7779408" y="2153920"/>
                <a:ext cx="1623600" cy="1137900"/>
              </a:xfrm>
              <a:prstGeom prst="rect">
                <a:avLst/>
              </a:prstGeom>
              <a:solidFill>
                <a:srgbClr val="1FC2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891" name="Google Shape;2891;p230"/>
            <p:cNvSpPr txBox="1"/>
            <p:nvPr/>
          </p:nvSpPr>
          <p:spPr>
            <a:xfrm flipH="1">
              <a:off x="2514450" y="2738836"/>
              <a:ext cx="5592000" cy="356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rgbClr val="FFFFFF"/>
                  </a:solidFill>
                  <a:latin typeface="Roboto"/>
                  <a:ea typeface="Roboto"/>
                  <a:cs typeface="Roboto"/>
                  <a:sym typeface="Roboto"/>
                </a:rPr>
                <a:t>Transitional Probability: The probability of transitioning from one state to another in a stochastic process</a:t>
              </a:r>
              <a:endParaRPr b="0" i="0" sz="1400" u="none" cap="none" strike="noStrike">
                <a:solidFill>
                  <a:srgbClr val="FFFFFF"/>
                </a:solidFill>
                <a:latin typeface="Roboto"/>
                <a:ea typeface="Roboto"/>
                <a:cs typeface="Roboto"/>
                <a:sym typeface="Roboto"/>
              </a:endParaRPr>
            </a:p>
          </p:txBody>
        </p:sp>
        <p:sp>
          <p:nvSpPr>
            <p:cNvPr id="2892" name="Google Shape;2892;p230"/>
            <p:cNvSpPr txBox="1"/>
            <p:nvPr/>
          </p:nvSpPr>
          <p:spPr>
            <a:xfrm>
              <a:off x="1365600" y="2690536"/>
              <a:ext cx="654600" cy="45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000"/>
                <a:buFont typeface="Open Sans"/>
                <a:buNone/>
              </a:pPr>
              <a:r>
                <a:rPr b="0" i="0" lang="en" sz="3500" u="none" cap="none" strike="noStrike">
                  <a:solidFill>
                    <a:srgbClr val="FFFFFF"/>
                  </a:solidFill>
                  <a:latin typeface="Fira Sans Extra Condensed Medium"/>
                  <a:ea typeface="Fira Sans Extra Condensed Medium"/>
                  <a:cs typeface="Fira Sans Extra Condensed Medium"/>
                  <a:sym typeface="Fira Sans Extra Condensed Medium"/>
                </a:rPr>
                <a:t>03</a:t>
              </a:r>
              <a:endParaRPr b="0" i="0" sz="3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6" name="Shape 2896"/>
        <p:cNvGrpSpPr/>
        <p:nvPr/>
      </p:nvGrpSpPr>
      <p:grpSpPr>
        <a:xfrm>
          <a:off x="0" y="0"/>
          <a:ext cx="0" cy="0"/>
          <a:chOff x="0" y="0"/>
          <a:chExt cx="0" cy="0"/>
        </a:xfrm>
      </p:grpSpPr>
      <p:sp>
        <p:nvSpPr>
          <p:cNvPr id="2897" name="Google Shape;2897;p231"/>
          <p:cNvSpPr txBox="1"/>
          <p:nvPr>
            <p:ph idx="12" type="sldNum"/>
          </p:nvPr>
        </p:nvSpPr>
        <p:spPr>
          <a:xfrm>
            <a:off x="9" y="474990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pic>
        <p:nvPicPr>
          <p:cNvPr id="2898" name="Google Shape;2898;p231"/>
          <p:cNvPicPr preferRelativeResize="0"/>
          <p:nvPr/>
        </p:nvPicPr>
        <p:blipFill rotWithShape="1">
          <a:blip r:embed="rId3">
            <a:alphaModFix/>
          </a:blip>
          <a:srcRect b="0" l="0" r="0" t="0"/>
          <a:stretch/>
        </p:blipFill>
        <p:spPr>
          <a:xfrm>
            <a:off x="1938025" y="242250"/>
            <a:ext cx="4838724" cy="4838724"/>
          </a:xfrm>
          <a:prstGeom prst="cloud">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2" name="Shape 2902"/>
        <p:cNvGrpSpPr/>
        <p:nvPr/>
      </p:nvGrpSpPr>
      <p:grpSpPr>
        <a:xfrm>
          <a:off x="0" y="0"/>
          <a:ext cx="0" cy="0"/>
          <a:chOff x="0" y="0"/>
          <a:chExt cx="0" cy="0"/>
        </a:xfrm>
      </p:grpSpPr>
      <p:sp>
        <p:nvSpPr>
          <p:cNvPr id="2903" name="Google Shape;2903;p232"/>
          <p:cNvSpPr txBox="1"/>
          <p:nvPr>
            <p:ph idx="12" type="sldNum"/>
          </p:nvPr>
        </p:nvSpPr>
        <p:spPr>
          <a:xfrm>
            <a:off x="8595300" y="9"/>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graphicFrame>
        <p:nvGraphicFramePr>
          <p:cNvPr id="2904" name="Google Shape;2904;p232"/>
          <p:cNvGraphicFramePr/>
          <p:nvPr/>
        </p:nvGraphicFramePr>
        <p:xfrm>
          <a:off x="952500" y="837525"/>
          <a:ext cx="3000000" cy="3000000"/>
        </p:xfrm>
        <a:graphic>
          <a:graphicData uri="http://schemas.openxmlformats.org/drawingml/2006/table">
            <a:tbl>
              <a:tblPr>
                <a:noFill/>
                <a:tableStyleId>{CAB50D28-1267-4B51-B4A6-6584F8CA731B}</a:tableStyleId>
              </a:tblPr>
              <a:tblGrid>
                <a:gridCol w="1440275"/>
                <a:gridCol w="1916675"/>
                <a:gridCol w="2072300"/>
                <a:gridCol w="18097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Aspect</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Axiomatic Probability</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Frequentist Probability</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Classical Probability</a:t>
                      </a:r>
                      <a:endParaRPr b="1" sz="1400" u="none" cap="none" strike="noStrike">
                        <a:solidFill>
                          <a:schemeClr val="lt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Definition</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Defines probability using a set of axioms.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Focuses on long-run frequencies or observed relative frequencies.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Assumes equally likely outcomes in a sample space.</a:t>
                      </a:r>
                      <a:endParaRPr sz="1200" u="none" cap="none" strike="noStrike">
                        <a:solidFill>
                          <a:schemeClr val="lt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Calculation Method</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Uses axioms to derive probabilities.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Estimates probabilities from observed data or trials.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Simple ratio of favorable outcomes to total outcomes.</a:t>
                      </a:r>
                      <a:endParaRPr sz="1200" u="none" cap="none" strike="noStrike">
                        <a:solidFill>
                          <a:schemeClr val="lt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Application</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Applies to complex scenarios with defined axioms.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Applicable to scenarios with repeatable experiments.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Applicable to scenarios with equally probable outcomes.</a:t>
                      </a:r>
                      <a:endParaRPr sz="1200" u="none" cap="none" strike="noStrike">
                        <a:solidFill>
                          <a:schemeClr val="lt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Advantages</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Provides a rigorous framework for probability theory.</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Utilizes empirical data for real-world applications.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Easy to apply in simple, equally likely outcome scenarios.</a:t>
                      </a:r>
                      <a:endParaRPr sz="1200" u="none" cap="none" strike="noStrike">
                        <a:solidFill>
                          <a:schemeClr val="lt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lt1"/>
                          </a:solidFill>
                        </a:rPr>
                        <a:t>Disadvantages</a:t>
                      </a:r>
                      <a:endParaRPr b="1" sz="14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Complex to apply without understanding axioms deeply.</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Relies on assumptions of independence and randomness.</a:t>
                      </a:r>
                      <a:endParaRPr sz="12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chemeClr val="lt1"/>
                          </a:solidFill>
                        </a:rPr>
                        <a:t>Limited to scenarios with equally likely outcomes</a:t>
                      </a:r>
                      <a:endParaRPr sz="1200" u="none" cap="none" strike="noStrike">
                        <a:solidFill>
                          <a:schemeClr val="lt1"/>
                        </a:solidFill>
                      </a:endParaRPr>
                    </a:p>
                  </a:txBody>
                  <a:tcPr marT="91425" marB="91425" marR="91425" marL="91425"/>
                </a:tc>
              </a:tr>
            </a:tbl>
          </a:graphicData>
        </a:graphic>
      </p:graphicFrame>
      <p:sp>
        <p:nvSpPr>
          <p:cNvPr id="2905" name="Google Shape;2905;p232"/>
          <p:cNvSpPr txBox="1"/>
          <p:nvPr>
            <p:ph type="title"/>
          </p:nvPr>
        </p:nvSpPr>
        <p:spPr>
          <a:xfrm>
            <a:off x="311700" y="2648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solidFill>
                  <a:srgbClr val="3896D2"/>
                </a:solidFill>
                <a:latin typeface="Fira Sans"/>
                <a:ea typeface="Fira Sans"/>
                <a:cs typeface="Fira Sans"/>
                <a:sym typeface="Fira Sans"/>
              </a:rPr>
              <a:t>Summary (Probability Approach) - contd</a:t>
            </a:r>
            <a:endParaRPr>
              <a:solidFill>
                <a:srgbClr val="3896D2"/>
              </a:solidFill>
              <a:latin typeface="Fira Sans"/>
              <a:ea typeface="Fira Sans"/>
              <a:cs typeface="Fira Sans"/>
              <a:sym typeface="Fir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